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Median days</c:v>
                </c:pt>
              </c:strCache>
            </c:strRef>
          </c:tx>
          <c:spPr>
            <a:solidFill>
              <a:srgbClr val="A6ABB1"/>
            </a:solidFill>
          </c:spPr>
          <c:dPt>
            <c:idx val="0"/>
            <c:spPr>
              <a:solidFill>
                <a:srgbClr val="2F5BD3"/>
              </a:solidFill>
            </c:spPr>
          </c:dPt>
          <c:cat>
            <c:strRef>
              <c:f>Sheet1!$A$2:$A$5</c:f>
              <c:strCache>
                <c:ptCount val="4"/>
                <c:pt idx="0">
                  <c:v>Waiting for setup</c:v>
                </c:pt>
                <c:pt idx="1">
                  <c:v>Waiting for files</c:v>
                </c:pt>
                <c:pt idx="2">
                  <c:v>Waiting for training</c:v>
                </c:pt>
                <c:pt idx="3">
                  <c:v>Hands-on 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4.5</c:v>
                </c:pt>
                <c:pt idx="1">
                  <c:v>2.5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1F232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9DDE3"/>
            </a:solidFill>
          </a:ln>
        </c:spPr>
        <c:txPr>
          <a:bodyPr/>
          <a:lstStyle/>
          <a:p>
            <a:pPr>
              <a:defRPr sz="1100">
                <a:solidFill>
                  <a:srgbClr val="3D445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E6672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pack is meant to be read before the review. The summary on the next page carries the whole argument; the three sections behind it hold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you read only this page: the delay is waiting, not work; the fix is an owner per account; we ask for a six-week trial in one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pack follows the same three questions as the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First, the diagnosis.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three handoffs is hard work. Each is a wait for someone to notice that the account is now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headline is answered directly underneath, before the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Eleven days, two of them work, three handoffs.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Second, what we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change is organisational; the three steps below are what the trial does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one is preparation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Third, the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bought for the trial.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things to decide; the band shows what happens right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reading ahead.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2800" y="1807464"/>
            <a:ext cx="8664448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C9D0DA"/>
                </a:solidFill>
                <a:latin typeface="Consolas"/>
                <a:ea typeface="Malgun Gothic"/>
                <a:cs typeface="Consolas"/>
              </a:rPr>
              <a:t>PRE-READ · ILLUSTRATIVE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1190548"/>
            <a:ext cx="8664448" cy="2457907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New accounts wait eleven days for work that takes two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12800" y="3877055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Why onboarding is slow, what to change first, and the trial we ask you to approve</a:t>
            </a:r>
          </a:p>
        </p:txBody>
      </p:sp>
      <p:sp>
        <p:nvSpPr>
          <p:cNvPr id="5" name="Presenter"/>
          <p:cNvSpPr txBox="1"/>
          <p:nvPr/>
        </p:nvSpPr>
        <p:spPr>
          <a:xfrm>
            <a:off x="812800" y="5638800"/>
            <a:ext cx="8664448" cy="264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Presenter Name · 2026-11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Onboarding is slow because accounts wait between teams, so one owner per account should come before any new tooling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figures for the sample deck</a:t>
            </a:r>
          </a:p>
        </p:txBody>
      </p:sp>
      <p:sp>
        <p:nvSpPr>
          <p:cNvPr id="6" name="So what"/>
          <p:cNvSpPr/>
          <p:nvPr/>
        </p:nvSpPr>
        <p:spPr>
          <a:xfrm>
            <a:off x="812800" y="4996942"/>
            <a:ext cx="10566400" cy="59740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7" name="So what rule"/>
          <p:cNvSpPr/>
          <p:nvPr/>
        </p:nvSpPr>
        <p:spPr>
          <a:xfrm>
            <a:off x="812800" y="4996942"/>
            <a:ext cx="25400" cy="59740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8" name="So what text"/>
          <p:cNvSpPr txBox="1"/>
          <p:nvPr/>
        </p:nvSpPr>
        <p:spPr>
          <a:xfrm>
            <a:off x="990600" y="514934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 a </a:t>
            </a: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six-week trial</a:t>
            </a: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 of one onboarding owner per account in one region.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12800" y="180644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0" name="Summary 01"/>
          <p:cNvSpPr txBox="1"/>
          <p:nvPr/>
        </p:nvSpPr>
        <p:spPr>
          <a:xfrm>
            <a:off x="812800" y="1933448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17474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onboarding time goes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543556"/>
            <a:ext cx="33697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Eleven days of waiting come from three handoffs, not from the work itself.</a:t>
            </a:r>
          </a:p>
        </p:txBody>
      </p:sp>
      <p:sp>
        <p:nvSpPr>
          <p:cNvPr id="13" name="Bullets"/>
          <p:cNvSpPr txBox="1"/>
          <p:nvPr/>
        </p:nvSpPr>
        <p:spPr>
          <a:xfrm>
            <a:off x="812800" y="3146044"/>
            <a:ext cx="3369733" cy="10500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Eleven days</a:t>
            </a: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from signed contract to first use; about two are work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Three handoffs hold most of the waiting time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11133" y="180644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5" name="Summary 02"/>
          <p:cNvSpPr txBox="1"/>
          <p:nvPr/>
        </p:nvSpPr>
        <p:spPr>
          <a:xfrm>
            <a:off x="4411133" y="1933448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1133" y="217474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change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133" y="2543556"/>
            <a:ext cx="33697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per account removes the handoffs before any tool is bought.</a:t>
            </a:r>
          </a:p>
        </p:txBody>
      </p:sp>
      <p:sp>
        <p:nvSpPr>
          <p:cNvPr id="18" name="Bullets"/>
          <p:cNvSpPr txBox="1"/>
          <p:nvPr/>
        </p:nvSpPr>
        <p:spPr>
          <a:xfrm>
            <a:off x="4411133" y="3146044"/>
            <a:ext cx="3369733" cy="8122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carries each account from contract to first use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Handoff checklists replace email threads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9466" y="1806448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0" name="Summary 03"/>
          <p:cNvSpPr txBox="1"/>
          <p:nvPr/>
        </p:nvSpPr>
        <p:spPr>
          <a:xfrm>
            <a:off x="8009466" y="1933448"/>
            <a:ext cx="3369733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9466" y="217474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ask you to approve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9466" y="2543556"/>
            <a:ext cx="3369733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six-week trial in one region, judged on days to first use.</a:t>
            </a:r>
          </a:p>
        </p:txBody>
      </p:sp>
      <p:sp>
        <p:nvSpPr>
          <p:cNvPr id="23" name="Bullets"/>
          <p:cNvSpPr txBox="1"/>
          <p:nvPr/>
        </p:nvSpPr>
        <p:spPr>
          <a:xfrm>
            <a:off x="8009466" y="3146044"/>
            <a:ext cx="3369733" cy="81229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Six weeks in one region, measured against the others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No new system; existing tools only</a:t>
            </a:r>
          </a:p>
        </p:txBody>
      </p:sp>
      <p:cxnSp>
        <p:nvCxnSpPr>
          <p:cNvPr id="2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812800" y="431800"/>
            <a:ext cx="1056640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AGENDA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questions take the review from diagnosis to a decision</a:t>
            </a:r>
          </a:p>
        </p:txBody>
      </p:sp>
      <p:sp>
        <p:nvSpPr>
          <p:cNvPr id="4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12800" y="1806448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2400" y="1806448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does onboarding time go?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12800" y="2365248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812800" y="2365248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22400" y="2365248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do we change first?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12800" y="2924048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812800" y="2924048"/>
            <a:ext cx="50800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2400" y="2924048"/>
            <a:ext cx="6786880" cy="558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do we ask you to approve?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12800" y="3482848"/>
            <a:ext cx="739648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cxnSp>
        <p:nvCxnSpPr>
          <p:cNvPr id="14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5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Where onboarding time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7073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Eleven days of waiting come from three handoffs, not from the work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 · DIAGNOSIS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Three handoffs account for most of the eleven days a new account waits, and none of them adds work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Lead"/>
          <p:cNvSpPr txBox="1"/>
          <p:nvPr/>
        </p:nvSpPr>
        <p:spPr>
          <a:xfrm>
            <a:off x="812800" y="1806448"/>
            <a:ext cx="76200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We timed every step for a sample of new accounts, from signed contract to first use, including the days each request sat in a queue before anyone opened it.</a:t>
            </a:r>
          </a:p>
        </p:txBody>
      </p:sp>
      <p:sp>
        <p:nvSpPr>
          <p:cNvPr id="10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sample of new accounts, invented for this deck</a:t>
            </a:r>
          </a:p>
        </p:txBody>
      </p:sp>
      <p:sp>
        <p:nvSpPr>
          <p:cNvPr id="11" name="Bullets"/>
          <p:cNvSpPr txBox="1"/>
          <p:nvPr/>
        </p:nvSpPr>
        <p:spPr>
          <a:xfrm>
            <a:off x="812800" y="2620264"/>
            <a:ext cx="7620000" cy="13848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Contract to setup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the request sits in a shared inbox until claimed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Setup to data import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the customer is asked again for files sent at signing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Import to training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— training is booked only after import is confirmed by email</a:t>
            </a:r>
          </a:p>
          <a:p>
            <a:pPr algn="l" marL="405130" indent="-181610">
              <a:lnSpc>
                <a:spcPct val="120000"/>
              </a:lnSpc>
              <a:spcBef>
                <a:spcPts val="200"/>
              </a:spcBef>
              <a:buClr>
                <a:srgbClr val="2F5BD3"/>
              </a:buClr>
              <a:buChar char="–"/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The confirmation itself takes a day on average in this illustrative sample</a:t>
            </a:r>
          </a:p>
        </p:txBody>
      </p:sp>
      <p:cxnSp>
        <p:nvCxnSpPr>
          <p:cNvPr id="1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 · DIAGNOSIS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Which step holds a new account the longest?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Lead band"/>
          <p:cNvSpPr/>
          <p:nvPr/>
        </p:nvSpPr>
        <p:spPr>
          <a:xfrm>
            <a:off x="812800" y="1806448"/>
            <a:ext cx="10566400" cy="890016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Lead band rule"/>
          <p:cNvSpPr/>
          <p:nvPr/>
        </p:nvSpPr>
        <p:spPr>
          <a:xfrm>
            <a:off x="812800" y="1806448"/>
            <a:ext cx="25400" cy="890016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Lead band text"/>
          <p:cNvSpPr txBox="1"/>
          <p:nvPr/>
        </p:nvSpPr>
        <p:spPr>
          <a:xfrm>
            <a:off x="990600" y="1958848"/>
            <a:ext cx="7620000" cy="58521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wait before setup starts is the longest single step, longer than all hands-on work combined.</a:t>
            </a:r>
          </a:p>
        </p:txBody>
      </p:sp>
      <p:sp>
        <p:nvSpPr>
          <p:cNvPr id="12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sample of new accounts, invented for this deck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2925064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Median days per step, illustrative sample</a:t>
            </a:r>
          </a:p>
        </p:txBody>
      </p:sp>
      <p:graphicFrame>
        <p:nvGraphicFramePr>
          <p:cNvPr id="14" name="Chart"/>
          <p:cNvGraphicFramePr>
            <a:graphicFrameLocks noGrp="1"/>
          </p:cNvGraphicFramePr>
          <p:nvPr/>
        </p:nvGraphicFramePr>
        <p:xfrm>
          <a:off x="812800" y="3176524"/>
          <a:ext cx="10566400" cy="241782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15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6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 · DIAGNOSIS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Most of the waiting sits in queues that no single person is responsible for clearing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Source"/>
          <p:cNvSpPr txBox="1"/>
          <p:nvPr/>
        </p:nvSpPr>
        <p:spPr>
          <a:xfrm>
            <a:off x="812800" y="5708650"/>
            <a:ext cx="10566400" cy="209550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Source: Illustrative sample of new accounts, invented for this deck</a:t>
            </a:r>
          </a:p>
        </p:txBody>
      </p:sp>
      <p:sp>
        <p:nvSpPr>
          <p:cNvPr id="10" name="Stat 1"/>
          <p:cNvSpPr txBox="1"/>
          <p:nvPr/>
        </p:nvSpPr>
        <p:spPr>
          <a:xfrm>
            <a:off x="812800" y="1806448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11 days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2800" y="245160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812800" y="257860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median from contract to first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2922016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Illustrative</a:t>
            </a:r>
          </a:p>
        </p:txBody>
      </p:sp>
      <p:sp>
        <p:nvSpPr>
          <p:cNvPr id="14" name="Stat 2"/>
          <p:cNvSpPr txBox="1"/>
          <p:nvPr/>
        </p:nvSpPr>
        <p:spPr>
          <a:xfrm>
            <a:off x="4411133" y="1806448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2 days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133" y="2451608"/>
            <a:ext cx="3369733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4411133" y="257860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of hands-on work in that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11133" y="2922016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Illustrative</a:t>
            </a:r>
          </a:p>
        </p:txBody>
      </p:sp>
      <p:sp>
        <p:nvSpPr>
          <p:cNvPr id="18" name="Stat 3"/>
          <p:cNvSpPr txBox="1"/>
          <p:nvPr/>
        </p:nvSpPr>
        <p:spPr>
          <a:xfrm>
            <a:off x="8009466" y="1806448"/>
            <a:ext cx="3369733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009466" y="2451608"/>
            <a:ext cx="3369734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8009466" y="2578608"/>
            <a:ext cx="3369733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handoffs between teams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9466" y="2922016"/>
            <a:ext cx="3369733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Sales</a:t>
            </a:r>
          </a:p>
        </p:txBody>
      </p:sp>
      <p:cxnSp>
        <p:nvCxnSpPr>
          <p:cNvPr id="22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3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change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7073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per account removes the handoffs before any tool is bought.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 · CHANGES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An owner who carries the account end to end removes the waits between teams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2800" y="1806448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Today</a:t>
            </a:r>
          </a:p>
        </p:txBody>
      </p:sp>
      <p:sp>
        <p:nvSpPr>
          <p:cNvPr id="10" name="Bullets"/>
          <p:cNvSpPr txBox="1"/>
          <p:nvPr/>
        </p:nvSpPr>
        <p:spPr>
          <a:xfrm>
            <a:off x="812800" y="2200656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Each team works its own queue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account waits at every handoff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Nobody sees the whole timeline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900" y="1806448"/>
            <a:ext cx="49403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Proposed</a:t>
            </a:r>
          </a:p>
        </p:txBody>
      </p:sp>
      <p:sp>
        <p:nvSpPr>
          <p:cNvPr id="12" name="Bullets"/>
          <p:cNvSpPr txBox="1"/>
          <p:nvPr/>
        </p:nvSpPr>
        <p:spPr>
          <a:xfrm>
            <a:off x="6438900" y="2200656"/>
            <a:ext cx="4940300" cy="9113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181610" indent="-18161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One owner from contract to first use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Teams are pulled in by the owner</a:t>
            </a:r>
          </a:p>
          <a:p>
            <a:pPr algn="l" marL="181610" indent="-181610">
              <a:lnSpc>
                <a:spcPct val="120000"/>
              </a:lnSpc>
              <a:spcBef>
                <a:spcPts val="780"/>
              </a:spcBef>
              <a:buClr>
                <a:srgbClr val="2F5BD3"/>
              </a:buClr>
              <a:buChar char="•"/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The owner reports the timeline weekly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53100" y="1806448"/>
            <a:ext cx="685800" cy="130555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0" i="0">
                <a:solidFill>
                  <a:srgbClr val="2F5BD3"/>
                </a:solidFill>
                <a:latin typeface="Arial"/>
                <a:ea typeface="Malgun Gothic"/>
                <a:cs typeface="Arial"/>
              </a:rPr>
              <a:t>→</a:t>
            </a:r>
          </a:p>
        </p:txBody>
      </p:sp>
      <p:sp>
        <p:nvSpPr>
          <p:cNvPr id="14" name="Next steps"/>
          <p:cNvSpPr/>
          <p:nvPr/>
        </p:nvSpPr>
        <p:spPr>
          <a:xfrm>
            <a:off x="812800" y="5137912"/>
            <a:ext cx="10566400" cy="78028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Next steps rule"/>
          <p:cNvSpPr/>
          <p:nvPr/>
        </p:nvSpPr>
        <p:spPr>
          <a:xfrm>
            <a:off x="812800" y="5137912"/>
            <a:ext cx="25400" cy="78028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6" name="Next steps label"/>
          <p:cNvSpPr txBox="1"/>
          <p:nvPr/>
        </p:nvSpPr>
        <p:spPr>
          <a:xfrm>
            <a:off x="965200" y="5324602"/>
            <a:ext cx="1418166" cy="4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WHAT THIS MEANS</a:t>
            </a:r>
          </a:p>
        </p:txBody>
      </p:sp>
      <p:sp>
        <p:nvSpPr>
          <p:cNvPr id="17" name="Next step 1 number"/>
          <p:cNvSpPr txBox="1"/>
          <p:nvPr/>
        </p:nvSpPr>
        <p:spPr>
          <a:xfrm>
            <a:off x="2611966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8" name="Next step 1"/>
          <p:cNvSpPr txBox="1"/>
          <p:nvPr/>
        </p:nvSpPr>
        <p:spPr>
          <a:xfrm>
            <a:off x="2942166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Name one owner per new account in the trial region</a:t>
            </a:r>
          </a:p>
        </p:txBody>
      </p:sp>
      <p:sp>
        <p:nvSpPr>
          <p:cNvPr id="19" name="Next step 2 number"/>
          <p:cNvSpPr txBox="1"/>
          <p:nvPr/>
        </p:nvSpPr>
        <p:spPr>
          <a:xfrm>
            <a:off x="5559777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20" name="Next step 2"/>
          <p:cNvSpPr txBox="1"/>
          <p:nvPr/>
        </p:nvSpPr>
        <p:spPr>
          <a:xfrm>
            <a:off x="5889977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Replace the setup inbox with the owner's checklist</a:t>
            </a:r>
          </a:p>
        </p:txBody>
      </p:sp>
      <p:sp>
        <p:nvSpPr>
          <p:cNvPr id="21" name="Next step 3 number"/>
          <p:cNvSpPr txBox="1"/>
          <p:nvPr/>
        </p:nvSpPr>
        <p:spPr>
          <a:xfrm>
            <a:off x="8507588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22" name="Next step 3"/>
          <p:cNvSpPr txBox="1"/>
          <p:nvPr/>
        </p:nvSpPr>
        <p:spPr>
          <a:xfrm>
            <a:off x="8837788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Report days-to-first-use weekly against other regions</a:t>
            </a:r>
          </a:p>
        </p:txBody>
      </p:sp>
      <p:cxnSp>
        <p:nvCxnSpPr>
          <p:cNvPr id="23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4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 · CHANGES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trial runs in four stages over six weeks, with a decision built into the last one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800" y="1806448"/>
            <a:ext cx="2298700" cy="381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8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Prepare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Pick owners and the checklist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25800" y="1825498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3568700" y="1806448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87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87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87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New accounts get an owner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1700" y="1825498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6324600" y="1806448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46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46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Measure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6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Days to first use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37600" y="1825498"/>
            <a:ext cx="228600" cy="0"/>
          </a:xfrm>
          <a:prstGeom prst="line">
            <a:avLst/>
          </a:prstGeom>
          <a:ln w="12700">
            <a:solidFill>
              <a:srgbClr val="5E6672"/>
            </a:solidFill>
            <a:tailEnd type="triangle" w="med" len="med"/>
          </a:ln>
        </p:spPr>
      </p:cxnSp>
      <p:sp>
        <p:nvSpPr>
          <p:cNvPr id="24" name="Rectangle 23"/>
          <p:cNvSpPr/>
          <p:nvPr/>
        </p:nvSpPr>
        <p:spPr>
          <a:xfrm>
            <a:off x="9080500" y="1806448"/>
            <a:ext cx="2298700" cy="38100"/>
          </a:xfrm>
          <a:prstGeom prst="rect">
            <a:avLst/>
          </a:prstGeom>
          <a:solidFill>
            <a:srgbClr val="D9DDE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80500" y="1984248"/>
            <a:ext cx="22987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0500" y="2250948"/>
            <a:ext cx="22987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Decide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0500" y="2619756"/>
            <a:ext cx="229870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5E6672"/>
                </a:solidFill>
                <a:latin typeface="Arial"/>
                <a:ea typeface="Malgun Gothic"/>
                <a:cs typeface="Arial"/>
              </a:rPr>
              <a:t>Extend</a:t>
            </a:r>
          </a:p>
        </p:txBody>
      </p:sp>
      <p:cxnSp>
        <p:nvCxnSpPr>
          <p:cNvPr id="28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9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Number"/>
          <p:cNvSpPr txBox="1"/>
          <p:nvPr/>
        </p:nvSpPr>
        <p:spPr>
          <a:xfrm>
            <a:off x="812800" y="2139188"/>
            <a:ext cx="8453120" cy="609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812800" y="2522829"/>
            <a:ext cx="8453120" cy="819302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05000"/>
              </a:lnSpc>
            </a:pPr>
            <a:r>
              <a:rPr sz="32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What we ask you to approve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570732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A six-week trial in one region, judged on days to first 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 · DECISION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The trial costs owner time only and is judged on two measures agreed in advance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graphicFrame>
        <p:nvGraphicFramePr>
          <p:cNvPr id="9" name="Table"/>
          <p:cNvGraphicFramePr>
            <a:graphicFrameLocks noGrp="1"/>
          </p:cNvGraphicFramePr>
          <p:nvPr/>
        </p:nvGraphicFramePr>
        <p:xfrm>
          <a:off x="812800" y="1857248"/>
          <a:ext cx="10566400" cy="2486657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2113280"/>
                <a:gridCol w="4226560"/>
                <a:gridCol w="4226560"/>
              </a:tblGrid>
              <a:tr h="4241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Item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2F5BD3"/>
                          </a:solidFill>
                          <a:latin typeface="Arial"/>
                          <a:ea typeface="Malgun Gothic"/>
                          <a:cs typeface="Arial"/>
                        </a:rPr>
                        <a:t>Trial region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Other regions</a:t>
                      </a:r>
                    </a:p>
                  </a:txBody>
                  <a:tcPr marL="63500" marR="63500" marT="63500" marB="63500" anchor="b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Owners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Four existing staff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part time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 change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36474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Tools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Current tools and a checklist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No change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Measure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Median days to first use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Same measure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as comparison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DE3"/>
                      </a:solidFill>
                    </a:lnB>
                    <a:noFill/>
                  </a:tcPr>
                </a:tc>
              </a:tr>
              <a:tr h="565911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Guardrail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Customer satisfaction at first use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solidFill>
                      <a:srgbClr val="F0F4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F2328"/>
                          </a:solidFill>
                          <a:latin typeface="Arial"/>
                          <a:ea typeface="Malgun Gothic"/>
                          <a:cs typeface="Arial"/>
                        </a:rPr>
                        <a:t>Same measure</a:t>
                      </a:r>
                    </a:p>
                    <a:p>
                      <a:pPr algn="l"/>
                      <a:r>
                        <a:rPr sz="1100" b="0" i="0">
                          <a:solidFill>
                            <a:srgbClr val="5E6672"/>
                          </a:solidFill>
                          <a:latin typeface="Arial"/>
                          <a:ea typeface="Malgun Gothic"/>
                          <a:cs typeface="Arial"/>
                        </a:rPr>
                        <a:t>as comparison</a:t>
                      </a:r>
                    </a:p>
                  </a:txBody>
                  <a:tcPr marL="63500" marR="63500" marT="63500" marB="63500" anchor="t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D9DDE3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2926080" y="1831848"/>
            <a:ext cx="422656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cxnSp>
        <p:nvCxnSpPr>
          <p:cNvPr id="11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12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Tracker line"/>
          <p:cNvCxnSpPr/>
          <p:nvPr/>
        </p:nvCxnSpPr>
        <p:spPr>
          <a:xfrm>
            <a:off x="10975340" y="520700"/>
            <a:ext cx="365760" cy="0"/>
          </a:xfrm>
          <a:prstGeom prst="line">
            <a:avLst/>
          </a:prstGeom>
          <a:ln w="9525">
            <a:solidFill>
              <a:srgbClr val="D9DDE3"/>
            </a:solidFill>
          </a:ln>
        </p:spPr>
      </p:cxnSp>
      <p:sp>
        <p:nvSpPr>
          <p:cNvPr id="3" name="Tracker dot 1"/>
          <p:cNvSpPr/>
          <p:nvPr/>
        </p:nvSpPr>
        <p:spPr>
          <a:xfrm>
            <a:off x="1093724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4" name="Tracker dot 2"/>
          <p:cNvSpPr/>
          <p:nvPr/>
        </p:nvSpPr>
        <p:spPr>
          <a:xfrm>
            <a:off x="11120120" y="482600"/>
            <a:ext cx="76200" cy="762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5E6672"/>
            </a:solidFill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5" name="Tracker dot 3"/>
          <p:cNvSpPr/>
          <p:nvPr/>
        </p:nvSpPr>
        <p:spPr>
          <a:xfrm>
            <a:off x="11303000" y="482600"/>
            <a:ext cx="76200" cy="76200"/>
          </a:xfrm>
          <a:prstGeom prst="ellipse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6" name="Eyebrow"/>
          <p:cNvSpPr txBox="1"/>
          <p:nvPr/>
        </p:nvSpPr>
        <p:spPr>
          <a:xfrm>
            <a:off x="812800" y="431800"/>
            <a:ext cx="9895840" cy="177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 · DECISION</a:t>
            </a:r>
          </a:p>
        </p:txBody>
      </p:sp>
      <p:sp>
        <p:nvSpPr>
          <p:cNvPr id="7" name="Title"/>
          <p:cNvSpPr txBox="1"/>
          <p:nvPr/>
        </p:nvSpPr>
        <p:spPr>
          <a:xfrm>
            <a:off x="812800" y="635000"/>
            <a:ext cx="10566400" cy="8158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We ask for one decision today and will return in six weeks with a recommendation to extend or stop</a:t>
            </a:r>
          </a:p>
        </p:txBody>
      </p:sp>
      <p:sp>
        <p:nvSpPr>
          <p:cNvPr id="8" name="Rule"/>
          <p:cNvSpPr/>
          <p:nvPr/>
        </p:nvSpPr>
        <p:spPr>
          <a:xfrm>
            <a:off x="812800" y="1527048"/>
            <a:ext cx="533400" cy="25400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9" name="Bullets"/>
          <p:cNvSpPr txBox="1"/>
          <p:nvPr/>
        </p:nvSpPr>
        <p:spPr>
          <a:xfrm>
            <a:off x="812800" y="1806448"/>
            <a:ext cx="7620000" cy="1121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 marL="223520" indent="-223520">
              <a:lnSpc>
                <a:spcPct val="120000"/>
              </a:lnSpc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Approve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the six-week trial in one region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Name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the sponsor who receives the weekly timeline</a:t>
            </a:r>
          </a:p>
          <a:p>
            <a:pPr algn="l" marL="223520" indent="-223520">
              <a:lnSpc>
                <a:spcPct val="120000"/>
              </a:lnSpc>
              <a:spcBef>
                <a:spcPts val="960"/>
              </a:spcBef>
              <a:buClr>
                <a:srgbClr val="2F5BD3"/>
              </a:buClr>
              <a:buChar char="•"/>
            </a:pPr>
            <a:r>
              <a:rPr sz="1600" b="1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Agree</a:t>
            </a:r>
            <a:r>
              <a:rPr sz="1600" b="0" i="0">
                <a:solidFill>
                  <a:srgbClr val="3D4450"/>
                </a:solidFill>
                <a:latin typeface="Arial"/>
                <a:ea typeface="Malgun Gothic"/>
                <a:cs typeface="Arial"/>
              </a:rPr>
              <a:t> now that the trial is judged on days to first use</a:t>
            </a:r>
          </a:p>
        </p:txBody>
      </p:sp>
      <p:sp>
        <p:nvSpPr>
          <p:cNvPr id="10" name="Next steps"/>
          <p:cNvSpPr/>
          <p:nvPr/>
        </p:nvSpPr>
        <p:spPr>
          <a:xfrm>
            <a:off x="812800" y="5137912"/>
            <a:ext cx="10566400" cy="780288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1" name="Next steps rule"/>
          <p:cNvSpPr/>
          <p:nvPr/>
        </p:nvSpPr>
        <p:spPr>
          <a:xfrm>
            <a:off x="812800" y="5137912"/>
            <a:ext cx="25400" cy="780288"/>
          </a:xfrm>
          <a:prstGeom prst="rect">
            <a:avLst/>
          </a:prstGeom>
          <a:solidFill>
            <a:srgbClr val="2F5BD3"/>
          </a:solidFill>
          <a:ln>
            <a:noFill/>
          </a:ln>
        </p:spPr>
        <p:txBody>
          <a:bodyPr rtlCol="0" anchor="ctr" wrap="square" lIns="76200" tIns="76200" rIns="76200" bIns="76200"/>
          <a:lstStyle/>
          <a:p>
            <a:pPr algn="ctr"/>
          </a:p>
        </p:txBody>
      </p:sp>
      <p:sp>
        <p:nvSpPr>
          <p:cNvPr id="12" name="Next steps label"/>
          <p:cNvSpPr txBox="1"/>
          <p:nvPr/>
        </p:nvSpPr>
        <p:spPr>
          <a:xfrm>
            <a:off x="965200" y="5324602"/>
            <a:ext cx="1418166" cy="44119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AFTER APPROVAL</a:t>
            </a:r>
          </a:p>
        </p:txBody>
      </p:sp>
      <p:sp>
        <p:nvSpPr>
          <p:cNvPr id="13" name="Next step 1 number"/>
          <p:cNvSpPr txBox="1"/>
          <p:nvPr/>
        </p:nvSpPr>
        <p:spPr>
          <a:xfrm>
            <a:off x="2611966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01</a:t>
            </a:r>
          </a:p>
        </p:txBody>
      </p:sp>
      <p:sp>
        <p:nvSpPr>
          <p:cNvPr id="14" name="Next step 1"/>
          <p:cNvSpPr txBox="1"/>
          <p:nvPr/>
        </p:nvSpPr>
        <p:spPr>
          <a:xfrm>
            <a:off x="2942166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Owners named within one week</a:t>
            </a:r>
          </a:p>
        </p:txBody>
      </p:sp>
      <p:sp>
        <p:nvSpPr>
          <p:cNvPr id="15" name="Next step 2 number"/>
          <p:cNvSpPr txBox="1"/>
          <p:nvPr/>
        </p:nvSpPr>
        <p:spPr>
          <a:xfrm>
            <a:off x="5559777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02</a:t>
            </a:r>
          </a:p>
        </p:txBody>
      </p:sp>
      <p:sp>
        <p:nvSpPr>
          <p:cNvPr id="16" name="Next step 2"/>
          <p:cNvSpPr txBox="1"/>
          <p:nvPr/>
        </p:nvSpPr>
        <p:spPr>
          <a:xfrm>
            <a:off x="5889977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Weekly timeline from week two</a:t>
            </a:r>
          </a:p>
        </p:txBody>
      </p:sp>
      <p:sp>
        <p:nvSpPr>
          <p:cNvPr id="17" name="Next step 3 number"/>
          <p:cNvSpPr txBox="1"/>
          <p:nvPr/>
        </p:nvSpPr>
        <p:spPr>
          <a:xfrm>
            <a:off x="8507588" y="5290312"/>
            <a:ext cx="3302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F5BD3"/>
                </a:solidFill>
                <a:latin typeface="Consolas"/>
                <a:ea typeface="Malgun Gothic"/>
                <a:cs typeface="Consolas"/>
              </a:rPr>
              <a:t>03</a:t>
            </a:r>
          </a:p>
        </p:txBody>
      </p:sp>
      <p:sp>
        <p:nvSpPr>
          <p:cNvPr id="18" name="Next step 3"/>
          <p:cNvSpPr txBox="1"/>
          <p:nvPr/>
        </p:nvSpPr>
        <p:spPr>
          <a:xfrm>
            <a:off x="8837788" y="5290312"/>
            <a:ext cx="2389011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1F2328"/>
                </a:solidFill>
                <a:latin typeface="Arial"/>
                <a:ea typeface="Malgun Gothic"/>
                <a:cs typeface="Arial"/>
              </a:rPr>
              <a:t>Recommendation to extend or stop at week six</a:t>
            </a:r>
          </a:p>
        </p:txBody>
      </p:sp>
      <p:cxnSp>
        <p:nvCxnSpPr>
          <p:cNvPr id="19" name="Footer rule"/>
          <p:cNvCxnSpPr/>
          <p:nvPr/>
        </p:nvCxnSpPr>
        <p:spPr>
          <a:xfrm>
            <a:off x="812800" y="6324600"/>
            <a:ext cx="10566400" cy="0"/>
          </a:xfrm>
          <a:prstGeom prst="line">
            <a:avLst/>
          </a:prstGeom>
          <a:ln w="6350">
            <a:solidFill>
              <a:srgbClr val="D9DDE3"/>
            </a:solidFill>
          </a:ln>
        </p:spPr>
      </p:cxnSp>
      <p:sp>
        <p:nvSpPr>
          <p:cNvPr id="20" name="Page number"/>
          <p:cNvSpPr txBox="1"/>
          <p:nvPr/>
        </p:nvSpPr>
        <p:spPr>
          <a:xfrm>
            <a:off x="10617200" y="6426200"/>
            <a:ext cx="762000" cy="190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20000"/>
              </a:lnSpc>
            </a:pPr>
            <a:r>
              <a:rPr sz="1000" b="0" i="0">
                <a:solidFill>
                  <a:srgbClr val="5E6672"/>
                </a:solidFill>
                <a:latin typeface="Consolas"/>
                <a:ea typeface="Malgun Gothic"/>
                <a:cs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812800" y="1914753"/>
            <a:ext cx="10566400" cy="1404518"/>
          </a:xfrm>
          <a:prstGeom prst="rect">
            <a:avLst/>
          </a:prstGeom>
          <a:noFill/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120000"/>
              </a:lnSpc>
            </a:pPr>
            <a:r>
              <a:rPr sz="4800" b="0" i="0">
                <a:solidFill>
                  <a:srgbClr val="FFFFFF"/>
                </a:solidFill>
                <a:latin typeface="Arial"/>
                <a:ea typeface="Malgun Gothic"/>
                <a:cs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2800" y="3547871"/>
            <a:ext cx="762000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Questions before the review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3954779"/>
            <a:ext cx="6191250" cy="23774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C9D0DA"/>
                </a:solidFill>
                <a:latin typeface="Arial"/>
                <a:ea typeface="Malgun Gothic"/>
                <a:cs typeface="Arial"/>
              </a:rPr>
              <a:t>onboarding-team@example.com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deckkit (python-pptx)</Application>
  <PresentationFormat>On-screen Show (16:9)</PresentationFormat>
  <Slides>14</Slides>
  <Notes>14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Shortening customer onboarding</dc:title>
  <dc:subject>Agree that onboarding waits come from handoffs and fix the handoffs first</dc:subject>
  <dc:creator>Presenter Name</dc:creator>
  <cp:keywords/>
  <dc:description/>
  <cp:lastModifiedBy>Presenter Name</cp:lastModifiedBy>
  <cp:revision>1</cp:revision>
  <dcterms:created xsi:type="dcterms:W3CDTF">2026-10-19T02:51:16Z</dcterms:created>
  <dcterms:modified xsi:type="dcterms:W3CDTF">2026-10-19T02:51:16Z</dcterms:modified>
  <cp:category/>
</cp:coreProperties>
</file>