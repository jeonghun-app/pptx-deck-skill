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days</c:v>
                </c:pt>
              </c:strCache>
            </c:strRef>
          </c:tx>
          <c:spPr>
            <a:solidFill>
              <a:srgbClr val="A6ABB1"/>
            </a:solidFill>
          </c:spPr>
          <c:dPt>
            <c:idx val="0"/>
            <c:spPr>
              <a:solidFill>
                <a:srgbClr val="2F5BD3"/>
              </a:solidFill>
            </c:spPr>
          </c:dPt>
          <c:cat>
            <c:strRef>
              <c:f>Sheet1!$A$2:$A$5</c:f>
              <c:strCache>
                <c:ptCount val="4"/>
                <c:pt idx="0">
                  <c:v>Waiting for setup</c:v>
                </c:pt>
                <c:pt idx="1">
                  <c:v>Waiting for files</c:v>
                </c:pt>
                <c:pt idx="2">
                  <c:v>Waiting for training</c:v>
                </c:pt>
                <c:pt idx="3">
                  <c:v>Hands-on work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2.5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pack is meant to be read before the review. The summary on the next page carries the whole argument; the three sections behind it hold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read only this page: the delay is waiting, not work; the fix is an owner per account; we ask for a six-week trial in one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pack follows the same three questions as the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the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three handoffs is hard work. Each is a wait for someone to notice that the account is now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headline is answered directly underneath, before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Eleven days, two of them work, three handoffs.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Second, what we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change is organisational; the three steps below are what the trial does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one is preparation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Third,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is bought for the 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to decide; the band shows what happens right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reading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807464"/>
            <a:ext cx="8664448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0DA"/>
                </a:solidFill>
                <a:latin typeface="Consolas"/>
                <a:ea typeface="Malgun Gothic"/>
                <a:cs typeface="Consolas"/>
              </a:rPr>
              <a:t>PRE-READ · ILLUSTRATIVE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1190548"/>
            <a:ext cx="8664448" cy="2457907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4800" b="0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New accounts wait eleven days for work that takes two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12800" y="3877055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Why onboarding is slow, what to change first, and the trial we ask you to approve</a:t>
            </a:r>
          </a:p>
        </p:txBody>
      </p:sp>
      <p:sp>
        <p:nvSpPr>
          <p:cNvPr id="5" name="Presenter"/>
          <p:cNvSpPr txBox="1"/>
          <p:nvPr/>
        </p:nvSpPr>
        <p:spPr>
          <a:xfrm>
            <a:off x="812800" y="5638800"/>
            <a:ext cx="8664448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Presenter Name · 2026-11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8158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Onboarding is slow because accounts wait between teams, so one owner per account should come before any new tooling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527048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figures for the sample deck</a:t>
            </a:r>
          </a:p>
        </p:txBody>
      </p:sp>
      <p:sp>
        <p:nvSpPr>
          <p:cNvPr id="6" name="So what"/>
          <p:cNvSpPr/>
          <p:nvPr/>
        </p:nvSpPr>
        <p:spPr>
          <a:xfrm>
            <a:off x="812800" y="4996942"/>
            <a:ext cx="10566400" cy="59740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7" name="So what rule"/>
          <p:cNvSpPr/>
          <p:nvPr/>
        </p:nvSpPr>
        <p:spPr>
          <a:xfrm>
            <a:off x="812800" y="4996942"/>
            <a:ext cx="25400" cy="5974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8" name="So what text"/>
          <p:cNvSpPr txBox="1"/>
          <p:nvPr/>
        </p:nvSpPr>
        <p:spPr>
          <a:xfrm>
            <a:off x="990600" y="5149342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Approve a </a:t>
            </a: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six-week trial</a:t>
            </a: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 of one onboarding owner per account in one region.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2800" y="1806448"/>
            <a:ext cx="3369733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0" name="Summary 01"/>
          <p:cNvSpPr txBox="1"/>
          <p:nvPr/>
        </p:nvSpPr>
        <p:spPr>
          <a:xfrm>
            <a:off x="812800" y="1933448"/>
            <a:ext cx="3369733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74748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Where onboarding time goes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2543556"/>
            <a:ext cx="3369733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Eleven days of waiting come from three handoffs, not from the work itself.</a:t>
            </a:r>
          </a:p>
        </p:txBody>
      </p:sp>
      <p:sp>
        <p:nvSpPr>
          <p:cNvPr id="13" name="Bullets"/>
          <p:cNvSpPr txBox="1"/>
          <p:nvPr/>
        </p:nvSpPr>
        <p:spPr>
          <a:xfrm>
            <a:off x="812800" y="3146044"/>
            <a:ext cx="3369733" cy="10500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Eleven days</a:t>
            </a: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from signed contract to first use; about two are work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Three handoffs hold most of the waiting time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11133" y="1806448"/>
            <a:ext cx="3369733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5" name="Summary 02"/>
          <p:cNvSpPr txBox="1"/>
          <p:nvPr/>
        </p:nvSpPr>
        <p:spPr>
          <a:xfrm>
            <a:off x="4411133" y="1933448"/>
            <a:ext cx="3369733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1133" y="2174748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What we change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1133" y="2543556"/>
            <a:ext cx="3369733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One owner per account removes the handoffs before any tool is bought.</a:t>
            </a:r>
          </a:p>
        </p:txBody>
      </p:sp>
      <p:sp>
        <p:nvSpPr>
          <p:cNvPr id="18" name="Bullets"/>
          <p:cNvSpPr txBox="1"/>
          <p:nvPr/>
        </p:nvSpPr>
        <p:spPr>
          <a:xfrm>
            <a:off x="4411133" y="3146044"/>
            <a:ext cx="3369733" cy="81229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One owner carries each account from contract to first use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Handoff checklists replace email threads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09466" y="1806448"/>
            <a:ext cx="3369734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20" name="Summary 03"/>
          <p:cNvSpPr txBox="1"/>
          <p:nvPr/>
        </p:nvSpPr>
        <p:spPr>
          <a:xfrm>
            <a:off x="8009466" y="1933448"/>
            <a:ext cx="3369733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9466" y="2174748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What we ask you to approve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9466" y="2543556"/>
            <a:ext cx="3369733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A six-week trial in one region, judged on days to first use.</a:t>
            </a:r>
          </a:p>
        </p:txBody>
      </p:sp>
      <p:sp>
        <p:nvSpPr>
          <p:cNvPr id="23" name="Bullets"/>
          <p:cNvSpPr txBox="1"/>
          <p:nvPr/>
        </p:nvSpPr>
        <p:spPr>
          <a:xfrm>
            <a:off x="8009466" y="3146044"/>
            <a:ext cx="3369733" cy="81229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Six weeks in one region, measured against the others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No new system; existing tools only</a:t>
            </a:r>
          </a:p>
        </p:txBody>
      </p:sp>
      <p:cxnSp>
        <p:nvCxnSpPr>
          <p:cNvPr id="24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5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AGENDA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8158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Three questions take the review from diagnosis to a decision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527048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806448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2400" y="1806448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Where does onboarding time go?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2800" y="2365248"/>
            <a:ext cx="739648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12800" y="2365248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2400" y="2365248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What do we change first?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" y="2924048"/>
            <a:ext cx="739648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12800" y="2924048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2400" y="2924048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What do we ask you to approve?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2800" y="3482848"/>
            <a:ext cx="739648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cxnSp>
        <p:nvCxnSpPr>
          <p:cNvPr id="14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5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812800" y="2139188"/>
            <a:ext cx="84531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522829"/>
            <a:ext cx="8453120" cy="81930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Where onboarding time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70732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Eleven days of waiting come from three handoffs, not from the work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Tracker line"/>
          <p:cNvCxnSpPr/>
          <p:nvPr/>
        </p:nvCxnSpPr>
        <p:spPr>
          <a:xfrm>
            <a:off x="10975340" y="520700"/>
            <a:ext cx="36576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3" name="Tracker dot 1"/>
          <p:cNvSpPr/>
          <p:nvPr/>
        </p:nvSpPr>
        <p:spPr>
          <a:xfrm>
            <a:off x="10937240" y="482600"/>
            <a:ext cx="76200" cy="76200"/>
          </a:xfrm>
          <a:prstGeom prst="ellipse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4" name="Tracker dot 2"/>
          <p:cNvSpPr/>
          <p:nvPr/>
        </p:nvSpPr>
        <p:spPr>
          <a:xfrm>
            <a:off x="1112012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racker dot 3"/>
          <p:cNvSpPr/>
          <p:nvPr/>
        </p:nvSpPr>
        <p:spPr>
          <a:xfrm>
            <a:off x="1130300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Eyebrow"/>
          <p:cNvSpPr txBox="1"/>
          <p:nvPr/>
        </p:nvSpPr>
        <p:spPr>
          <a:xfrm>
            <a:off x="812800" y="431800"/>
            <a:ext cx="989584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 · DIAGNOSIS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812800" y="635000"/>
            <a:ext cx="10566400" cy="8158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Three handoffs account for most of the eleven days a new account waits, and none of them adds work</a:t>
            </a:r>
          </a:p>
        </p:txBody>
      </p:sp>
      <p:sp>
        <p:nvSpPr>
          <p:cNvPr id="8" name="Rule"/>
          <p:cNvSpPr/>
          <p:nvPr/>
        </p:nvSpPr>
        <p:spPr>
          <a:xfrm>
            <a:off x="812800" y="1527048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Lead"/>
          <p:cNvSpPr txBox="1"/>
          <p:nvPr/>
        </p:nvSpPr>
        <p:spPr>
          <a:xfrm>
            <a:off x="812800" y="1806448"/>
            <a:ext cx="762000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We timed every step for a sample of new accounts, from signed contract to first use, including the days each request sat in a queue before anyone opened it.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sample of new accounts, invented for this deck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812800" y="2620264"/>
            <a:ext cx="7620000" cy="1384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223520" indent="-22352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Contract to setup</a:t>
            </a: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— the request sits in a shared inbox until claimed</a:t>
            </a:r>
          </a:p>
          <a:p>
            <a:pPr algn="l" marL="223520" indent="-223520">
              <a:lnSpc>
                <a:spcPct val="120000"/>
              </a:lnSpc>
              <a:spcBef>
                <a:spcPts val="960"/>
              </a:spcBef>
              <a:buClr>
                <a:srgbClr val="2F5BD3"/>
              </a:buClr>
              <a:buChar char="•"/>
            </a:pP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Setup to data import</a:t>
            </a: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— the customer is asked again for files sent at signing</a:t>
            </a:r>
          </a:p>
          <a:p>
            <a:pPr algn="l" marL="223520" indent="-223520">
              <a:lnSpc>
                <a:spcPct val="120000"/>
              </a:lnSpc>
              <a:spcBef>
                <a:spcPts val="960"/>
              </a:spcBef>
              <a:buClr>
                <a:srgbClr val="2F5BD3"/>
              </a:buClr>
              <a:buChar char="•"/>
            </a:pP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Import to training</a:t>
            </a: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— training is booked only after import is confirmed by email</a:t>
            </a:r>
          </a:p>
          <a:p>
            <a:pPr algn="l" marL="405130" indent="-181610">
              <a:lnSpc>
                <a:spcPct val="120000"/>
              </a:lnSpc>
              <a:spcBef>
                <a:spcPts val="200"/>
              </a:spcBef>
              <a:buClr>
                <a:srgbClr val="2F5BD3"/>
              </a:buClr>
              <a:buChar char="–"/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The confirmation itself takes a day on average in this illustrative sample</a:t>
            </a:r>
          </a:p>
        </p:txBody>
      </p:sp>
      <p:cxnSp>
        <p:nvCxnSpPr>
          <p:cNvPr id="12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3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Tracker line"/>
          <p:cNvCxnSpPr/>
          <p:nvPr/>
        </p:nvCxnSpPr>
        <p:spPr>
          <a:xfrm>
            <a:off x="10975340" y="520700"/>
            <a:ext cx="36576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3" name="Tracker dot 1"/>
          <p:cNvSpPr/>
          <p:nvPr/>
        </p:nvSpPr>
        <p:spPr>
          <a:xfrm>
            <a:off x="10937240" y="482600"/>
            <a:ext cx="76200" cy="76200"/>
          </a:xfrm>
          <a:prstGeom prst="ellipse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4" name="Tracker dot 2"/>
          <p:cNvSpPr/>
          <p:nvPr/>
        </p:nvSpPr>
        <p:spPr>
          <a:xfrm>
            <a:off x="1112012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racker dot 3"/>
          <p:cNvSpPr/>
          <p:nvPr/>
        </p:nvSpPr>
        <p:spPr>
          <a:xfrm>
            <a:off x="1130300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Eyebrow"/>
          <p:cNvSpPr txBox="1"/>
          <p:nvPr/>
        </p:nvSpPr>
        <p:spPr>
          <a:xfrm>
            <a:off x="812800" y="431800"/>
            <a:ext cx="989584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 · DIAGNOSIS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812800" y="635000"/>
            <a:ext cx="10566400" cy="8158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Which step holds a new account the longest?</a:t>
            </a:r>
          </a:p>
        </p:txBody>
      </p:sp>
      <p:sp>
        <p:nvSpPr>
          <p:cNvPr id="8" name="Rule"/>
          <p:cNvSpPr/>
          <p:nvPr/>
        </p:nvSpPr>
        <p:spPr>
          <a:xfrm>
            <a:off x="812800" y="1527048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Lead band"/>
          <p:cNvSpPr/>
          <p:nvPr/>
        </p:nvSpPr>
        <p:spPr>
          <a:xfrm>
            <a:off x="812800" y="1806448"/>
            <a:ext cx="10566400" cy="89001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0" name="Lead band rule"/>
          <p:cNvSpPr/>
          <p:nvPr/>
        </p:nvSpPr>
        <p:spPr>
          <a:xfrm>
            <a:off x="812800" y="1806448"/>
            <a:ext cx="25400" cy="890016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1" name="Lead band text"/>
          <p:cNvSpPr txBox="1"/>
          <p:nvPr/>
        </p:nvSpPr>
        <p:spPr>
          <a:xfrm>
            <a:off x="990600" y="1958848"/>
            <a:ext cx="762000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The wait before setup starts is the longest single step, longer than all hands-on work combined.</a:t>
            </a:r>
          </a:p>
        </p:txBody>
      </p:sp>
      <p:sp>
        <p:nvSpPr>
          <p:cNvPr id="12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sample of new accounts, invented for this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2925064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Median days per step, illustrative sample</a:t>
            </a:r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812800" y="3176524"/>
          <a:ext cx="10566400" cy="241782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5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6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Tracker line"/>
          <p:cNvCxnSpPr/>
          <p:nvPr/>
        </p:nvCxnSpPr>
        <p:spPr>
          <a:xfrm>
            <a:off x="10975340" y="520700"/>
            <a:ext cx="36576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3" name="Tracker dot 1"/>
          <p:cNvSpPr/>
          <p:nvPr/>
        </p:nvSpPr>
        <p:spPr>
          <a:xfrm>
            <a:off x="10937240" y="482600"/>
            <a:ext cx="76200" cy="76200"/>
          </a:xfrm>
          <a:prstGeom prst="ellipse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4" name="Tracker dot 2"/>
          <p:cNvSpPr/>
          <p:nvPr/>
        </p:nvSpPr>
        <p:spPr>
          <a:xfrm>
            <a:off x="1112012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racker dot 3"/>
          <p:cNvSpPr/>
          <p:nvPr/>
        </p:nvSpPr>
        <p:spPr>
          <a:xfrm>
            <a:off x="1130300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Eyebrow"/>
          <p:cNvSpPr txBox="1"/>
          <p:nvPr/>
        </p:nvSpPr>
        <p:spPr>
          <a:xfrm>
            <a:off x="812800" y="431800"/>
            <a:ext cx="989584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 · DIAGNOSIS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812800" y="635000"/>
            <a:ext cx="10566400" cy="8158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Most of the waiting sits in queues that no single person is responsible for clearing</a:t>
            </a:r>
          </a:p>
        </p:txBody>
      </p:sp>
      <p:sp>
        <p:nvSpPr>
          <p:cNvPr id="8" name="Rule"/>
          <p:cNvSpPr/>
          <p:nvPr/>
        </p:nvSpPr>
        <p:spPr>
          <a:xfrm>
            <a:off x="812800" y="1527048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sample of new accounts, invented for this deck</a:t>
            </a:r>
          </a:p>
        </p:txBody>
      </p:sp>
      <p:sp>
        <p:nvSpPr>
          <p:cNvPr id="10" name="Stat 1"/>
          <p:cNvSpPr txBox="1"/>
          <p:nvPr/>
        </p:nvSpPr>
        <p:spPr>
          <a:xfrm>
            <a:off x="812800" y="1806448"/>
            <a:ext cx="3369733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11 days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2800" y="2451608"/>
            <a:ext cx="3369733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12800" y="2578608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median from contract to first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2922016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Illustrative</a:t>
            </a:r>
          </a:p>
        </p:txBody>
      </p:sp>
      <p:sp>
        <p:nvSpPr>
          <p:cNvPr id="14" name="Stat 2"/>
          <p:cNvSpPr txBox="1"/>
          <p:nvPr/>
        </p:nvSpPr>
        <p:spPr>
          <a:xfrm>
            <a:off x="4411133" y="1806448"/>
            <a:ext cx="3369733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2 days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11133" y="2451608"/>
            <a:ext cx="3369733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4411133" y="2578608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of hands-on work in that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1133" y="2922016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Illustrative</a:t>
            </a:r>
          </a:p>
        </p:txBody>
      </p:sp>
      <p:sp>
        <p:nvSpPr>
          <p:cNvPr id="18" name="Stat 3"/>
          <p:cNvSpPr txBox="1"/>
          <p:nvPr/>
        </p:nvSpPr>
        <p:spPr>
          <a:xfrm>
            <a:off x="8009466" y="1806448"/>
            <a:ext cx="3369733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09466" y="2451608"/>
            <a:ext cx="3369734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009466" y="2578608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handoffs between teams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9466" y="2922016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Sales</a:t>
            </a:r>
          </a:p>
        </p:txBody>
      </p:sp>
      <p:cxnSp>
        <p:nvCxnSpPr>
          <p:cNvPr id="22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3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812800" y="2139188"/>
            <a:ext cx="84531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522829"/>
            <a:ext cx="8453120" cy="81930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What we change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70732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One owner per account removes the handoffs before any tool is bought.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Tracker line"/>
          <p:cNvCxnSpPr/>
          <p:nvPr/>
        </p:nvCxnSpPr>
        <p:spPr>
          <a:xfrm>
            <a:off x="10975340" y="520700"/>
            <a:ext cx="36576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3" name="Tracker dot 1"/>
          <p:cNvSpPr/>
          <p:nvPr/>
        </p:nvSpPr>
        <p:spPr>
          <a:xfrm>
            <a:off x="1093724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4" name="Tracker dot 2"/>
          <p:cNvSpPr/>
          <p:nvPr/>
        </p:nvSpPr>
        <p:spPr>
          <a:xfrm>
            <a:off x="11120120" y="482600"/>
            <a:ext cx="76200" cy="76200"/>
          </a:xfrm>
          <a:prstGeom prst="ellipse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racker dot 3"/>
          <p:cNvSpPr/>
          <p:nvPr/>
        </p:nvSpPr>
        <p:spPr>
          <a:xfrm>
            <a:off x="1130300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Eyebrow"/>
          <p:cNvSpPr txBox="1"/>
          <p:nvPr/>
        </p:nvSpPr>
        <p:spPr>
          <a:xfrm>
            <a:off x="812800" y="431800"/>
            <a:ext cx="989584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 · CHANGES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812800" y="635000"/>
            <a:ext cx="10566400" cy="8158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An owner who carries the account end to end removes the waits between teams</a:t>
            </a:r>
          </a:p>
        </p:txBody>
      </p:sp>
      <p:sp>
        <p:nvSpPr>
          <p:cNvPr id="8" name="Rule"/>
          <p:cNvSpPr/>
          <p:nvPr/>
        </p:nvSpPr>
        <p:spPr>
          <a:xfrm>
            <a:off x="812800" y="1527048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1806448"/>
            <a:ext cx="49403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Today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812800" y="2200656"/>
            <a:ext cx="4940300" cy="9113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Each team works its own queue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The account waits at every handoff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Nobody sees the whole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1806448"/>
            <a:ext cx="49403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Proposed</a:t>
            </a:r>
          </a:p>
        </p:txBody>
      </p:sp>
      <p:sp>
        <p:nvSpPr>
          <p:cNvPr id="12" name="Bullets"/>
          <p:cNvSpPr txBox="1"/>
          <p:nvPr/>
        </p:nvSpPr>
        <p:spPr>
          <a:xfrm>
            <a:off x="6438900" y="2200656"/>
            <a:ext cx="4940300" cy="9113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One owner from contract to first use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Teams are pulled in by the owner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The owner reports the timeline weekly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3100" y="1806448"/>
            <a:ext cx="685800" cy="130555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→</a:t>
            </a:r>
          </a:p>
        </p:txBody>
      </p:sp>
      <p:sp>
        <p:nvSpPr>
          <p:cNvPr id="14" name="Next steps"/>
          <p:cNvSpPr/>
          <p:nvPr/>
        </p:nvSpPr>
        <p:spPr>
          <a:xfrm>
            <a:off x="812800" y="5137912"/>
            <a:ext cx="10566400" cy="7802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5" name="Next steps rule"/>
          <p:cNvSpPr/>
          <p:nvPr/>
        </p:nvSpPr>
        <p:spPr>
          <a:xfrm>
            <a:off x="812800" y="5137912"/>
            <a:ext cx="25400" cy="78028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6" name="Next steps label"/>
          <p:cNvSpPr txBox="1"/>
          <p:nvPr/>
        </p:nvSpPr>
        <p:spPr>
          <a:xfrm>
            <a:off x="965200" y="5324602"/>
            <a:ext cx="1418166" cy="4411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WHAT THIS MEANS</a:t>
            </a:r>
          </a:p>
        </p:txBody>
      </p:sp>
      <p:sp>
        <p:nvSpPr>
          <p:cNvPr id="17" name="Next step 1 number"/>
          <p:cNvSpPr txBox="1"/>
          <p:nvPr/>
        </p:nvSpPr>
        <p:spPr>
          <a:xfrm>
            <a:off x="2611966" y="5290312"/>
            <a:ext cx="3302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18" name="Next step 1"/>
          <p:cNvSpPr txBox="1"/>
          <p:nvPr/>
        </p:nvSpPr>
        <p:spPr>
          <a:xfrm>
            <a:off x="2942166" y="5290312"/>
            <a:ext cx="2389011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Name one owner per new account in the trial region</a:t>
            </a:r>
          </a:p>
        </p:txBody>
      </p:sp>
      <p:sp>
        <p:nvSpPr>
          <p:cNvPr id="19" name="Next step 2 number"/>
          <p:cNvSpPr txBox="1"/>
          <p:nvPr/>
        </p:nvSpPr>
        <p:spPr>
          <a:xfrm>
            <a:off x="5559777" y="5290312"/>
            <a:ext cx="3302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20" name="Next step 2"/>
          <p:cNvSpPr txBox="1"/>
          <p:nvPr/>
        </p:nvSpPr>
        <p:spPr>
          <a:xfrm>
            <a:off x="5889977" y="5290312"/>
            <a:ext cx="2389011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Replace the setup inbox with the owner's checklist</a:t>
            </a:r>
          </a:p>
        </p:txBody>
      </p:sp>
      <p:sp>
        <p:nvSpPr>
          <p:cNvPr id="21" name="Next step 3 number"/>
          <p:cNvSpPr txBox="1"/>
          <p:nvPr/>
        </p:nvSpPr>
        <p:spPr>
          <a:xfrm>
            <a:off x="8507588" y="5290312"/>
            <a:ext cx="3302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22" name="Next step 3"/>
          <p:cNvSpPr txBox="1"/>
          <p:nvPr/>
        </p:nvSpPr>
        <p:spPr>
          <a:xfrm>
            <a:off x="8837788" y="5290312"/>
            <a:ext cx="2389011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Report days-to-first-use weekly against other regions</a:t>
            </a:r>
          </a:p>
        </p:txBody>
      </p:sp>
      <p:cxnSp>
        <p:nvCxnSpPr>
          <p:cNvPr id="23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4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Tracker line"/>
          <p:cNvCxnSpPr/>
          <p:nvPr/>
        </p:nvCxnSpPr>
        <p:spPr>
          <a:xfrm>
            <a:off x="10975340" y="520700"/>
            <a:ext cx="36576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3" name="Tracker dot 1"/>
          <p:cNvSpPr/>
          <p:nvPr/>
        </p:nvSpPr>
        <p:spPr>
          <a:xfrm>
            <a:off x="1093724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4" name="Tracker dot 2"/>
          <p:cNvSpPr/>
          <p:nvPr/>
        </p:nvSpPr>
        <p:spPr>
          <a:xfrm>
            <a:off x="11120120" y="482600"/>
            <a:ext cx="76200" cy="76200"/>
          </a:xfrm>
          <a:prstGeom prst="ellipse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racker dot 3"/>
          <p:cNvSpPr/>
          <p:nvPr/>
        </p:nvSpPr>
        <p:spPr>
          <a:xfrm>
            <a:off x="1130300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Eyebrow"/>
          <p:cNvSpPr txBox="1"/>
          <p:nvPr/>
        </p:nvSpPr>
        <p:spPr>
          <a:xfrm>
            <a:off x="812800" y="431800"/>
            <a:ext cx="989584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 · CHANGES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812800" y="635000"/>
            <a:ext cx="10566400" cy="8158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The trial runs in four stages over six weeks, with a decision built into the last one</a:t>
            </a:r>
          </a:p>
        </p:txBody>
      </p:sp>
      <p:sp>
        <p:nvSpPr>
          <p:cNvPr id="8" name="Rule"/>
          <p:cNvSpPr/>
          <p:nvPr/>
        </p:nvSpPr>
        <p:spPr>
          <a:xfrm>
            <a:off x="812800" y="1527048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1806448"/>
            <a:ext cx="2298700" cy="381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1984248"/>
            <a:ext cx="2298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250948"/>
            <a:ext cx="22987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2619756"/>
            <a:ext cx="22987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Pick owners and the checklist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25800" y="1825498"/>
            <a:ext cx="228600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3568700" y="1806448"/>
            <a:ext cx="2298700" cy="38100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8700" y="1984248"/>
            <a:ext cx="2298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8700" y="2250948"/>
            <a:ext cx="22987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8700" y="2619756"/>
            <a:ext cx="22987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New accounts get an owner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1700" y="1825498"/>
            <a:ext cx="228600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6324600" y="1806448"/>
            <a:ext cx="2298700" cy="38100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4600" y="1984248"/>
            <a:ext cx="2298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600" y="2250948"/>
            <a:ext cx="22987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600" y="2619756"/>
            <a:ext cx="22987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Days to first use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37600" y="1825498"/>
            <a:ext cx="228600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9080500" y="1806448"/>
            <a:ext cx="2298700" cy="38100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0500" y="1984248"/>
            <a:ext cx="2298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0500" y="2250948"/>
            <a:ext cx="22987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Decide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0500" y="2619756"/>
            <a:ext cx="22987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Extend</a:t>
            </a:r>
          </a:p>
        </p:txBody>
      </p:sp>
      <p:cxnSp>
        <p:nvCxnSpPr>
          <p:cNvPr id="28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9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812800" y="2139188"/>
            <a:ext cx="84531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522829"/>
            <a:ext cx="8453120" cy="81930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What we ask you to approve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70732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A six-week trial in one region, judged on days to first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Tracker line"/>
          <p:cNvCxnSpPr/>
          <p:nvPr/>
        </p:nvCxnSpPr>
        <p:spPr>
          <a:xfrm>
            <a:off x="10975340" y="520700"/>
            <a:ext cx="36576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3" name="Tracker dot 1"/>
          <p:cNvSpPr/>
          <p:nvPr/>
        </p:nvSpPr>
        <p:spPr>
          <a:xfrm>
            <a:off x="1093724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4" name="Tracker dot 2"/>
          <p:cNvSpPr/>
          <p:nvPr/>
        </p:nvSpPr>
        <p:spPr>
          <a:xfrm>
            <a:off x="1112012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racker dot 3"/>
          <p:cNvSpPr/>
          <p:nvPr/>
        </p:nvSpPr>
        <p:spPr>
          <a:xfrm>
            <a:off x="11303000" y="482600"/>
            <a:ext cx="76200" cy="76200"/>
          </a:xfrm>
          <a:prstGeom prst="ellipse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Eyebrow"/>
          <p:cNvSpPr txBox="1"/>
          <p:nvPr/>
        </p:nvSpPr>
        <p:spPr>
          <a:xfrm>
            <a:off x="812800" y="431800"/>
            <a:ext cx="989584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 · DECISION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812800" y="635000"/>
            <a:ext cx="10566400" cy="8158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The trial costs owner time only and is judged on two measures agreed in advance</a:t>
            </a:r>
          </a:p>
        </p:txBody>
      </p:sp>
      <p:sp>
        <p:nvSpPr>
          <p:cNvPr id="8" name="Rule"/>
          <p:cNvSpPr/>
          <p:nvPr/>
        </p:nvSpPr>
        <p:spPr>
          <a:xfrm>
            <a:off x="812800" y="1527048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812800" y="1857248"/>
          <a:ext cx="10566400" cy="2486657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113280"/>
                <a:gridCol w="4226560"/>
                <a:gridCol w="4226560"/>
              </a:tblGrid>
              <a:tr h="424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Item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F5BD3"/>
                          </a:solidFill>
                          <a:latin typeface="Arial"/>
                          <a:ea typeface="Malgun Gothic"/>
                          <a:cs typeface="Arial"/>
                        </a:rPr>
                        <a:t>Trial region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Other regions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565911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Owners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Four existing staff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part time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No change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Tools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Current tools and a checklist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No change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565911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Measure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Median days to first use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Same measure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as comparison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565911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Guardrail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Customer satisfaction at first use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Same measure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as comparison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926080" y="1831848"/>
            <a:ext cx="422656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cxnSp>
        <p:nvCxnSpPr>
          <p:cNvPr id="11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2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Tracker line"/>
          <p:cNvCxnSpPr/>
          <p:nvPr/>
        </p:nvCxnSpPr>
        <p:spPr>
          <a:xfrm>
            <a:off x="10975340" y="520700"/>
            <a:ext cx="36576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3" name="Tracker dot 1"/>
          <p:cNvSpPr/>
          <p:nvPr/>
        </p:nvSpPr>
        <p:spPr>
          <a:xfrm>
            <a:off x="1093724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4" name="Tracker dot 2"/>
          <p:cNvSpPr/>
          <p:nvPr/>
        </p:nvSpPr>
        <p:spPr>
          <a:xfrm>
            <a:off x="11120120" y="482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racker dot 3"/>
          <p:cNvSpPr/>
          <p:nvPr/>
        </p:nvSpPr>
        <p:spPr>
          <a:xfrm>
            <a:off x="11303000" y="482600"/>
            <a:ext cx="76200" cy="76200"/>
          </a:xfrm>
          <a:prstGeom prst="ellipse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Eyebrow"/>
          <p:cNvSpPr txBox="1"/>
          <p:nvPr/>
        </p:nvSpPr>
        <p:spPr>
          <a:xfrm>
            <a:off x="812800" y="431800"/>
            <a:ext cx="989584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 · DECISION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812800" y="635000"/>
            <a:ext cx="10566400" cy="8158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We ask for one decision today and will return in six weeks with a recommendation to extend or stop</a:t>
            </a:r>
          </a:p>
        </p:txBody>
      </p:sp>
      <p:sp>
        <p:nvSpPr>
          <p:cNvPr id="8" name="Rule"/>
          <p:cNvSpPr/>
          <p:nvPr/>
        </p:nvSpPr>
        <p:spPr>
          <a:xfrm>
            <a:off x="812800" y="1527048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Bullets"/>
          <p:cNvSpPr txBox="1"/>
          <p:nvPr/>
        </p:nvSpPr>
        <p:spPr>
          <a:xfrm>
            <a:off x="812800" y="1806448"/>
            <a:ext cx="7620000" cy="1121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223520" indent="-22352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Approve</a:t>
            </a: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the six-week trial in one region</a:t>
            </a:r>
          </a:p>
          <a:p>
            <a:pPr algn="l" marL="223520" indent="-223520">
              <a:lnSpc>
                <a:spcPct val="120000"/>
              </a:lnSpc>
              <a:spcBef>
                <a:spcPts val="960"/>
              </a:spcBef>
              <a:buClr>
                <a:srgbClr val="2F5BD3"/>
              </a:buClr>
              <a:buChar char="•"/>
            </a:pP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Name</a:t>
            </a: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the sponsor who receives the weekly timeline</a:t>
            </a:r>
          </a:p>
          <a:p>
            <a:pPr algn="l" marL="223520" indent="-223520">
              <a:lnSpc>
                <a:spcPct val="120000"/>
              </a:lnSpc>
              <a:spcBef>
                <a:spcPts val="960"/>
              </a:spcBef>
              <a:buClr>
                <a:srgbClr val="2F5BD3"/>
              </a:buClr>
              <a:buChar char="•"/>
            </a:pPr>
            <a:r>
              <a:rPr sz="16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Agree</a:t>
            </a: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now that the trial is judged on days to first use</a:t>
            </a:r>
          </a:p>
        </p:txBody>
      </p:sp>
      <p:sp>
        <p:nvSpPr>
          <p:cNvPr id="10" name="Next steps"/>
          <p:cNvSpPr/>
          <p:nvPr/>
        </p:nvSpPr>
        <p:spPr>
          <a:xfrm>
            <a:off x="812800" y="5137912"/>
            <a:ext cx="10566400" cy="7802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1" name="Next steps rule"/>
          <p:cNvSpPr/>
          <p:nvPr/>
        </p:nvSpPr>
        <p:spPr>
          <a:xfrm>
            <a:off x="812800" y="5137912"/>
            <a:ext cx="25400" cy="78028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2" name="Next steps label"/>
          <p:cNvSpPr txBox="1"/>
          <p:nvPr/>
        </p:nvSpPr>
        <p:spPr>
          <a:xfrm>
            <a:off x="965200" y="5324602"/>
            <a:ext cx="1418166" cy="4411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AFTER APPROVAL</a:t>
            </a:r>
          </a:p>
        </p:txBody>
      </p:sp>
      <p:sp>
        <p:nvSpPr>
          <p:cNvPr id="13" name="Next step 1 number"/>
          <p:cNvSpPr txBox="1"/>
          <p:nvPr/>
        </p:nvSpPr>
        <p:spPr>
          <a:xfrm>
            <a:off x="2611966" y="5290312"/>
            <a:ext cx="3302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14" name="Next step 1"/>
          <p:cNvSpPr txBox="1"/>
          <p:nvPr/>
        </p:nvSpPr>
        <p:spPr>
          <a:xfrm>
            <a:off x="2942166" y="5290312"/>
            <a:ext cx="2389011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Owners named within one week</a:t>
            </a:r>
          </a:p>
        </p:txBody>
      </p:sp>
      <p:sp>
        <p:nvSpPr>
          <p:cNvPr id="15" name="Next step 2 number"/>
          <p:cNvSpPr txBox="1"/>
          <p:nvPr/>
        </p:nvSpPr>
        <p:spPr>
          <a:xfrm>
            <a:off x="5559777" y="5290312"/>
            <a:ext cx="3302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16" name="Next step 2"/>
          <p:cNvSpPr txBox="1"/>
          <p:nvPr/>
        </p:nvSpPr>
        <p:spPr>
          <a:xfrm>
            <a:off x="5889977" y="5290312"/>
            <a:ext cx="2389011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Weekly timeline from week two</a:t>
            </a:r>
          </a:p>
        </p:txBody>
      </p:sp>
      <p:sp>
        <p:nvSpPr>
          <p:cNvPr id="17" name="Next step 3 number"/>
          <p:cNvSpPr txBox="1"/>
          <p:nvPr/>
        </p:nvSpPr>
        <p:spPr>
          <a:xfrm>
            <a:off x="8507588" y="5290312"/>
            <a:ext cx="3302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18" name="Next step 3"/>
          <p:cNvSpPr txBox="1"/>
          <p:nvPr/>
        </p:nvSpPr>
        <p:spPr>
          <a:xfrm>
            <a:off x="8837788" y="5290312"/>
            <a:ext cx="2389011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Recommendation to extend or stop at week six</a:t>
            </a:r>
          </a:p>
        </p:txBody>
      </p:sp>
      <p:cxnSp>
        <p:nvCxnSpPr>
          <p:cNvPr id="19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0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12800" y="1914753"/>
            <a:ext cx="10566400" cy="140451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4800" b="0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3547871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Questions before the review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954779"/>
            <a:ext cx="619125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onboarding-team@example.com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deckkit (python-pptx)</Application>
  <PresentationFormat>On-screen Show (16:9)</PresentationFormat>
  <Slides>14</Slides>
  <Notes>14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Shortening customer onboarding</dc:title>
  <dc:subject>Agree that onboarding waits come from handoffs and fix the handoffs first</dc:subject>
  <dc:creator>Presenter Name</dc:creator>
  <cp:keywords/>
  <dc:description/>
  <cp:lastModifiedBy>Presenter Name</cp:lastModifiedBy>
  <cp:revision>1</cp:revision>
  <dcterms:created xsi:type="dcterms:W3CDTF">2026-10-19T03:14:10Z</dcterms:created>
  <dcterms:modified xsi:type="dcterms:W3CDTF">2026-10-19T03:14:10Z</dcterms:modified>
  <cp:category/>
</cp:coreProperties>
</file>