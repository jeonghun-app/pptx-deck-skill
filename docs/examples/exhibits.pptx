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Would renew</c:v>
                </c:pt>
              </c:strCache>
            </c:strRef>
          </c:tx>
          <c:spPr>
            <a:solidFill>
              <a:srgbClr val="A6ABB1"/>
            </a:solidFill>
          </c:spPr>
          <c:dPt>
            <c:idx val="0"/>
            <c:spPr>
              <a:solidFill>
                <a:srgbClr val="2F5BD3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0.52</c:v>
                </c:pt>
                <c:pt idx="2">
                  <c:v>0.48</c:v>
                </c:pt>
                <c:pt idx="3">
                  <c:v>0.41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0124"/>
          <c:y val="0.06284"/>
          <c:w val="0.69792"/>
          <c:h val="0.92420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Tickets per 1,000 accounts</c:v>
                </c:pt>
              </c:strCache>
            </c:strRef>
          </c:tx>
          <c:spPr>
            <a:solidFill>
              <a:srgbClr val="A6ABB1"/>
            </a:solidFill>
          </c:spPr>
          <c:dPt>
            <c:idx val="0"/>
            <c:spPr>
              <a:solidFill>
                <a:srgbClr val="2F5BD3"/>
              </a:solidFill>
            </c:spPr>
          </c:dPt>
          <c:dPt>
            <c:idx val="1"/>
            <c:spPr>
              <a:solidFill>
                <a:srgbClr val="2F5BD3"/>
              </a:solidFill>
            </c:spPr>
          </c:dPt>
          <c:cat>
            <c:strRef>
              <c:f>Sheet1!$A$2:$A$6</c:f>
              <c:strCache>
                <c:ptCount val="5"/>
                <c:pt idx="0">
                  <c:v>Team plan</c:v>
                </c:pt>
                <c:pt idx="1">
                  <c:v>Business plan</c:v>
                </c:pt>
                <c:pt idx="2">
                  <c:v>Starter plan</c:v>
                </c:pt>
                <c:pt idx="3">
                  <c:v>Free tier</c:v>
                </c:pt>
                <c:pt idx="4">
                  <c:v>Education plan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</c:v>
                </c:pt>
                <c:pt idx="1">
                  <c:v>41</c:v>
                </c:pt>
                <c:pt idx="2">
                  <c:v>17</c:v>
                </c:pt>
                <c:pt idx="3">
                  <c:v>12</c:v>
                </c:pt>
                <c:pt idx="4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1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Annual plan</c:v>
                </c:pt>
              </c:strCache>
            </c:strRef>
          </c:tx>
          <c:spPr>
            <a:solidFill>
              <a:srgbClr val="2F5B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26</c:v>
                </c:pt>
                <c:pt idx="2">
                  <c:v>30</c:v>
                </c:pt>
                <c:pt idx="3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plan</c:v>
                </c:pt>
              </c:strCache>
            </c:strRef>
          </c:tx>
          <c:spPr>
            <a:solidFill>
              <a:srgbClr val="A6ABB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28</c:v>
                </c:pt>
                <c:pt idx="2">
                  <c:v>31</c:v>
                </c:pt>
                <c:pt idx="3">
                  <c:v>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Trial</c:v>
                </c:pt>
              </c:strCache>
            </c:strRef>
          </c:tx>
          <c:spPr>
            <a:solidFill>
              <a:srgbClr val="D7D9DC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</c:v>
                </c:pt>
                <c:pt idx="1">
                  <c:v>16</c:v>
                </c:pt>
                <c:pt idx="2">
                  <c:v>13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Large</c:v>
                </c:pt>
              </c:strCache>
            </c:strRef>
          </c:tx>
          <c:spPr>
            <a:solidFill>
              <a:srgbClr val="2F5BD3"/>
            </a:solidFill>
          </c:spPr>
          <c:dLbls>
            <c:numFmt formatCode="0%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0.36</c:v>
                </c:pt>
                <c:pt idx="1">
                  <c:v>0.43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Mid-size</c:v>
                </c:pt>
              </c:strCache>
            </c:strRef>
          </c:tx>
          <c:spPr>
            <a:solidFill>
              <a:srgbClr val="7894E2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0.34</c:v>
                </c:pt>
                <c:pt idx="1">
                  <c:v>0.32</c:v>
                </c:pt>
                <c:pt idx="2">
                  <c:v>0.29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1CEF2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0.3</c:v>
                </c:pt>
                <c:pt idx="1">
                  <c:v>0.25</c:v>
                </c:pt>
                <c:pt idx="2">
                  <c:v>0.21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461"/>
          <c:y val="0.06609"/>
          <c:w val="0.89362"/>
          <c:h val="0.8616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ln w="28575">
              <a:solidFill>
                <a:srgbClr val="2F5BD3"/>
              </a:solidFill>
            </a:ln>
          </c:spPr>
          <c:marker>
            <c:symbol val="circle"/>
            <c:size val="5"/>
            <c:spPr>
              <a:solidFill>
                <a:srgbClr val="2F5BD3"/>
              </a:solidFill>
              <a:ln>
                <a:solidFill>
                  <a:srgbClr val="2F5BD3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</c:v>
                </c:pt>
                <c:pt idx="1">
                  <c:v>34</c:v>
                </c:pt>
                <c:pt idx="2">
                  <c:v>38</c:v>
                </c:pt>
                <c:pt idx="3">
                  <c:v>41</c:v>
                </c:pt>
                <c:pt idx="4">
                  <c:v>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East</c:v>
                </c:pt>
              </c:strCache>
            </c:strRef>
          </c:tx>
          <c:spPr>
            <a:ln w="19050">
              <a:solidFill>
                <a:srgbClr val="A6ABB1"/>
              </a:solidFill>
            </a:ln>
          </c:spPr>
          <c:marker>
            <c:symbol val="circle"/>
            <c:size val="5"/>
            <c:spPr>
              <a:solidFill>
                <a:srgbClr val="A6ABB1"/>
              </a:solidFill>
              <a:ln>
                <a:solidFill>
                  <a:srgbClr val="A6ABB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28</c:v>
                </c:pt>
                <c:pt idx="1">
                  <c:v>29</c:v>
                </c:pt>
                <c:pt idx="2">
                  <c:v>31</c:v>
                </c:pt>
                <c:pt idx="3">
                  <c:v>33</c:v>
                </c:pt>
                <c:pt idx="4">
                  <c:v>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</c:v>
                </c:pt>
              </c:strCache>
            </c:strRef>
          </c:tx>
          <c:spPr>
            <a:ln w="19050">
              <a:solidFill>
                <a:srgbClr val="BFC2C7"/>
              </a:solidFill>
            </a:ln>
          </c:spPr>
          <c:marker>
            <c:symbol val="circle"/>
            <c:size val="5"/>
            <c:spPr>
              <a:solidFill>
                <a:srgbClr val="BFC2C7"/>
              </a:solidFill>
              <a:ln>
                <a:solidFill>
                  <a:srgbClr val="BFC2C7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25</c:v>
                </c:pt>
                <c:pt idx="1">
                  <c:v>27</c:v>
                </c:pt>
                <c:pt idx="2">
                  <c:v>26</c:v>
                </c:pt>
                <c:pt idx="3">
                  <c:v>29</c:v>
                </c:pt>
                <c:pt idx="4">
                  <c:v>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West</c:v>
                </c:pt>
              </c:strCache>
            </c:strRef>
          </c:tx>
          <c:spPr>
            <a:ln w="19050">
              <a:solidFill>
                <a:srgbClr val="D7D9DC"/>
              </a:solidFill>
            </a:ln>
          </c:spPr>
          <c:marker>
            <c:symbol val="circle"/>
            <c:size val="5"/>
            <c:spPr>
              <a:solidFill>
                <a:srgbClr val="D7D9DC"/>
              </a:solidFill>
              <a:ln>
                <a:solidFill>
                  <a:srgbClr val="D7D9D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22</c:v>
                </c:pt>
                <c:pt idx="1">
                  <c:v>24</c:v>
                </c:pt>
                <c:pt idx="2">
                  <c:v>25</c:v>
                </c:pt>
                <c:pt idx="3">
                  <c:v>25</c:v>
                </c:pt>
                <c:pt idx="4">
                  <c:v>27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North (estimate)</c:v>
                </c:pt>
              </c:strCache>
            </c:strRef>
          </c:tx>
          <c:spPr>
            <a:ln w="28575">
              <a:solidFill>
                <a:srgbClr val="2F5BD3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2F5BD3"/>
              </a:solidFill>
              <a:ln>
                <a:solidFill>
                  <a:srgbClr val="2F5BD3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4">
                  <c:v>45</c:v>
                </c:pt>
                <c:pt idx="5">
                  <c:v>48</c:v>
                </c:pt>
                <c:pt idx="6">
                  <c:v>51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East (estimate)</c:v>
                </c:pt>
              </c:strCache>
            </c:strRef>
          </c:tx>
          <c:spPr>
            <a:ln w="19050">
              <a:solidFill>
                <a:srgbClr val="A6ABB1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A6ABB1"/>
              </a:solidFill>
              <a:ln>
                <a:solidFill>
                  <a:srgbClr val="A6ABB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4">
                  <c:v>34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South (estimate)</c:v>
                </c:pt>
              </c:strCache>
            </c:strRef>
          </c:tx>
          <c:spPr>
            <a:ln w="19050">
              <a:solidFill>
                <a:srgbClr val="BFC2C7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BFC2C7"/>
              </a:solidFill>
              <a:ln>
                <a:solidFill>
                  <a:srgbClr val="BFC2C7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Sheet1!$H$2:$H$8</c:f>
              <c:numCache>
                <c:formatCode>General</c:formatCode>
                <c:ptCount val="7"/>
                <c:pt idx="4">
                  <c:v>31</c:v>
                </c:pt>
                <c:pt idx="5">
                  <c:v>32</c:v>
                </c:pt>
                <c:pt idx="6">
                  <c:v>34</c:v>
                </c:pt>
              </c:numCache>
            </c:numRef>
          </c: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West (estimate)</c:v>
                </c:pt>
              </c:strCache>
            </c:strRef>
          </c:tx>
          <c:spPr>
            <a:ln w="19050">
              <a:solidFill>
                <a:srgbClr val="D7D9DC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D7D9DC"/>
              </a:solidFill>
              <a:ln>
                <a:solidFill>
                  <a:srgbClr val="D7D9D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  <c:pt idx="6">
                  <c:v>2027e</c:v>
                </c:pt>
              </c:strCache>
            </c:strRef>
          </c:cat>
          <c:val>
            <c:numRef>
              <c:f>Sheet1!$I$2:$I$8</c:f>
              <c:numCache>
                <c:formatCode>General</c:formatCode>
                <c:ptCount val="7"/>
                <c:pt idx="4">
                  <c:v>27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.0"/>
          <c:min val="0.0"/>
        </c:scaling>
        <c:delete val="0"/>
        <c:axPos val="l"/>
        <c:majorGridlines>
          <c:spPr>
            <a:ln w="6350">
              <a:solidFill>
                <a:srgbClr val="D9DDE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crossBetween val="between"/>
        <c:majorUnit val="20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729"/>
          <c:y val="0.06284"/>
          <c:w val="0.98177"/>
          <c:h val="0.8684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New members</c:v>
                </c:pt>
                <c:pt idx="2">
                  <c:v>Price</c:v>
                </c:pt>
                <c:pt idx="3">
                  <c:v>Churn</c:v>
                </c:pt>
                <c:pt idx="4">
                  <c:v>Discounts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120.0</c:v>
                </c:pt>
                <c:pt idx="2">
                  <c:v>154.0</c:v>
                </c:pt>
                <c:pt idx="3">
                  <c:v>145.0</c:v>
                </c:pt>
                <c:pt idx="4">
                  <c:v>136.0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F2328"/>
            </a:solidFill>
          </c:spPr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New members</c:v>
                </c:pt>
                <c:pt idx="2">
                  <c:v>Price</c:v>
                </c:pt>
                <c:pt idx="3">
                  <c:v>Churn</c:v>
                </c:pt>
                <c:pt idx="4">
                  <c:v>Discounts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120.0</c:v>
                </c:pt>
                <c:pt idx="5">
                  <c:v>136.0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1A7F4B"/>
            </a:solidFill>
          </c:spPr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New members</c:v>
                </c:pt>
                <c:pt idx="2">
                  <c:v>Price</c:v>
                </c:pt>
                <c:pt idx="3">
                  <c:v>Churn</c:v>
                </c:pt>
                <c:pt idx="4">
                  <c:v>Discounts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1">
                  <c:v>34.0</c:v>
                </c:pt>
                <c:pt idx="2">
                  <c:v>18.0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B3261E"/>
            </a:solidFill>
          </c:spPr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New members</c:v>
                </c:pt>
                <c:pt idx="2">
                  <c:v>Price</c:v>
                </c:pt>
                <c:pt idx="3">
                  <c:v>Churn</c:v>
                </c:pt>
                <c:pt idx="4">
                  <c:v>Discounts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3">
                  <c:v>27.0</c:v>
                </c:pt>
                <c:pt idx="4">
                  <c:v>9.0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  <c:majorUnit val="5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646"/>
          <c:y val="0.28305"/>
          <c:w val="0.98386"/>
          <c:h val="0.64473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Resolved without an agent</c:v>
                </c:pt>
              </c:strCache>
            </c:strRef>
          </c:tx>
          <c:spPr>
            <a:solidFill>
              <a:srgbClr val="2F5BD3"/>
            </a:solidFill>
          </c:spPr>
          <c:dPt>
            <c:idx val="3"/>
            <c:spPr>
              <a:solidFill>
                <a:srgbClr val="A1B5EB"/>
              </a:solidFill>
              <a:ln w="9525">
                <a:solidFill>
                  <a:srgbClr val="2F5BD3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0.42</c:v>
                </c:pt>
                <c:pt idx="1">
                  <c:v>0.51</c:v>
                </c:pt>
                <c:pt idx="2">
                  <c:v>0.6</c:v>
                </c:pt>
                <c:pt idx="3">
                  <c:v>0.64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0.2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508"/>
          <c:y val="0.06808"/>
          <c:w val="0.96231"/>
          <c:h val="0.85751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A6ABB1"/>
            </a:solidFill>
          </c:spPr>
          <c:dPt>
            <c:idx val="2"/>
            <c:spPr>
              <a:solidFill>
                <a:srgbClr val="2F5BD3"/>
              </a:solidFill>
            </c:spPr>
          </c:dPt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48</c:v>
                </c:pt>
                <c:pt idx="2">
                  <c:v>56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2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508"/>
          <c:y val="0.06808"/>
          <c:w val="0.96231"/>
          <c:h val="0.85751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A6ABB1"/>
            </a:solidFill>
          </c:spPr>
          <c:dPt>
            <c:idx val="2"/>
            <c:spPr>
              <a:solidFill>
                <a:srgbClr val="2F5BD3"/>
              </a:solidFill>
            </c:spPr>
          </c:dPt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35</c:v>
                </c:pt>
                <c:pt idx="2">
                  <c:v>38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2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508"/>
          <c:y val="0.06808"/>
          <c:w val="0.96231"/>
          <c:h val="0.85751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A6ABB1"/>
            </a:solidFill>
          </c:spPr>
          <c:dPt>
            <c:idx val="2"/>
            <c:spPr>
              <a:solidFill>
                <a:srgbClr val="2F5BD3"/>
              </a:solidFill>
            </c:spPr>
          </c:dPt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</c:v>
                </c:pt>
                <c:pt idx="1">
                  <c:v>30</c:v>
                </c:pt>
                <c:pt idx="2">
                  <c:v>33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20.0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7331"/>
          <c:y val="0.07478"/>
          <c:w val="0.75499"/>
          <c:h val="0.8435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Email</c:v>
                </c:pt>
              </c:strCache>
            </c:strRef>
          </c:tx>
          <c:spPr>
            <a:ln w="28575">
              <a:solidFill>
                <a:srgbClr val="2F5BD3"/>
              </a:solidFill>
            </a:ln>
          </c:spPr>
          <c:marker>
            <c:symbol val="circle"/>
            <c:size val="5"/>
            <c:spPr>
              <a:solidFill>
                <a:srgbClr val="2F5BD3"/>
              </a:solidFill>
              <a:ln>
                <a:solidFill>
                  <a:srgbClr val="2F5BD3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</c:v>
                </c:pt>
                <c:pt idx="1">
                  <c:v>8.1</c:v>
                </c:pt>
                <c:pt idx="2">
                  <c:v>6.4</c:v>
                </c:pt>
                <c:pt idx="3">
                  <c:v>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Chat</c:v>
                </c:pt>
              </c:strCache>
            </c:strRef>
          </c:tx>
          <c:spPr>
            <a:ln w="19050">
              <a:solidFill>
                <a:srgbClr val="7A8699"/>
              </a:solidFill>
            </a:ln>
          </c:spPr>
          <c:marker>
            <c:symbol val="circle"/>
            <c:size val="5"/>
            <c:spPr>
              <a:solidFill>
                <a:srgbClr val="7A8699"/>
              </a:solidFill>
              <a:ln>
                <a:solidFill>
                  <a:srgbClr val="7A8699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2.1</c:v>
                </c:pt>
                <c:pt idx="1">
                  <c:v>1.8</c:v>
                </c:pt>
                <c:pt idx="2">
                  <c:v>1.5</c:v>
                </c:pt>
                <c:pt idx="3">
                  <c:v>1.2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0"/>
          <c:min val="0.0"/>
        </c:scaling>
        <c:delete val="0"/>
        <c:axPos val="l"/>
        <c:majorGridlines>
          <c:spPr>
            <a:ln w="6350">
              <a:solidFill>
                <a:srgbClr val="D9DDE3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crossBetween val="between"/>
        <c:majorUnit val="2.0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983"/>
          <c:y val="0.07478"/>
          <c:w val="0.97543"/>
          <c:h val="0.84351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Email</c:v>
                </c:pt>
              </c:strCache>
            </c:strRef>
          </c:tx>
          <c:spPr>
            <a:solidFill>
              <a:srgbClr val="2F5B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0.19</c:v>
                </c:pt>
                <c:pt idx="1">
                  <c:v>0.17</c:v>
                </c:pt>
                <c:pt idx="2">
                  <c:v>0.14</c:v>
                </c:pt>
                <c:pt idx="3">
                  <c:v>0.12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Chat</c:v>
                </c:pt>
              </c:strCache>
            </c:strRef>
          </c:tx>
          <c:spPr>
            <a:solidFill>
              <a:srgbClr val="7A8699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0.12</c:v>
                </c:pt>
                <c:pt idx="1">
                  <c:v>0.11</c:v>
                </c:pt>
                <c:pt idx="2">
                  <c:v>0.1</c:v>
                </c:pt>
                <c:pt idx="3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2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crossBetween val="between"/>
        <c:majorUnit val="0.05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exercises every exhibit option. All numbers, segments and sources are invented for illustration.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deck moves from what a number is, to what it shows, to where it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sections in one page; each block repeats its section's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footers and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footer reads top-down: the note on the footnote mark, then the question, base, sample per region and date, then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highlighted plans sit well above the computed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focus series is in the accent; the others step back in grey.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ordered ramp tells the reader the segments have an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annotations.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Lines are labeled at their ends, so there is no legend. Forecast years are dashed, suffixed and shaded, and the footer says what e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Rises are green, falls red, start and end in ink; each bar is labeled.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number is the bracket on the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Last, commentary columns and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unit, so the panels share one scale and one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 units, so each panel keeps its own scale and unit line. Channels have no order, so both panels use the nominal palette.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commentary column takes four grid columns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Commentary on the left, three grid columns 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diagram keeps nine grid columns; the commentary takes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423415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0DA"/>
                </a:solidFill>
                <a:latin typeface="Consolas"/>
                <a:ea typeface="Malgun Gothic"/>
                <a:cs typeface="Consolas"/>
              </a:rPr>
              <a:t>EXAMPLE DECK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345643"/>
            <a:ext cx="8664448" cy="36868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Charts that make their point before anyone reads the legend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4261104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Exhibit options of the chart, table, image and diagram layouts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Presenter Name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kinds of exhibit help, in the order a reader needs them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Footers and highlights that say what the numbers are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Annotations that put the headline comparison on the chart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Layouts that place commentary and panels beside the data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 chart works when its point is on the chart, not in the legend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 what"/>
          <p:cNvSpPr/>
          <p:nvPr/>
        </p:nvSpPr>
        <p:spPr>
          <a:xfrm>
            <a:off x="812800" y="5320792"/>
            <a:ext cx="10566400" cy="59740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So what rule"/>
          <p:cNvSpPr/>
          <p:nvPr/>
        </p:nvSpPr>
        <p:spPr>
          <a:xfrm>
            <a:off x="812800" y="5320792"/>
            <a:ext cx="25400" cy="5974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So what text"/>
          <p:cNvSpPr txBox="1"/>
          <p:nvPr/>
        </p:nvSpPr>
        <p:spPr>
          <a:xfrm>
            <a:off x="990600" y="547319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Choose the option that makes each chart's point without extra reading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9" name="Summary 01"/>
          <p:cNvSpPr txBox="1"/>
          <p:nvPr/>
        </p:nvSpPr>
        <p:spPr>
          <a:xfrm>
            <a:off x="812800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Say what the numbers are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812800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State units, base and sample size once, in the footer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Highlight the focus in the accent and set context in grey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11133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ummary 02"/>
          <p:cNvSpPr txBox="1"/>
          <p:nvPr/>
        </p:nvSpPr>
        <p:spPr>
          <a:xfrm>
            <a:off x="4411133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133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Put the comparison on the chart</a:t>
            </a:r>
          </a:p>
        </p:txBody>
      </p:sp>
      <p:sp>
        <p:nvSpPr>
          <p:cNvPr id="15" name="Bullets"/>
          <p:cNvSpPr txBox="1"/>
          <p:nvPr/>
        </p:nvSpPr>
        <p:spPr>
          <a:xfrm>
            <a:off x="4411133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Compute deltas and multiples from the data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Mark estimates in the encoding and the label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9466" y="142240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7" name="Summary 03"/>
          <p:cNvSpPr txBox="1"/>
          <p:nvPr/>
        </p:nvSpPr>
        <p:spPr>
          <a:xfrm>
            <a:off x="8009466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Place the reading beside the data</a:t>
            </a:r>
          </a:p>
        </p:txBody>
      </p:sp>
      <p:sp>
        <p:nvSpPr>
          <p:cNvPr id="19" name="Bullets"/>
          <p:cNvSpPr txBox="1"/>
          <p:nvPr/>
        </p:nvSpPr>
        <p:spPr>
          <a:xfrm>
            <a:off x="8009466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Put the reading in a column beside the chart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Line up panels on one header line and one baseline</a:t>
            </a:r>
          </a:p>
        </p:txBody>
      </p:sp>
      <p:cxnSp>
        <p:nvCxnSpPr>
          <p:cNvPr id="2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Say what the numbers 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FOOTER OBJECT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in three members in the north would renew their plan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314696"/>
            <a:ext cx="10566400" cy="603504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1) Answers "likely" and "very likely" combined.  Figures may not add up to the totals shown because of rounding.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Q: How likely are you to renew your plan next year? · Base: Active members · n = 412 (North), 388 (East), 365 (South), 335 (West) · As of Sep 2026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member survey; own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42240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 of respondents who would renew¹⁾, by region</a:t>
            </a:r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812800" y="1673860"/>
          <a:ext cx="10566400" cy="35265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CATEGORY HIGHLIGHT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plans carry most of the support load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support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42240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Support tickets per 1,000 accounts, last quarter</a:t>
            </a:r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812800" y="1673860"/>
          <a:ext cx="10566400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Reference line"/>
          <p:cNvCxnSpPr/>
          <p:nvPr/>
        </p:nvCxnSpPr>
        <p:spPr>
          <a:xfrm>
            <a:off x="5628776" y="1920240"/>
            <a:ext cx="0" cy="3623310"/>
          </a:xfrm>
          <a:prstGeom prst="line">
            <a:avLst/>
          </a:prstGeom>
          <a:ln w="12700">
            <a:solidFill>
              <a:srgbClr val="5E6672"/>
            </a:solidFill>
            <a:prstDash val="dash"/>
          </a:ln>
        </p:spPr>
      </p:cxnSp>
      <p:sp>
        <p:nvSpPr>
          <p:cNvPr id="9" name="Reference label"/>
          <p:cNvSpPr txBox="1"/>
          <p:nvPr/>
        </p:nvSpPr>
        <p:spPr>
          <a:xfrm>
            <a:off x="5155470" y="1685290"/>
            <a:ext cx="946611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Average 25.4</a:t>
            </a:r>
          </a:p>
        </p:txBody>
      </p:sp>
      <p:cxnSp>
        <p:nvCxnSpPr>
          <p:cNvPr id="10" name="Callout leader"/>
          <p:cNvCxnSpPr/>
          <p:nvPr/>
        </p:nvCxnSpPr>
        <p:spPr>
          <a:xfrm>
            <a:off x="9222149" y="2282571"/>
            <a:ext cx="345781" cy="0"/>
          </a:xfrm>
          <a:prstGeom prst="line">
            <a:avLst/>
          </a:prstGeom>
          <a:ln w="9525">
            <a:solidFill>
              <a:srgbClr val="5E6672"/>
            </a:solidFill>
          </a:ln>
        </p:spPr>
      </p:cxnSp>
      <p:sp>
        <p:nvSpPr>
          <p:cNvPr id="11" name="Callout"/>
          <p:cNvSpPr/>
          <p:nvPr/>
        </p:nvSpPr>
        <p:spPr>
          <a:xfrm>
            <a:off x="9567930" y="2143887"/>
            <a:ext cx="1658869" cy="277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F5BD3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Doubled since last year</a:t>
            </a:r>
          </a:p>
        </p:txBody>
      </p:sp>
      <p:cxnSp>
        <p:nvCxnSpPr>
          <p:cNvPr id="1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SERIES HIGHLIGHT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Only the annual plan grew in every quarter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sales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42240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New subscriptions, thousands</a:t>
            </a:r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812800" y="1673860"/>
          <a:ext cx="10566400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ORDERED SERIES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Larger accounts now make up half of revenue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revenue data</a:t>
            </a:r>
          </a:p>
        </p:txBody>
      </p:sp>
      <p:sp>
        <p:nvSpPr>
          <p:cNvPr id="6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Account size is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ordered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, so the series share one hue from dark to light.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 of revenue by account size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Put the comparison on the chart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END LABELS AND ESTIMATES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north stays ahead even in the forecast years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515864"/>
            <a:ext cx="10566400" cy="40233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e = estimate.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membership data and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42240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Active members per 100 households</a:t>
            </a:r>
          </a:p>
        </p:txBody>
      </p:sp>
      <p:sp>
        <p:nvSpPr>
          <p:cNvPr id="7" name="Band"/>
          <p:cNvSpPr/>
          <p:nvPr/>
        </p:nvSpPr>
        <p:spPr>
          <a:xfrm>
            <a:off x="7817388" y="1920240"/>
            <a:ext cx="2697803" cy="321208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Band label"/>
          <p:cNvSpPr txBox="1"/>
          <p:nvPr/>
        </p:nvSpPr>
        <p:spPr>
          <a:xfrm>
            <a:off x="7817388" y="1710690"/>
            <a:ext cx="2697803" cy="195579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Forecast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812800" y="1673860"/>
          <a:ext cx="10566400" cy="37277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0" name="Reference line"/>
          <p:cNvCxnSpPr/>
          <p:nvPr/>
        </p:nvCxnSpPr>
        <p:spPr>
          <a:xfrm>
            <a:off x="1072880" y="2990934"/>
            <a:ext cx="9442312" cy="0"/>
          </a:xfrm>
          <a:prstGeom prst="line">
            <a:avLst/>
          </a:prstGeom>
          <a:ln w="12700">
            <a:solidFill>
              <a:srgbClr val="5E6672"/>
            </a:solidFill>
            <a:prstDash val="dash"/>
          </a:ln>
        </p:spPr>
      </p:cxnSp>
      <p:sp>
        <p:nvSpPr>
          <p:cNvPr id="11" name="End label"/>
          <p:cNvSpPr txBox="1"/>
          <p:nvPr/>
        </p:nvSpPr>
        <p:spPr>
          <a:xfrm>
            <a:off x="10616792" y="2301468"/>
            <a:ext cx="662273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North  </a:t>
            </a:r>
            <a:r>
              <a:rPr sz="11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51</a:t>
            </a:r>
          </a:p>
        </p:txBody>
      </p:sp>
      <p:sp>
        <p:nvSpPr>
          <p:cNvPr id="12" name="Reference label"/>
          <p:cNvSpPr txBox="1"/>
          <p:nvPr/>
        </p:nvSpPr>
        <p:spPr>
          <a:xfrm>
            <a:off x="10616792" y="2890350"/>
            <a:ext cx="670266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Target 40</a:t>
            </a:r>
          </a:p>
        </p:txBody>
      </p:sp>
      <p:sp>
        <p:nvSpPr>
          <p:cNvPr id="13" name="End label"/>
          <p:cNvSpPr txBox="1"/>
          <p:nvPr/>
        </p:nvSpPr>
        <p:spPr>
          <a:xfrm>
            <a:off x="10616792" y="3091518"/>
            <a:ext cx="598974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East  </a:t>
            </a:r>
            <a:r>
              <a:rPr sz="11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37</a:t>
            </a:r>
          </a:p>
        </p:txBody>
      </p:sp>
      <p:sp>
        <p:nvSpPr>
          <p:cNvPr id="14" name="End label"/>
          <p:cNvSpPr txBox="1"/>
          <p:nvPr/>
        </p:nvSpPr>
        <p:spPr>
          <a:xfrm>
            <a:off x="10616792" y="3292686"/>
            <a:ext cx="686207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South  </a:t>
            </a:r>
            <a:r>
              <a:rPr sz="11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34</a:t>
            </a:r>
          </a:p>
        </p:txBody>
      </p:sp>
      <p:sp>
        <p:nvSpPr>
          <p:cNvPr id="15" name="End label"/>
          <p:cNvSpPr txBox="1"/>
          <p:nvPr/>
        </p:nvSpPr>
        <p:spPr>
          <a:xfrm>
            <a:off x="10616792" y="3493854"/>
            <a:ext cx="635845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West  </a:t>
            </a:r>
            <a:r>
              <a:rPr sz="11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30</a:t>
            </a:r>
          </a:p>
        </p:txBody>
      </p:sp>
      <p:cxnSp>
        <p:nvCxnSpPr>
          <p:cNvPr id="16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WATERFALL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Price and new members more than offset higher churn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finance data</a:t>
            </a:r>
          </a:p>
        </p:txBody>
      </p:sp>
      <p:sp>
        <p:nvSpPr>
          <p:cNvPr id="6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Net growth of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16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came from price and new members; churn took back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27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Revenue bridge, millions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Value label"/>
          <p:cNvSpPr txBox="1"/>
          <p:nvPr/>
        </p:nvSpPr>
        <p:spPr>
          <a:xfrm>
            <a:off x="863600" y="3086608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120</a:t>
            </a:r>
          </a:p>
        </p:txBody>
      </p:sp>
      <p:sp>
        <p:nvSpPr>
          <p:cNvPr id="11" name="Value label"/>
          <p:cNvSpPr txBox="1"/>
          <p:nvPr/>
        </p:nvSpPr>
        <p:spPr>
          <a:xfrm>
            <a:off x="2003777" y="2507780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+34</a:t>
            </a:r>
          </a:p>
        </p:txBody>
      </p:sp>
      <p:sp>
        <p:nvSpPr>
          <p:cNvPr id="12" name="Value label"/>
          <p:cNvSpPr txBox="1"/>
          <p:nvPr/>
        </p:nvSpPr>
        <p:spPr>
          <a:xfrm>
            <a:off x="3143955" y="2201341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+18</a:t>
            </a:r>
          </a:p>
        </p:txBody>
      </p:sp>
      <p:sp>
        <p:nvSpPr>
          <p:cNvPr id="13" name="Value label"/>
          <p:cNvSpPr txBox="1"/>
          <p:nvPr/>
        </p:nvSpPr>
        <p:spPr>
          <a:xfrm>
            <a:off x="4284133" y="2201341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−27</a:t>
            </a:r>
          </a:p>
        </p:txBody>
      </p:sp>
      <p:sp>
        <p:nvSpPr>
          <p:cNvPr id="14" name="Value label"/>
          <p:cNvSpPr txBox="1"/>
          <p:nvPr/>
        </p:nvSpPr>
        <p:spPr>
          <a:xfrm>
            <a:off x="5424311" y="2660999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−9</a:t>
            </a:r>
          </a:p>
        </p:txBody>
      </p:sp>
      <p:sp>
        <p:nvSpPr>
          <p:cNvPr id="15" name="Value label"/>
          <p:cNvSpPr txBox="1"/>
          <p:nvPr/>
        </p:nvSpPr>
        <p:spPr>
          <a:xfrm>
            <a:off x="6564488" y="2814218"/>
            <a:ext cx="1140177" cy="195579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136</a:t>
            </a:r>
          </a:p>
        </p:txBody>
      </p:sp>
      <p:cxnSp>
        <p:nvCxnSpPr>
          <p:cNvPr id="16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COMPUTED DELTAS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Self-service resolves 18 points more tickets than two years ago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515864"/>
            <a:ext cx="10566400" cy="40233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Values from 2027 on are estimates.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support data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965200" y="1422400"/>
            <a:ext cx="2317750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deltas are computed from the plotted values.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last bar is an estimate, so it is lighter and noted.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12800" y="1422400"/>
            <a:ext cx="25400" cy="1050036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1550" y="1422400"/>
            <a:ext cx="786765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 of tickets resolved without an agent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3511550" y="1673860"/>
          <a:ext cx="7867650" cy="37277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Delta bracket"/>
          <p:cNvSpPr/>
          <p:nvPr/>
        </p:nvSpPr>
        <p:spPr>
          <a:xfrm>
            <a:off x="8400256" y="2331212"/>
            <a:ext cx="1935162" cy="777621"/>
          </a:xfrm>
          <a:custGeom>
            <a:avLst/>
            <a:gdLst/>
            <a:ahLst/>
            <a:cxnLst/>
            <a:rect l="l" t="t" r="r" b="b"/>
            <a:pathLst>
              <a:path w="1935162" h="777621">
                <a:moveTo>
                  <a:pt x="0" y="777621"/>
                </a:moveTo>
                <a:lnTo>
                  <a:pt x="0" y="0"/>
                </a:lnTo>
                <a:lnTo>
                  <a:pt x="1935162" y="0"/>
                </a:lnTo>
                <a:lnTo>
                  <a:pt x="1935162" y="657453"/>
                </a:lnTo>
              </a:path>
            </a:pathLst>
          </a:custGeom>
          <a:noFill/>
          <a:ln w="9525">
            <a:solidFill>
              <a:srgbClr val="5E6672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Delta"/>
          <p:cNvSpPr/>
          <p:nvPr/>
        </p:nvSpPr>
        <p:spPr>
          <a:xfrm>
            <a:off x="9118464" y="2192528"/>
            <a:ext cx="498745" cy="277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F5BD3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+4pp</a:t>
            </a:r>
          </a:p>
        </p:txBody>
      </p:sp>
      <p:sp>
        <p:nvSpPr>
          <p:cNvPr id="12" name="Delta bracket"/>
          <p:cNvSpPr/>
          <p:nvPr/>
        </p:nvSpPr>
        <p:spPr>
          <a:xfrm>
            <a:off x="4529931" y="1926844"/>
            <a:ext cx="3870325" cy="1722742"/>
          </a:xfrm>
          <a:custGeom>
            <a:avLst/>
            <a:gdLst/>
            <a:ahLst/>
            <a:cxnLst/>
            <a:rect l="l" t="t" r="r" b="b"/>
            <a:pathLst>
              <a:path w="3870325" h="1722742">
                <a:moveTo>
                  <a:pt x="0" y="1722742"/>
                </a:moveTo>
                <a:lnTo>
                  <a:pt x="0" y="0"/>
                </a:lnTo>
                <a:lnTo>
                  <a:pt x="3870325" y="0"/>
                </a:lnTo>
                <a:lnTo>
                  <a:pt x="3870325" y="1181989"/>
                </a:lnTo>
              </a:path>
            </a:pathLst>
          </a:custGeom>
          <a:noFill/>
          <a:ln w="9525">
            <a:solidFill>
              <a:srgbClr val="5E6672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Delta"/>
          <p:cNvSpPr/>
          <p:nvPr/>
        </p:nvSpPr>
        <p:spPr>
          <a:xfrm>
            <a:off x="6176101" y="1788160"/>
            <a:ext cx="577985" cy="277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F5BD3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+18pp</a:t>
            </a:r>
          </a:p>
        </p:txBody>
      </p: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Place the reading beside the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PANELS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Every region grew, and the north grew fastest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membership data</a:t>
            </a:r>
          </a:p>
        </p:txBody>
      </p:sp>
      <p:sp>
        <p:nvSpPr>
          <p:cNvPr id="6" name="Panel title"/>
          <p:cNvSpPr txBox="1"/>
          <p:nvPr/>
        </p:nvSpPr>
        <p:spPr>
          <a:xfrm>
            <a:off x="812800" y="14224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North</a:t>
            </a:r>
          </a:p>
        </p:txBody>
      </p:sp>
      <p:sp>
        <p:nvSpPr>
          <p:cNvPr id="7" name="Panel unit"/>
          <p:cNvSpPr txBox="1"/>
          <p:nvPr/>
        </p:nvSpPr>
        <p:spPr>
          <a:xfrm>
            <a:off x="812800" y="1660144"/>
            <a:ext cx="3369733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Members, thousands</a:t>
            </a:r>
          </a:p>
        </p:txBody>
      </p:sp>
      <p:sp>
        <p:nvSpPr>
          <p:cNvPr id="8" name="Panel title"/>
          <p:cNvSpPr txBox="1"/>
          <p:nvPr/>
        </p:nvSpPr>
        <p:spPr>
          <a:xfrm>
            <a:off x="4411133" y="14224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East</a:t>
            </a:r>
          </a:p>
        </p:txBody>
      </p:sp>
      <p:sp>
        <p:nvSpPr>
          <p:cNvPr id="9" name="Panel unit"/>
          <p:cNvSpPr txBox="1"/>
          <p:nvPr/>
        </p:nvSpPr>
        <p:spPr>
          <a:xfrm>
            <a:off x="4411133" y="1660144"/>
            <a:ext cx="3369733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Members, thousands</a:t>
            </a:r>
          </a:p>
        </p:txBody>
      </p:sp>
      <p:sp>
        <p:nvSpPr>
          <p:cNvPr id="10" name="Panel title"/>
          <p:cNvSpPr txBox="1"/>
          <p:nvPr/>
        </p:nvSpPr>
        <p:spPr>
          <a:xfrm>
            <a:off x="8009466" y="14224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South</a:t>
            </a:r>
          </a:p>
        </p:txBody>
      </p:sp>
      <p:sp>
        <p:nvSpPr>
          <p:cNvPr id="11" name="Panel unit"/>
          <p:cNvSpPr txBox="1"/>
          <p:nvPr/>
        </p:nvSpPr>
        <p:spPr>
          <a:xfrm>
            <a:off x="8009466" y="1660144"/>
            <a:ext cx="3369733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Members, thousands</a:t>
            </a:r>
          </a:p>
        </p:txBody>
      </p:sp>
      <p:graphicFrame>
        <p:nvGraphicFramePr>
          <p:cNvPr id="12" name="Chart panel 1"/>
          <p:cNvGraphicFramePr>
            <a:graphicFrameLocks noGrp="1"/>
          </p:cNvGraphicFramePr>
          <p:nvPr/>
        </p:nvGraphicFramePr>
        <p:xfrm>
          <a:off x="812800" y="1975612"/>
          <a:ext cx="3369733" cy="36187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Chart panel 2"/>
          <p:cNvGraphicFramePr>
            <a:graphicFrameLocks noGrp="1"/>
          </p:cNvGraphicFramePr>
          <p:nvPr/>
        </p:nvGraphicFramePr>
        <p:xfrm>
          <a:off x="4411133" y="1975612"/>
          <a:ext cx="3369733" cy="361873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Chart panel 3"/>
          <p:cNvGraphicFramePr>
            <a:graphicFrameLocks noGrp="1"/>
          </p:cNvGraphicFramePr>
          <p:nvPr/>
        </p:nvGraphicFramePr>
        <p:xfrm>
          <a:off x="8009466" y="1975612"/>
          <a:ext cx="3369733" cy="361873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cxnSp>
        <p:nvCxnSpPr>
          <p:cNvPr id="1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PANELS WITH DIFFERENT UNITS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Faster replies came with fewer repeat contacts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support data</a:t>
            </a:r>
          </a:p>
        </p:txBody>
      </p:sp>
      <p:sp>
        <p:nvSpPr>
          <p:cNvPr id="6" name="Panel title"/>
          <p:cNvSpPr txBox="1"/>
          <p:nvPr/>
        </p:nvSpPr>
        <p:spPr>
          <a:xfrm>
            <a:off x="812800" y="1422400"/>
            <a:ext cx="51689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First reply time</a:t>
            </a:r>
          </a:p>
        </p:txBody>
      </p:sp>
      <p:sp>
        <p:nvSpPr>
          <p:cNvPr id="7" name="Panel unit"/>
          <p:cNvSpPr txBox="1"/>
          <p:nvPr/>
        </p:nvSpPr>
        <p:spPr>
          <a:xfrm>
            <a:off x="812800" y="1660144"/>
            <a:ext cx="5168900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Median hours</a:t>
            </a:r>
          </a:p>
        </p:txBody>
      </p:sp>
      <p:sp>
        <p:nvSpPr>
          <p:cNvPr id="8" name="Panel title"/>
          <p:cNvSpPr txBox="1"/>
          <p:nvPr/>
        </p:nvSpPr>
        <p:spPr>
          <a:xfrm>
            <a:off x="6210300" y="1422400"/>
            <a:ext cx="51689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Repeat contacts</a:t>
            </a:r>
          </a:p>
        </p:txBody>
      </p:sp>
      <p:sp>
        <p:nvSpPr>
          <p:cNvPr id="9" name="Panel unit"/>
          <p:cNvSpPr txBox="1"/>
          <p:nvPr/>
        </p:nvSpPr>
        <p:spPr>
          <a:xfrm>
            <a:off x="6210300" y="1660144"/>
            <a:ext cx="5168900" cy="2011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 of tickets reopened</a:t>
            </a:r>
          </a:p>
        </p:txBody>
      </p:sp>
      <p:sp>
        <p:nvSpPr>
          <p:cNvPr id="10" name="Key swatch"/>
          <p:cNvSpPr/>
          <p:nvPr/>
        </p:nvSpPr>
        <p:spPr>
          <a:xfrm>
            <a:off x="812800" y="2024507"/>
            <a:ext cx="111760" cy="11176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Key"/>
          <p:cNvSpPr txBox="1"/>
          <p:nvPr/>
        </p:nvSpPr>
        <p:spPr>
          <a:xfrm>
            <a:off x="980440" y="1975612"/>
            <a:ext cx="432501" cy="2095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Email</a:t>
            </a:r>
          </a:p>
        </p:txBody>
      </p:sp>
      <p:sp>
        <p:nvSpPr>
          <p:cNvPr id="12" name="Key swatch"/>
          <p:cNvSpPr/>
          <p:nvPr/>
        </p:nvSpPr>
        <p:spPr>
          <a:xfrm>
            <a:off x="1641541" y="2024507"/>
            <a:ext cx="111760" cy="111760"/>
          </a:xfrm>
          <a:prstGeom prst="rect">
            <a:avLst/>
          </a:prstGeom>
          <a:solidFill>
            <a:srgbClr val="7A8699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Key"/>
          <p:cNvSpPr txBox="1"/>
          <p:nvPr/>
        </p:nvSpPr>
        <p:spPr>
          <a:xfrm>
            <a:off x="1809181" y="1975612"/>
            <a:ext cx="377174" cy="2095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Chat</a:t>
            </a:r>
          </a:p>
        </p:txBody>
      </p:sp>
      <p:graphicFrame>
        <p:nvGraphicFramePr>
          <p:cNvPr id="14" name="Chart panel 1"/>
          <p:cNvGraphicFramePr>
            <a:graphicFrameLocks noGrp="1"/>
          </p:cNvGraphicFramePr>
          <p:nvPr/>
        </p:nvGraphicFramePr>
        <p:xfrm>
          <a:off x="812800" y="2299462"/>
          <a:ext cx="5168900" cy="32948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End label"/>
          <p:cNvSpPr txBox="1"/>
          <p:nvPr/>
        </p:nvSpPr>
        <p:spPr>
          <a:xfrm>
            <a:off x="5195758" y="3779306"/>
            <a:ext cx="709741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Email  </a:t>
            </a:r>
            <a:r>
              <a:rPr sz="11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5.2</a:t>
            </a:r>
          </a:p>
        </p:txBody>
      </p:sp>
      <p:sp>
        <p:nvSpPr>
          <p:cNvPr id="16" name="End label"/>
          <p:cNvSpPr txBox="1"/>
          <p:nvPr/>
        </p:nvSpPr>
        <p:spPr>
          <a:xfrm>
            <a:off x="5195758" y="4891013"/>
            <a:ext cx="654413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Chat  </a:t>
            </a:r>
            <a:r>
              <a:rPr sz="11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1.2</a:t>
            </a:r>
          </a:p>
        </p:txBody>
      </p:sp>
      <p:graphicFrame>
        <p:nvGraphicFramePr>
          <p:cNvPr id="17" name="Chart panel 2"/>
          <p:cNvGraphicFramePr>
            <a:graphicFrameLocks noGrp="1"/>
          </p:cNvGraphicFramePr>
          <p:nvPr/>
        </p:nvGraphicFramePr>
        <p:xfrm>
          <a:off x="6210300" y="2299462"/>
          <a:ext cx="5168900" cy="32948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COMMENTARY ON A TABLE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shared pool is cheaper at every team size we tested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cost model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8161866" y="1422400"/>
            <a:ext cx="3217333" cy="12923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Cost stays flat because idle capacity is reused.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Per-team pools grow with every team added.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009466" y="1422400"/>
            <a:ext cx="25400" cy="1292352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812800" y="1473200"/>
          <a:ext cx="6968064" cy="151841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322688"/>
                <a:gridCol w="2322688"/>
                <a:gridCol w="2322688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Team size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F5BD3"/>
                          </a:solidFill>
                          <a:latin typeface="Arial"/>
                          <a:ea typeface="Malgun Gothic"/>
                          <a:cs typeface="Arial"/>
                        </a:rPr>
                        <a:t>Shared pool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Per team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5 teams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Low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Medium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10 teams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Low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High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20 teams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Medium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Very high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135488" y="1447800"/>
            <a:ext cx="2322688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COMMENTARY ON AN IMAGE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gate can be switched off per repository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mmentary"/>
          <p:cNvSpPr txBox="1"/>
          <p:nvPr/>
        </p:nvSpPr>
        <p:spPr>
          <a:xfrm>
            <a:off x="965200" y="1422400"/>
            <a:ext cx="231775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Teams keep </a:t>
            </a: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one switch per gate</a:t>
            </a: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while they adopt the checks.</a:t>
            </a:r>
          </a:p>
        </p:txBody>
      </p:sp>
      <p:sp>
        <p:nvSpPr>
          <p:cNvPr id="6" name="Commentary rule"/>
          <p:cNvSpPr/>
          <p:nvPr/>
        </p:nvSpPr>
        <p:spPr>
          <a:xfrm>
            <a:off x="812800" y="1422400"/>
            <a:ext cx="25400" cy="713232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pic>
        <p:nvPicPr>
          <p:cNvPr id="7" name="Image" descr="Pipeline settings screen with one toggle per release g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550" y="1457523"/>
            <a:ext cx="7867650" cy="4425553"/>
          </a:xfrm>
          <a:prstGeom prst="rect">
            <a:avLst/>
          </a:prstGeom>
        </p:spPr>
      </p:pic>
      <p:cxnSp>
        <p:nvCxnSpPr>
          <p:cNvPr id="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COMMENTARY ON A DIAGRAM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Checks read a masked snapshot, never production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mmentary"/>
          <p:cNvSpPr txBox="1"/>
          <p:nvPr/>
        </p:nvSpPr>
        <p:spPr>
          <a:xfrm>
            <a:off x="9061450" y="1422400"/>
            <a:ext cx="231775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runner holds </a:t>
            </a: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no production credentials</a:t>
            </a: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.</a:t>
            </a:r>
          </a:p>
        </p:txBody>
      </p:sp>
      <p:sp>
        <p:nvSpPr>
          <p:cNvPr id="6" name="Commentary rule"/>
          <p:cNvSpPr/>
          <p:nvPr/>
        </p:nvSpPr>
        <p:spPr>
          <a:xfrm>
            <a:off x="8909050" y="1422400"/>
            <a:ext cx="25400" cy="47548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Node pr"/>
          <p:cNvSpPr/>
          <p:nvPr/>
        </p:nvSpPr>
        <p:spPr>
          <a:xfrm>
            <a:off x="1284859" y="1955800"/>
            <a:ext cx="1678432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  <a:prstDash val="dash"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Label pr"/>
          <p:cNvSpPr txBox="1"/>
          <p:nvPr/>
        </p:nvSpPr>
        <p:spPr>
          <a:xfrm>
            <a:off x="1386459" y="1955800"/>
            <a:ext cx="1475232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Pull request</a:t>
            </a:r>
          </a:p>
        </p:txBody>
      </p:sp>
      <p:sp>
        <p:nvSpPr>
          <p:cNvPr id="9" name="Node runner"/>
          <p:cNvSpPr/>
          <p:nvPr/>
        </p:nvSpPr>
        <p:spPr>
          <a:xfrm>
            <a:off x="3907409" y="1955800"/>
            <a:ext cx="1678432" cy="736600"/>
          </a:xfrm>
          <a:prstGeom prst="rect">
            <a:avLst/>
          </a:prstGeom>
          <a:solidFill>
            <a:srgbClr val="EAEFFB"/>
          </a:solidFill>
          <a:ln w="1587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Label runner"/>
          <p:cNvSpPr txBox="1"/>
          <p:nvPr/>
        </p:nvSpPr>
        <p:spPr>
          <a:xfrm>
            <a:off x="4009009" y="1955800"/>
            <a:ext cx="1475232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 runner</a:t>
            </a:r>
          </a:p>
        </p:txBody>
      </p:sp>
      <p:sp>
        <p:nvSpPr>
          <p:cNvPr id="11" name="Node snap"/>
          <p:cNvSpPr/>
          <p:nvPr/>
        </p:nvSpPr>
        <p:spPr>
          <a:xfrm>
            <a:off x="6529958" y="1955800"/>
            <a:ext cx="1678432" cy="736600"/>
          </a:xfrm>
          <a:prstGeom prst="can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Label snap"/>
          <p:cNvSpPr txBox="1"/>
          <p:nvPr/>
        </p:nvSpPr>
        <p:spPr>
          <a:xfrm>
            <a:off x="6631558" y="1955800"/>
            <a:ext cx="1475232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Snapshot DB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masked copy</a:t>
            </a:r>
          </a:p>
        </p:txBody>
      </p:sp>
      <p:cxnSp>
        <p:nvCxnSpPr>
          <p:cNvPr id="13" name="Edge pr-runner"/>
          <p:cNvCxnSpPr>
            <a:stCxn id="7" idx="3"/>
            <a:endCxn id="9" idx="1"/>
          </p:cNvCxnSpPr>
          <p:nvPr/>
        </p:nvCxnSpPr>
        <p:spPr>
          <a:xfrm flipV="1">
            <a:off x="2963291" y="2324100"/>
            <a:ext cx="944118" cy="0"/>
          </a:xfrm>
          <a:prstGeom prst="line">
            <a:avLst/>
          </a:prstGeom>
          <a:ln w="19050">
            <a:solidFill>
              <a:srgbClr val="2F5BD3"/>
            </a:solidFill>
            <a:tailEnd type="triangle" w="med" len="med"/>
          </a:ln>
        </p:spPr>
      </p:cxnSp>
      <p:sp>
        <p:nvSpPr>
          <p:cNvPr id="14" name="Edge label"/>
          <p:cNvSpPr txBox="1"/>
          <p:nvPr/>
        </p:nvSpPr>
        <p:spPr>
          <a:xfrm>
            <a:off x="3118333" y="2089150"/>
            <a:ext cx="634033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on push</a:t>
            </a:r>
          </a:p>
        </p:txBody>
      </p:sp>
      <p:cxnSp>
        <p:nvCxnSpPr>
          <p:cNvPr id="15" name="Edge runner-snap"/>
          <p:cNvCxnSpPr>
            <a:stCxn id="9" idx="3"/>
            <a:endCxn id="11" idx="1"/>
          </p:cNvCxnSpPr>
          <p:nvPr/>
        </p:nvCxnSpPr>
        <p:spPr>
          <a:xfrm flipV="1">
            <a:off x="5585841" y="2324100"/>
            <a:ext cx="944117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6" name="Edge label"/>
          <p:cNvSpPr txBox="1"/>
          <p:nvPr/>
        </p:nvSpPr>
        <p:spPr>
          <a:xfrm>
            <a:off x="5772676" y="2089150"/>
            <a:ext cx="570445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dry run</a:t>
            </a:r>
          </a:p>
        </p:txBody>
      </p:sp>
      <p:cxnSp>
        <p:nvCxnSpPr>
          <p:cNvPr id="1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Every figure in this deck is illustrative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Exhibit features (illustrative)</dc:title>
  <dc:subject>Show every exhibit option on a slide that uses it for a reason</dc:subject>
  <dc:creator>Presenter Name</dc:creator>
  <cp:keywords/>
  <dc:description/>
  <cp:lastModifiedBy>Presenter Name</cp:lastModifiedBy>
  <cp:revision>1</cp:revision>
  <dcterms:created xsi:type="dcterms:W3CDTF">2026-10-19T02:29:30Z</dcterms:created>
  <dcterms:modified xsi:type="dcterms:W3CDTF">2026-10-19T02:29:30Z</dcterms:modified>
  <cp:category/>
</cp:coreProperties>
</file>