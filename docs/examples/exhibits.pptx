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Would renew</c:v>
                </c:pt>
              </c:strCache>
            </c:strRef>
          </c:tx>
          <c:spPr>
            <a:solidFill>
              <a:srgbClr val="A6ABB1"/>
            </a:solidFill>
          </c:spPr>
          <c:dPt>
            <c:idx val="0"/>
            <c:spPr>
              <a:solidFill>
                <a:srgbClr val="2F5BD3"/>
              </a:solidFill>
            </c:spPr>
          </c:dPt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0.66</c:v>
                </c:pt>
                <c:pt idx="1">
                  <c:v>0.52</c:v>
                </c:pt>
                <c:pt idx="2">
                  <c:v>0.48</c:v>
                </c:pt>
                <c:pt idx="3">
                  <c:v>0.41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>
                  <a:solidFill>
                    <a:srgbClr val="1F232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1100">
                <a:solidFill>
                  <a:srgbClr val="3D445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E6672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0124"/>
          <c:y val="0.06284"/>
          <c:w val="0.69792"/>
          <c:h val="0.92420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Tickets per 1,000 accounts</c:v>
                </c:pt>
              </c:strCache>
            </c:strRef>
          </c:tx>
          <c:spPr>
            <a:solidFill>
              <a:srgbClr val="A6ABB1"/>
            </a:solidFill>
          </c:spPr>
          <c:dPt>
            <c:idx val="0"/>
            <c:spPr>
              <a:solidFill>
                <a:srgbClr val="2F5BD3"/>
              </a:solidFill>
            </c:spPr>
          </c:dPt>
          <c:dPt>
            <c:idx val="1"/>
            <c:spPr>
              <a:solidFill>
                <a:srgbClr val="2F5BD3"/>
              </a:solidFill>
            </c:spPr>
          </c:dPt>
          <c:cat>
            <c:strRef>
              <c:f>Sheet1!$A$2:$A$6</c:f>
              <c:strCache>
                <c:ptCount val="5"/>
                <c:pt idx="0">
                  <c:v>Team plan</c:v>
                </c:pt>
                <c:pt idx="1">
                  <c:v>Business plan</c:v>
                </c:pt>
                <c:pt idx="2">
                  <c:v>Starter plan</c:v>
                </c:pt>
                <c:pt idx="3">
                  <c:v>Free tier</c:v>
                </c:pt>
                <c:pt idx="4">
                  <c:v>Education plan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</c:v>
                </c:pt>
                <c:pt idx="1">
                  <c:v>41</c:v>
                </c:pt>
                <c:pt idx="2">
                  <c:v>17</c:v>
                </c:pt>
                <c:pt idx="3">
                  <c:v>12</c:v>
                </c:pt>
                <c:pt idx="4">
                  <c:v>9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1F232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1100">
                <a:solidFill>
                  <a:srgbClr val="3D445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  <c:min val="0.0"/>
        </c:scaling>
        <c:delete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  <c:crossBetween val="between"/>
        <c:majorUnit val="10.0"/>
      </c:valAx>
    </c:plotArea>
    <c:dispBlanksAs val="gap"/>
  </c:chart>
  <c:txPr>
    <a:bodyPr/>
    <a:lstStyle/>
    <a:p>
      <a:pPr>
        <a:defRPr sz="1100">
          <a:solidFill>
            <a:srgbClr val="5E6672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plan</c:v>
                </c:pt>
              </c:strCache>
            </c:strRef>
          </c:tx>
          <c:spPr>
            <a:solidFill>
              <a:srgbClr val="2F5BD3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</c:v>
                </c:pt>
                <c:pt idx="1">
                  <c:v>26</c:v>
                </c:pt>
                <c:pt idx="2">
                  <c:v>30</c:v>
                </c:pt>
                <c:pt idx="3">
                  <c:v>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Monthly plan</c:v>
                </c:pt>
              </c:strCache>
            </c:strRef>
          </c:tx>
          <c:spPr>
            <a:solidFill>
              <a:srgbClr val="A6ABB1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30</c:v>
                </c:pt>
                <c:pt idx="1">
                  <c:v>28</c:v>
                </c:pt>
                <c:pt idx="2">
                  <c:v>31</c:v>
                </c:pt>
                <c:pt idx="3">
                  <c:v>29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Trial</c:v>
                </c:pt>
              </c:strCache>
            </c:strRef>
          </c:tx>
          <c:spPr>
            <a:solidFill>
              <a:srgbClr val="D7D9DC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14</c:v>
                </c:pt>
                <c:pt idx="1">
                  <c:v>16</c:v>
                </c:pt>
                <c:pt idx="2">
                  <c:v>13</c:v>
                </c:pt>
                <c:pt idx="3">
                  <c:v>15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1F232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1100">
                <a:solidFill>
                  <a:srgbClr val="3D445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5E6672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Large</c:v>
                </c:pt>
              </c:strCache>
            </c:strRef>
          </c:tx>
          <c:spPr>
            <a:solidFill>
              <a:srgbClr val="2F5BD3"/>
            </a:solidFill>
          </c:spPr>
          <c:dLbls>
            <c:numFmt formatCode="0%" sourceLinked="0"/>
            <c:txPr>
              <a:bodyPr/>
              <a:lstStyle/>
              <a:p>
                <a:pPr>
                  <a:defRPr sz="1100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0.36</c:v>
                </c:pt>
                <c:pt idx="1">
                  <c:v>0.43</c:v>
                </c:pt>
                <c:pt idx="2">
                  <c:v>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Mid-size</c:v>
                </c:pt>
              </c:strCache>
            </c:strRef>
          </c:tx>
          <c:spPr>
            <a:solidFill>
              <a:srgbClr val="7894E2"/>
            </a:solidFill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0.34</c:v>
                </c:pt>
                <c:pt idx="1">
                  <c:v>0.32</c:v>
                </c:pt>
                <c:pt idx="2">
                  <c:v>0.29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Small</c:v>
                </c:pt>
              </c:strCache>
            </c:strRef>
          </c:tx>
          <c:spPr>
            <a:solidFill>
              <a:srgbClr val="C1CEF2"/>
            </a:solidFill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0.3</c:v>
                </c:pt>
                <c:pt idx="1">
                  <c:v>0.25</c:v>
                </c:pt>
                <c:pt idx="2">
                  <c:v>0.21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>
                  <a:solidFill>
                    <a:srgbClr val="1F2328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1100">
                <a:solidFill>
                  <a:srgbClr val="3D445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5E6672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2461"/>
          <c:y val="0.06609"/>
          <c:w val="0.89362"/>
          <c:h val="0.861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spPr>
            <a:ln w="28575">
              <a:solidFill>
                <a:srgbClr val="2F5BD3"/>
              </a:solidFill>
            </a:ln>
          </c:spPr>
          <c:marker>
            <c:symbol val="circle"/>
            <c:size val="5"/>
            <c:spPr>
              <a:solidFill>
                <a:srgbClr val="2F5BD3"/>
              </a:solidFill>
              <a:ln>
                <a:solidFill>
                  <a:srgbClr val="2F5BD3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2026e</c:v>
                </c:pt>
                <c:pt idx="6">
                  <c:v>2027e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31</c:v>
                </c:pt>
                <c:pt idx="1">
                  <c:v>34</c:v>
                </c:pt>
                <c:pt idx="2">
                  <c:v>38</c:v>
                </c:pt>
                <c:pt idx="3">
                  <c:v>41</c:v>
                </c:pt>
                <c:pt idx="4">
                  <c:v>45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East</c:v>
                </c:pt>
              </c:strCache>
            </c:strRef>
          </c:tx>
          <c:spPr>
            <a:ln w="19050">
              <a:solidFill>
                <a:srgbClr val="A6ABB1"/>
              </a:solidFill>
            </a:ln>
          </c:spPr>
          <c:marker>
            <c:symbol val="circle"/>
            <c:size val="5"/>
            <c:spPr>
              <a:solidFill>
                <a:srgbClr val="A6ABB1"/>
              </a:solidFill>
              <a:ln>
                <a:solidFill>
                  <a:srgbClr val="A6ABB1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2026e</c:v>
                </c:pt>
                <c:pt idx="6">
                  <c:v>2027e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28</c:v>
                </c:pt>
                <c:pt idx="1">
                  <c:v>29</c:v>
                </c:pt>
                <c:pt idx="2">
                  <c:v>31</c:v>
                </c:pt>
                <c:pt idx="3">
                  <c:v>33</c:v>
                </c:pt>
                <c:pt idx="4">
                  <c:v>34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South</c:v>
                </c:pt>
              </c:strCache>
            </c:strRef>
          </c:tx>
          <c:spPr>
            <a:ln w="19050">
              <a:solidFill>
                <a:srgbClr val="BFC2C7"/>
              </a:solidFill>
            </a:ln>
          </c:spPr>
          <c:marker>
            <c:symbol val="circle"/>
            <c:size val="5"/>
            <c:spPr>
              <a:solidFill>
                <a:srgbClr val="BFC2C7"/>
              </a:solidFill>
              <a:ln>
                <a:solidFill>
                  <a:srgbClr val="BFC2C7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2026e</c:v>
                </c:pt>
                <c:pt idx="6">
                  <c:v>2027e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25</c:v>
                </c:pt>
                <c:pt idx="1">
                  <c:v>27</c:v>
                </c:pt>
                <c:pt idx="2">
                  <c:v>26</c:v>
                </c:pt>
                <c:pt idx="3">
                  <c:v>29</c:v>
                </c:pt>
                <c:pt idx="4">
                  <c:v>31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West</c:v>
                </c:pt>
              </c:strCache>
            </c:strRef>
          </c:tx>
          <c:spPr>
            <a:ln w="19050">
              <a:solidFill>
                <a:srgbClr val="D7D9DC"/>
              </a:solidFill>
            </a:ln>
          </c:spPr>
          <c:marker>
            <c:symbol val="circle"/>
            <c:size val="5"/>
            <c:spPr>
              <a:solidFill>
                <a:srgbClr val="D7D9DC"/>
              </a:solidFill>
              <a:ln>
                <a:solidFill>
                  <a:srgbClr val="D7D9DC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2026e</c:v>
                </c:pt>
                <c:pt idx="6">
                  <c:v>2027e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22</c:v>
                </c:pt>
                <c:pt idx="1">
                  <c:v>24</c:v>
                </c:pt>
                <c:pt idx="2">
                  <c:v>25</c:v>
                </c:pt>
                <c:pt idx="3">
                  <c:v>25</c:v>
                </c:pt>
                <c:pt idx="4">
                  <c:v>27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North (estimate)</c:v>
                </c:pt>
              </c:strCache>
            </c:strRef>
          </c:tx>
          <c:spPr>
            <a:ln w="28575">
              <a:solidFill>
                <a:srgbClr val="2F5BD3"/>
              </a:solidFill>
              <a:prstDash val="dash"/>
            </a:ln>
          </c:spPr>
          <c:marker>
            <c:symbol val="circle"/>
            <c:size val="5"/>
            <c:spPr>
              <a:solidFill>
                <a:srgbClr val="2F5BD3"/>
              </a:solidFill>
              <a:ln>
                <a:solidFill>
                  <a:srgbClr val="2F5BD3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2026e</c:v>
                </c:pt>
                <c:pt idx="6">
                  <c:v>2027e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4">
                  <c:v>45</c:v>
                </c:pt>
                <c:pt idx="5">
                  <c:v>48</c:v>
                </c:pt>
                <c:pt idx="6">
                  <c:v>51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East (estimate)</c:v>
                </c:pt>
              </c:strCache>
            </c:strRef>
          </c:tx>
          <c:spPr>
            <a:ln w="19050">
              <a:solidFill>
                <a:srgbClr val="A6ABB1"/>
              </a:solidFill>
              <a:prstDash val="dash"/>
            </a:ln>
          </c:spPr>
          <c:marker>
            <c:symbol val="circle"/>
            <c:size val="5"/>
            <c:spPr>
              <a:solidFill>
                <a:srgbClr val="A6ABB1"/>
              </a:solidFill>
              <a:ln>
                <a:solidFill>
                  <a:srgbClr val="A6ABB1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2026e</c:v>
                </c:pt>
                <c:pt idx="6">
                  <c:v>2027e</c:v>
                </c:pt>
              </c:strCache>
            </c:strRef>
          </c:cat>
          <c:val>
            <c:numRef>
              <c:f>Sheet1!$G$2:$G$8</c:f>
              <c:numCache>
                <c:formatCode>General</c:formatCode>
                <c:ptCount val="7"/>
                <c:pt idx="4">
                  <c:v>34</c:v>
                </c:pt>
                <c:pt idx="5">
                  <c:v>36</c:v>
                </c:pt>
                <c:pt idx="6">
                  <c:v>37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South (estimate)</c:v>
                </c:pt>
              </c:strCache>
            </c:strRef>
          </c:tx>
          <c:spPr>
            <a:ln w="19050">
              <a:solidFill>
                <a:srgbClr val="BFC2C7"/>
              </a:solidFill>
              <a:prstDash val="dash"/>
            </a:ln>
          </c:spPr>
          <c:marker>
            <c:symbol val="circle"/>
            <c:size val="5"/>
            <c:spPr>
              <a:solidFill>
                <a:srgbClr val="BFC2C7"/>
              </a:solidFill>
              <a:ln>
                <a:solidFill>
                  <a:srgbClr val="BFC2C7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2026e</c:v>
                </c:pt>
                <c:pt idx="6">
                  <c:v>2027e</c:v>
                </c:pt>
              </c:strCache>
            </c:strRef>
          </c:cat>
          <c:val>
            <c:numRef>
              <c:f>Sheet1!$H$2:$H$8</c:f>
              <c:numCache>
                <c:formatCode>General</c:formatCode>
                <c:ptCount val="7"/>
                <c:pt idx="4">
                  <c:v>31</c:v>
                </c:pt>
                <c:pt idx="5">
                  <c:v>32</c:v>
                </c:pt>
                <c:pt idx="6">
                  <c:v>34</c:v>
                </c:pt>
              </c:numCache>
            </c:numRef>
          </c:val>
          <c:smooth val="0"/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West (estimate)</c:v>
                </c:pt>
              </c:strCache>
            </c:strRef>
          </c:tx>
          <c:spPr>
            <a:ln w="19050">
              <a:solidFill>
                <a:srgbClr val="D7D9DC"/>
              </a:solidFill>
              <a:prstDash val="dash"/>
            </a:ln>
          </c:spPr>
          <c:marker>
            <c:symbol val="circle"/>
            <c:size val="5"/>
            <c:spPr>
              <a:solidFill>
                <a:srgbClr val="D7D9DC"/>
              </a:solidFill>
              <a:ln>
                <a:solidFill>
                  <a:srgbClr val="D7D9DC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2026e</c:v>
                </c:pt>
                <c:pt idx="6">
                  <c:v>2027e</c:v>
                </c:pt>
              </c:strCache>
            </c:strRef>
          </c:cat>
          <c:val>
            <c:numRef>
              <c:f>Sheet1!$I$2:$I$8</c:f>
              <c:numCache>
                <c:formatCode>General</c:formatCode>
                <c:ptCount val="7"/>
                <c:pt idx="4">
                  <c:v>27</c:v>
                </c:pt>
                <c:pt idx="5">
                  <c:v>29</c:v>
                </c:pt>
                <c:pt idx="6">
                  <c:v>30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1100">
                <a:solidFill>
                  <a:srgbClr val="3D4450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0.0"/>
          <c:min val="1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2118791784"/>
        <c:crosses val="autoZero"/>
        <c:crossBetween val="between"/>
        <c:majorUnit val="10.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100">
          <a:solidFill>
            <a:srgbClr val="5E6672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0729"/>
          <c:y val="0.06284"/>
          <c:w val="0.98177"/>
          <c:h val="0.86848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New members</c:v>
                </c:pt>
                <c:pt idx="2">
                  <c:v>Price</c:v>
                </c:pt>
                <c:pt idx="3">
                  <c:v>Churn</c:v>
                </c:pt>
                <c:pt idx="4">
                  <c:v>Discounts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</c:v>
                </c:pt>
                <c:pt idx="1">
                  <c:v>120.0</c:v>
                </c:pt>
                <c:pt idx="2">
                  <c:v>154.0</c:v>
                </c:pt>
                <c:pt idx="3">
                  <c:v>145.0</c:v>
                </c:pt>
                <c:pt idx="4">
                  <c:v>136.0</c:v>
                </c:pt>
                <c:pt idx="5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F2328"/>
            </a:solidFill>
          </c:spPr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New members</c:v>
                </c:pt>
                <c:pt idx="2">
                  <c:v>Price</c:v>
                </c:pt>
                <c:pt idx="3">
                  <c:v>Churn</c:v>
                </c:pt>
                <c:pt idx="4">
                  <c:v>Discounts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120.0</c:v>
                </c:pt>
                <c:pt idx="5">
                  <c:v>136.0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1A7F4B"/>
            </a:solidFill>
          </c:spPr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New members</c:v>
                </c:pt>
                <c:pt idx="2">
                  <c:v>Price</c:v>
                </c:pt>
                <c:pt idx="3">
                  <c:v>Churn</c:v>
                </c:pt>
                <c:pt idx="4">
                  <c:v>Discounts</c:v>
                </c:pt>
                <c:pt idx="5">
                  <c:v>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1">
                  <c:v>34.0</c:v>
                </c:pt>
                <c:pt idx="2">
                  <c:v>18.0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B3261E"/>
            </a:solidFill>
          </c:spPr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New members</c:v>
                </c:pt>
                <c:pt idx="2">
                  <c:v>Price</c:v>
                </c:pt>
                <c:pt idx="3">
                  <c:v>Churn</c:v>
                </c:pt>
                <c:pt idx="4">
                  <c:v>Discounts</c:v>
                </c:pt>
                <c:pt idx="5">
                  <c:v>2026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3">
                  <c:v>27.0</c:v>
                </c:pt>
                <c:pt idx="4">
                  <c:v>9.0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1100">
                <a:solidFill>
                  <a:srgbClr val="3D445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crossBetween val="between"/>
        <c:majorUnit val="50.0"/>
      </c:valAx>
    </c:plotArea>
    <c:dispBlanksAs val="gap"/>
  </c:chart>
  <c:txPr>
    <a:bodyPr/>
    <a:lstStyle/>
    <a:p>
      <a:pPr>
        <a:defRPr sz="1100">
          <a:solidFill>
            <a:srgbClr val="5E6672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0646"/>
          <c:y val="0.28305"/>
          <c:w val="0.98386"/>
          <c:h val="0.64473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Resolved without an agent</c:v>
                </c:pt>
              </c:strCache>
            </c:strRef>
          </c:tx>
          <c:spPr>
            <a:solidFill>
              <a:srgbClr val="2F5BD3"/>
            </a:solidFill>
          </c:spPr>
          <c:dPt>
            <c:idx val="3"/>
            <c:spPr>
              <a:solidFill>
                <a:srgbClr val="A1B5EB"/>
              </a:solidFill>
              <a:ln w="9525">
                <a:solidFill>
                  <a:srgbClr val="2F5BD3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0.42</c:v>
                </c:pt>
                <c:pt idx="1">
                  <c:v>0.51</c:v>
                </c:pt>
                <c:pt idx="2">
                  <c:v>0.6</c:v>
                </c:pt>
                <c:pt idx="3">
                  <c:v>0.64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>
                  <a:solidFill>
                    <a:srgbClr val="1F232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1100">
                <a:solidFill>
                  <a:srgbClr val="3D445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0"/>
        </c:scaling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  <c:crossBetween val="between"/>
        <c:majorUnit val="0.2"/>
      </c:valAx>
    </c:plotArea>
    <c:dispBlanksAs val="gap"/>
  </c:chart>
  <c:txPr>
    <a:bodyPr/>
    <a:lstStyle/>
    <a:p>
      <a:pPr>
        <a:defRPr sz="1100">
          <a:solidFill>
            <a:srgbClr val="5E6672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1508"/>
          <c:y val="0.06808"/>
          <c:w val="0.96231"/>
          <c:h val="0.85751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Members</c:v>
                </c:pt>
              </c:strCache>
            </c:strRef>
          </c:tx>
          <c:spPr>
            <a:solidFill>
              <a:srgbClr val="A6ABB1"/>
            </a:solidFill>
          </c:spPr>
          <c:dPt>
            <c:idx val="2"/>
            <c:spPr>
              <a:solidFill>
                <a:srgbClr val="2F5BD3"/>
              </a:solidFill>
            </c:spPr>
          </c:dPt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</c:v>
                </c:pt>
                <c:pt idx="1">
                  <c:v>48</c:v>
                </c:pt>
                <c:pt idx="2">
                  <c:v>56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1F232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1100">
                <a:solidFill>
                  <a:srgbClr val="3D445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0"/>
          <c:min val="0.0"/>
        </c:scaling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  <c:crossBetween val="between"/>
        <c:majorUnit val="20.0"/>
      </c:valAx>
    </c:plotArea>
    <c:dispBlanksAs val="gap"/>
  </c:chart>
  <c:txPr>
    <a:bodyPr/>
    <a:lstStyle/>
    <a:p>
      <a:pPr>
        <a:defRPr sz="1100">
          <a:solidFill>
            <a:srgbClr val="5E6672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1508"/>
          <c:y val="0.06808"/>
          <c:w val="0.96231"/>
          <c:h val="0.85751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Members</c:v>
                </c:pt>
              </c:strCache>
            </c:strRef>
          </c:tx>
          <c:spPr>
            <a:solidFill>
              <a:srgbClr val="A6ABB1"/>
            </a:solidFill>
          </c:spPr>
          <c:dPt>
            <c:idx val="2"/>
            <c:spPr>
              <a:solidFill>
                <a:srgbClr val="2F5BD3"/>
              </a:solidFill>
            </c:spPr>
          </c:dPt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</c:v>
                </c:pt>
                <c:pt idx="1">
                  <c:v>35</c:v>
                </c:pt>
                <c:pt idx="2">
                  <c:v>38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1F232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1100">
                <a:solidFill>
                  <a:srgbClr val="3D445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0"/>
          <c:min val="0.0"/>
        </c:scaling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  <c:crossBetween val="between"/>
        <c:majorUnit val="20.0"/>
      </c:valAx>
    </c:plotArea>
    <c:dispBlanksAs val="gap"/>
  </c:chart>
  <c:txPr>
    <a:bodyPr/>
    <a:lstStyle/>
    <a:p>
      <a:pPr>
        <a:defRPr sz="1100">
          <a:solidFill>
            <a:srgbClr val="5E6672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1508"/>
          <c:y val="0.06808"/>
          <c:w val="0.96231"/>
          <c:h val="0.85751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Members</c:v>
                </c:pt>
              </c:strCache>
            </c:strRef>
          </c:tx>
          <c:spPr>
            <a:solidFill>
              <a:srgbClr val="A6ABB1"/>
            </a:solidFill>
          </c:spPr>
          <c:dPt>
            <c:idx val="2"/>
            <c:spPr>
              <a:solidFill>
                <a:srgbClr val="2F5BD3"/>
              </a:solidFill>
            </c:spPr>
          </c:dPt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</c:v>
                </c:pt>
                <c:pt idx="1">
                  <c:v>30</c:v>
                </c:pt>
                <c:pt idx="2">
                  <c:v>33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1F232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1100">
                <a:solidFill>
                  <a:srgbClr val="3D445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0"/>
          <c:min val="0.0"/>
        </c:scaling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  <c:crossBetween val="between"/>
        <c:majorUnit val="20.0"/>
      </c:valAx>
    </c:plotArea>
    <c:dispBlanksAs val="gap"/>
  </c:chart>
  <c:txPr>
    <a:bodyPr/>
    <a:lstStyle/>
    <a:p>
      <a:pPr>
        <a:defRPr sz="1100">
          <a:solidFill>
            <a:srgbClr val="5E6672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7331"/>
          <c:y val="0.07478"/>
          <c:w val="0.75499"/>
          <c:h val="0.8435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Email</c:v>
                </c:pt>
              </c:strCache>
            </c:strRef>
          </c:tx>
          <c:spPr>
            <a:ln w="28575">
              <a:solidFill>
                <a:srgbClr val="2F5BD3"/>
              </a:solidFill>
            </a:ln>
          </c:spPr>
          <c:marker>
            <c:symbol val="circle"/>
            <c:size val="5"/>
            <c:spPr>
              <a:solidFill>
                <a:srgbClr val="2F5BD3"/>
              </a:solidFill>
              <a:ln>
                <a:solidFill>
                  <a:srgbClr val="2F5BD3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9.5</c:v>
                </c:pt>
                <c:pt idx="1">
                  <c:v>8.1</c:v>
                </c:pt>
                <c:pt idx="2">
                  <c:v>6.4</c:v>
                </c:pt>
                <c:pt idx="3">
                  <c:v>5.2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Chat</c:v>
                </c:pt>
              </c:strCache>
            </c:strRef>
          </c:tx>
          <c:spPr>
            <a:ln w="19050">
              <a:solidFill>
                <a:srgbClr val="7A8699"/>
              </a:solidFill>
            </a:ln>
          </c:spPr>
          <c:marker>
            <c:symbol val="circle"/>
            <c:size val="5"/>
            <c:spPr>
              <a:solidFill>
                <a:srgbClr val="7A8699"/>
              </a:solidFill>
              <a:ln>
                <a:solidFill>
                  <a:srgbClr val="7A8699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2.1</c:v>
                </c:pt>
                <c:pt idx="1">
                  <c:v>1.8</c:v>
                </c:pt>
                <c:pt idx="2">
                  <c:v>1.5</c:v>
                </c:pt>
                <c:pt idx="3">
                  <c:v>1.2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1100">
                <a:solidFill>
                  <a:srgbClr val="3D4450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.0"/>
          <c:min val="0.0"/>
        </c:scaling>
        <c:delete val="0"/>
        <c:axPos val="l"/>
        <c:majorGridlines>
          <c:spPr>
            <a:ln w="6350">
              <a:solidFill>
                <a:srgbClr val="D9DDE3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2118791784"/>
        <c:crosses val="autoZero"/>
        <c:crossBetween val="between"/>
        <c:majorUnit val="2.0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rgbClr val="5E6672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0983"/>
          <c:y val="0.07478"/>
          <c:w val="0.97543"/>
          <c:h val="0.84351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Email</c:v>
                </c:pt>
              </c:strCache>
            </c:strRef>
          </c:tx>
          <c:spPr>
            <a:solidFill>
              <a:srgbClr val="2F5BD3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0.19</c:v>
                </c:pt>
                <c:pt idx="1">
                  <c:v>0.17</c:v>
                </c:pt>
                <c:pt idx="2">
                  <c:v>0.14</c:v>
                </c:pt>
                <c:pt idx="3">
                  <c:v>0.12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Chat</c:v>
                </c:pt>
              </c:strCache>
            </c:strRef>
          </c:tx>
          <c:spPr>
            <a:solidFill>
              <a:srgbClr val="7A8699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0.12</c:v>
                </c:pt>
                <c:pt idx="1">
                  <c:v>0.11</c:v>
                </c:pt>
                <c:pt idx="2">
                  <c:v>0.1</c:v>
                </c:pt>
                <c:pt idx="3">
                  <c:v>0.08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>
                  <a:solidFill>
                    <a:srgbClr val="1F232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DE3"/>
            </a:solidFill>
          </a:ln>
        </c:spPr>
        <c:txPr>
          <a:bodyPr/>
          <a:lstStyle/>
          <a:p>
            <a:pPr>
              <a:defRPr sz="1100">
                <a:solidFill>
                  <a:srgbClr val="3D445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"/>
          <c:min val="0.0"/>
        </c:scaling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  <c:crossBetween val="between"/>
        <c:majorUnit val="0.05"/>
      </c:valAx>
    </c:plotArea>
    <c:dispBlanksAs val="gap"/>
  </c:chart>
  <c:txPr>
    <a:bodyPr/>
    <a:lstStyle/>
    <a:p>
      <a:pPr>
        <a:defRPr sz="1100">
          <a:solidFill>
            <a:srgbClr val="5E6672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exercises every exhibit option. All numbers, segments and sources are invented for illustration.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deck moves from what a number is, to what it shows, to where it sits.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sections in one page; each block repeats its section's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First, footers and color.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footer reads top-down: the note on the footnote mark, then the question, base, sample per region and date, then the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 highlighted plans sit well above the computed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focus series is in the accent; the others step back in grey.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ordered ramp tells the reader the segments have an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Next, annotations.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Lines are labeled at their ends, so there is no legend. Forecast years are dashed, suffixed and shaded, and the footer says what e 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Rises are green, falls red, start and end in ink; each bar is labeled.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headline number is the bracket on the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Last, commentary columns and panels.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unit, so the panels share one scale and one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Different units, so each panel keeps its own scale and unit line. Channels have no order, so both panels use the nominal palette.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commentary column takes four grid columns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Commentary on the left, three grid columns wide.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diagram keeps nine grid columns; the commentary takes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Relationship Id="rId4" Type="http://schemas.openxmlformats.org/officeDocument/2006/relationships/chart" Target="../charts/chart10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423415"/>
            <a:ext cx="8664448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9D0DA"/>
                </a:solidFill>
                <a:latin typeface="Consolas"/>
                <a:ea typeface="Malgun Gothic"/>
                <a:cs typeface="Consolas"/>
              </a:rPr>
              <a:t>EXAMPLE DECK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345643"/>
            <a:ext cx="8664448" cy="36868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5000"/>
              </a:lnSpc>
            </a:pPr>
            <a:r>
              <a:rPr sz="4800" b="0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Charts that make their point before anyone reads the legend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812800" y="4261104"/>
            <a:ext cx="7620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C9D0DA"/>
                </a:solidFill>
                <a:latin typeface="Arial"/>
                <a:ea typeface="Malgun Gothic"/>
                <a:cs typeface="Arial"/>
              </a:rPr>
              <a:t>Exhibit options of the chart, table, image and diagram layouts</a:t>
            </a:r>
          </a:p>
        </p:txBody>
      </p:sp>
      <p:sp>
        <p:nvSpPr>
          <p:cNvPr id="5" name="Presenter"/>
          <p:cNvSpPr txBox="1"/>
          <p:nvPr/>
        </p:nvSpPr>
        <p:spPr>
          <a:xfrm>
            <a:off x="812800" y="5638800"/>
            <a:ext cx="8664448" cy="264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C9D0DA"/>
                </a:solidFill>
                <a:latin typeface="Arial"/>
                <a:ea typeface="Malgun Gothic"/>
                <a:cs typeface="Arial"/>
              </a:rPr>
              <a:t>Presenter Name · 2026-10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AGENDA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Three kinds of exhibit help, in the order a reader needs them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1422400"/>
            <a:ext cx="508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2400" y="1422400"/>
            <a:ext cx="678688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Footers and highlights that say what the numbers are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12800" y="1981200"/>
            <a:ext cx="739648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812800" y="1981200"/>
            <a:ext cx="508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2400" y="1981200"/>
            <a:ext cx="678688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Annotations that put the headline comparison on the chart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2800" y="2540000"/>
            <a:ext cx="739648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812800" y="2540000"/>
            <a:ext cx="508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2400" y="2540000"/>
            <a:ext cx="678688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Layouts that place commentary and panels beside the data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2800" y="3098800"/>
            <a:ext cx="739648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cxnSp>
        <p:nvCxnSpPr>
          <p:cNvPr id="14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15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SUMMARY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A chart works when its point is on the chart, not in the legend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So what"/>
          <p:cNvSpPr/>
          <p:nvPr/>
        </p:nvSpPr>
        <p:spPr>
          <a:xfrm>
            <a:off x="812800" y="5320792"/>
            <a:ext cx="10566400" cy="59740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6" name="So what rule"/>
          <p:cNvSpPr/>
          <p:nvPr/>
        </p:nvSpPr>
        <p:spPr>
          <a:xfrm>
            <a:off x="812800" y="5320792"/>
            <a:ext cx="25400" cy="5974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7" name="So what text"/>
          <p:cNvSpPr txBox="1"/>
          <p:nvPr/>
        </p:nvSpPr>
        <p:spPr>
          <a:xfrm>
            <a:off x="990600" y="5473192"/>
            <a:ext cx="7620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Choose the option that makes each chart's point without extra reading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12800" y="1422400"/>
            <a:ext cx="3369733" cy="0"/>
          </a:xfrm>
          <a:prstGeom prst="line">
            <a:avLst/>
          </a:prstGeom>
          <a:ln w="9525">
            <a:solidFill>
              <a:srgbClr val="D9DDE3"/>
            </a:solidFill>
          </a:ln>
        </p:spPr>
      </p:cxnSp>
      <p:sp>
        <p:nvSpPr>
          <p:cNvPr id="9" name="Summary 01"/>
          <p:cNvSpPr txBox="1"/>
          <p:nvPr/>
        </p:nvSpPr>
        <p:spPr>
          <a:xfrm>
            <a:off x="812800" y="1549400"/>
            <a:ext cx="3369733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1790700"/>
            <a:ext cx="336973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Say what the numbers are</a:t>
            </a:r>
          </a:p>
        </p:txBody>
      </p:sp>
      <p:sp>
        <p:nvSpPr>
          <p:cNvPr id="11" name="Bullets"/>
          <p:cNvSpPr txBox="1"/>
          <p:nvPr/>
        </p:nvSpPr>
        <p:spPr>
          <a:xfrm>
            <a:off x="812800" y="2159508"/>
            <a:ext cx="3369733" cy="10500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 marL="181610" indent="-181610">
              <a:lnSpc>
                <a:spcPct val="120000"/>
              </a:lnSpc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State units, base and sample size once, in the footer</a:t>
            </a:r>
          </a:p>
          <a:p>
            <a:pPr algn="l" marL="181610" indent="-181610">
              <a:lnSpc>
                <a:spcPct val="120000"/>
              </a:lnSpc>
              <a:spcBef>
                <a:spcPts val="780"/>
              </a:spcBef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Highlight the focus in the accent and set context in grey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11133" y="1422400"/>
            <a:ext cx="3369733" cy="0"/>
          </a:xfrm>
          <a:prstGeom prst="line">
            <a:avLst/>
          </a:prstGeom>
          <a:ln w="9525">
            <a:solidFill>
              <a:srgbClr val="D9DDE3"/>
            </a:solidFill>
          </a:ln>
        </p:spPr>
      </p:cxnSp>
      <p:sp>
        <p:nvSpPr>
          <p:cNvPr id="13" name="Summary 02"/>
          <p:cNvSpPr txBox="1"/>
          <p:nvPr/>
        </p:nvSpPr>
        <p:spPr>
          <a:xfrm>
            <a:off x="4411133" y="1549400"/>
            <a:ext cx="3369733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1133" y="1790700"/>
            <a:ext cx="336973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Put the comparison on the chart</a:t>
            </a:r>
          </a:p>
        </p:txBody>
      </p:sp>
      <p:sp>
        <p:nvSpPr>
          <p:cNvPr id="15" name="Bullets"/>
          <p:cNvSpPr txBox="1"/>
          <p:nvPr/>
        </p:nvSpPr>
        <p:spPr>
          <a:xfrm>
            <a:off x="4411133" y="2159508"/>
            <a:ext cx="3369733" cy="10500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 marL="181610" indent="-181610">
              <a:lnSpc>
                <a:spcPct val="120000"/>
              </a:lnSpc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Compute deltas and multiples from the data</a:t>
            </a:r>
          </a:p>
          <a:p>
            <a:pPr algn="l" marL="181610" indent="-181610">
              <a:lnSpc>
                <a:spcPct val="120000"/>
              </a:lnSpc>
              <a:spcBef>
                <a:spcPts val="780"/>
              </a:spcBef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Mark estimates in the encoding and the label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09466" y="1422400"/>
            <a:ext cx="3369734" cy="0"/>
          </a:xfrm>
          <a:prstGeom prst="line">
            <a:avLst/>
          </a:prstGeom>
          <a:ln w="9525">
            <a:solidFill>
              <a:srgbClr val="D9DDE3"/>
            </a:solidFill>
          </a:ln>
        </p:spPr>
      </p:cxnSp>
      <p:sp>
        <p:nvSpPr>
          <p:cNvPr id="17" name="Summary 03"/>
          <p:cNvSpPr txBox="1"/>
          <p:nvPr/>
        </p:nvSpPr>
        <p:spPr>
          <a:xfrm>
            <a:off x="8009466" y="1549400"/>
            <a:ext cx="3369733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9466" y="1790700"/>
            <a:ext cx="336973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Place the reading beside the data</a:t>
            </a:r>
          </a:p>
        </p:txBody>
      </p:sp>
      <p:sp>
        <p:nvSpPr>
          <p:cNvPr id="19" name="Bullets"/>
          <p:cNvSpPr txBox="1"/>
          <p:nvPr/>
        </p:nvSpPr>
        <p:spPr>
          <a:xfrm>
            <a:off x="8009466" y="2159508"/>
            <a:ext cx="3369733" cy="10500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 marL="181610" indent="-181610">
              <a:lnSpc>
                <a:spcPct val="120000"/>
              </a:lnSpc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Put the reading in a column beside the chart</a:t>
            </a:r>
          </a:p>
          <a:p>
            <a:pPr algn="l" marL="181610" indent="-181610">
              <a:lnSpc>
                <a:spcPct val="120000"/>
              </a:lnSpc>
              <a:spcBef>
                <a:spcPts val="780"/>
              </a:spcBef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Line up panels on one header line and one baseline</a:t>
            </a:r>
          </a:p>
        </p:txBody>
      </p:sp>
      <p:cxnSp>
        <p:nvCxnSpPr>
          <p:cNvPr id="20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21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"/>
          <p:cNvSpPr txBox="1"/>
          <p:nvPr/>
        </p:nvSpPr>
        <p:spPr>
          <a:xfrm>
            <a:off x="812800" y="2139188"/>
            <a:ext cx="845312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01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2522829"/>
            <a:ext cx="8453120" cy="81930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Say what the numbers 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FOOTER OBJECT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Two in three members in the north would renew their plan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Source"/>
          <p:cNvSpPr txBox="1"/>
          <p:nvPr/>
        </p:nvSpPr>
        <p:spPr>
          <a:xfrm>
            <a:off x="812800" y="5314696"/>
            <a:ext cx="10566400" cy="603504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1) Answers "likely" and "very likely" combined.  Totals may differ because of rounding.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Q: How likely are you to renew your plan next year? · Base: Active members · n = 412 (North), 388 (East), 365 (South), 335 (West) · As of Sep 2026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Source: Illustrative member survey; own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1422400"/>
            <a:ext cx="105664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Share of respondents who would renew¹⁾, by region</a:t>
            </a:r>
          </a:p>
        </p:txBody>
      </p:sp>
      <p:graphicFrame>
        <p:nvGraphicFramePr>
          <p:cNvPr id="7" name="Chart"/>
          <p:cNvGraphicFramePr>
            <a:graphicFrameLocks noGrp="1"/>
          </p:cNvGraphicFramePr>
          <p:nvPr/>
        </p:nvGraphicFramePr>
        <p:xfrm>
          <a:off x="812800" y="1673860"/>
          <a:ext cx="10566400" cy="352653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8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9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CATEGORY HIGHLIGHT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Two plans carry most of the support load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Source"/>
          <p:cNvSpPr txBox="1"/>
          <p:nvPr/>
        </p:nvSpPr>
        <p:spPr>
          <a:xfrm>
            <a:off x="812800" y="5708650"/>
            <a:ext cx="10566400" cy="20955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Source: Illustrative support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1422400"/>
            <a:ext cx="105664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Support tickets per 1,000 accounts, last quarter</a:t>
            </a:r>
          </a:p>
        </p:txBody>
      </p:sp>
      <p:graphicFrame>
        <p:nvGraphicFramePr>
          <p:cNvPr id="7" name="Chart"/>
          <p:cNvGraphicFramePr>
            <a:graphicFrameLocks noGrp="1"/>
          </p:cNvGraphicFramePr>
          <p:nvPr/>
        </p:nvGraphicFramePr>
        <p:xfrm>
          <a:off x="812800" y="1673860"/>
          <a:ext cx="10566400" cy="392049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8" name="Reference line"/>
          <p:cNvCxnSpPr/>
          <p:nvPr/>
        </p:nvCxnSpPr>
        <p:spPr>
          <a:xfrm>
            <a:off x="5628776" y="1920240"/>
            <a:ext cx="0" cy="3623310"/>
          </a:xfrm>
          <a:prstGeom prst="line">
            <a:avLst/>
          </a:prstGeom>
          <a:ln w="12700">
            <a:solidFill>
              <a:srgbClr val="5E6672"/>
            </a:solidFill>
            <a:prstDash val="dash"/>
          </a:ln>
        </p:spPr>
      </p:cxnSp>
      <p:sp>
        <p:nvSpPr>
          <p:cNvPr id="9" name="Reference label"/>
          <p:cNvSpPr txBox="1"/>
          <p:nvPr/>
        </p:nvSpPr>
        <p:spPr>
          <a:xfrm>
            <a:off x="5155470" y="1685290"/>
            <a:ext cx="946611" cy="20955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Average 25.4</a:t>
            </a:r>
          </a:p>
        </p:txBody>
      </p:sp>
      <p:cxnSp>
        <p:nvCxnSpPr>
          <p:cNvPr id="10" name="Callout leader"/>
          <p:cNvCxnSpPr/>
          <p:nvPr/>
        </p:nvCxnSpPr>
        <p:spPr>
          <a:xfrm>
            <a:off x="9222149" y="2282571"/>
            <a:ext cx="345781" cy="0"/>
          </a:xfrm>
          <a:prstGeom prst="line">
            <a:avLst/>
          </a:prstGeom>
          <a:ln w="9525">
            <a:solidFill>
              <a:srgbClr val="5E6672"/>
            </a:solidFill>
          </a:ln>
        </p:spPr>
      </p:cxnSp>
      <p:sp>
        <p:nvSpPr>
          <p:cNvPr id="11" name="Callout"/>
          <p:cNvSpPr/>
          <p:nvPr/>
        </p:nvSpPr>
        <p:spPr>
          <a:xfrm>
            <a:off x="9567930" y="2143887"/>
            <a:ext cx="1658869" cy="277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5BD3"/>
            </a:solidFill>
          </a:ln>
        </p:spPr>
        <p:txBody>
          <a:bodyPr rtlCol="0" anchor="ctr" wrap="square" lIns="25400" tIns="25400" rIns="25400" bIns="25400"/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Doubled since last year</a:t>
            </a:r>
          </a:p>
        </p:txBody>
      </p:sp>
      <p:cxnSp>
        <p:nvCxnSpPr>
          <p:cNvPr id="12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13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SERIES HIGHLIGHT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Only the annual plan grew in every quarter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Source"/>
          <p:cNvSpPr txBox="1"/>
          <p:nvPr/>
        </p:nvSpPr>
        <p:spPr>
          <a:xfrm>
            <a:off x="812800" y="5708650"/>
            <a:ext cx="10566400" cy="20955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Source: Illustrative sales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1422400"/>
            <a:ext cx="105664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New subscriptions, thousands</a:t>
            </a:r>
          </a:p>
        </p:txBody>
      </p:sp>
      <p:graphicFrame>
        <p:nvGraphicFramePr>
          <p:cNvPr id="7" name="Chart"/>
          <p:cNvGraphicFramePr>
            <a:graphicFrameLocks noGrp="1"/>
          </p:cNvGraphicFramePr>
          <p:nvPr/>
        </p:nvGraphicFramePr>
        <p:xfrm>
          <a:off x="812800" y="1673860"/>
          <a:ext cx="10566400" cy="392049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8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9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ORDERED SERIES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Larger accounts now make up half of revenue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Source"/>
          <p:cNvSpPr txBox="1"/>
          <p:nvPr/>
        </p:nvSpPr>
        <p:spPr>
          <a:xfrm>
            <a:off x="812800" y="5708650"/>
            <a:ext cx="10566400" cy="20955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Source: Illustrative revenue data</a:t>
            </a:r>
          </a:p>
        </p:txBody>
      </p:sp>
      <p:sp>
        <p:nvSpPr>
          <p:cNvPr id="6" name="Commentary"/>
          <p:cNvSpPr txBox="1"/>
          <p:nvPr/>
        </p:nvSpPr>
        <p:spPr>
          <a:xfrm>
            <a:off x="8161866" y="1422400"/>
            <a:ext cx="3217333" cy="8778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Account size is </a:t>
            </a:r>
            <a:r>
              <a:rPr sz="1600" b="1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ordered</a:t>
            </a: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, so the series share one hue from dark to light.</a:t>
            </a:r>
          </a:p>
        </p:txBody>
      </p:sp>
      <p:sp>
        <p:nvSpPr>
          <p:cNvPr id="7" name="Commentary rule"/>
          <p:cNvSpPr/>
          <p:nvPr/>
        </p:nvSpPr>
        <p:spPr>
          <a:xfrm>
            <a:off x="8009466" y="1422400"/>
            <a:ext cx="25400" cy="877824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800" y="1422400"/>
            <a:ext cx="6968066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Share of revenue by account size</a:t>
            </a:r>
          </a:p>
        </p:txBody>
      </p:sp>
      <p:graphicFrame>
        <p:nvGraphicFramePr>
          <p:cNvPr id="9" name="Chart"/>
          <p:cNvGraphicFramePr>
            <a:graphicFrameLocks noGrp="1"/>
          </p:cNvGraphicFramePr>
          <p:nvPr/>
        </p:nvGraphicFramePr>
        <p:xfrm>
          <a:off x="812800" y="1673860"/>
          <a:ext cx="6968066" cy="392049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0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11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"/>
          <p:cNvSpPr txBox="1"/>
          <p:nvPr/>
        </p:nvSpPr>
        <p:spPr>
          <a:xfrm>
            <a:off x="812800" y="2139188"/>
            <a:ext cx="845312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02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2522829"/>
            <a:ext cx="8453120" cy="81930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Put the comparison on the chart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END LABELS AND ESTIMATES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The north stays ahead even in the forecast years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Source"/>
          <p:cNvSpPr txBox="1"/>
          <p:nvPr/>
        </p:nvSpPr>
        <p:spPr>
          <a:xfrm>
            <a:off x="812800" y="5515864"/>
            <a:ext cx="10566400" cy="40233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e = estimate.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Source: Illustrative membership data and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1422400"/>
            <a:ext cx="105664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Active members per 100 households</a:t>
            </a:r>
          </a:p>
        </p:txBody>
      </p:sp>
      <p:sp>
        <p:nvSpPr>
          <p:cNvPr id="7" name="Band"/>
          <p:cNvSpPr/>
          <p:nvPr/>
        </p:nvSpPr>
        <p:spPr>
          <a:xfrm>
            <a:off x="7817388" y="1920240"/>
            <a:ext cx="2697803" cy="321208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8" name="Band label"/>
          <p:cNvSpPr txBox="1"/>
          <p:nvPr/>
        </p:nvSpPr>
        <p:spPr>
          <a:xfrm>
            <a:off x="7817388" y="1710690"/>
            <a:ext cx="2697803" cy="195579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Forecast</a:t>
            </a:r>
          </a:p>
        </p:txBody>
      </p:sp>
      <p:graphicFrame>
        <p:nvGraphicFramePr>
          <p:cNvPr id="9" name="Chart"/>
          <p:cNvGraphicFramePr>
            <a:graphicFrameLocks noGrp="1"/>
          </p:cNvGraphicFramePr>
          <p:nvPr/>
        </p:nvGraphicFramePr>
        <p:xfrm>
          <a:off x="812800" y="1673860"/>
          <a:ext cx="10566400" cy="372770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0" name="Reference line"/>
          <p:cNvCxnSpPr/>
          <p:nvPr/>
        </p:nvCxnSpPr>
        <p:spPr>
          <a:xfrm>
            <a:off x="1072880" y="3205073"/>
            <a:ext cx="9442312" cy="0"/>
          </a:xfrm>
          <a:prstGeom prst="line">
            <a:avLst/>
          </a:prstGeom>
          <a:ln w="12700">
            <a:solidFill>
              <a:srgbClr val="5E6672"/>
            </a:solidFill>
            <a:prstDash val="dash"/>
          </a:ln>
        </p:spPr>
      </p:cxnSp>
      <p:sp>
        <p:nvSpPr>
          <p:cNvPr id="11" name="End label"/>
          <p:cNvSpPr txBox="1"/>
          <p:nvPr/>
        </p:nvSpPr>
        <p:spPr>
          <a:xfrm>
            <a:off x="10616792" y="2397831"/>
            <a:ext cx="662273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North  </a:t>
            </a:r>
            <a:r>
              <a:rPr sz="1100" b="1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51</a:t>
            </a:r>
          </a:p>
        </p:txBody>
      </p:sp>
      <p:sp>
        <p:nvSpPr>
          <p:cNvPr id="12" name="Reference label"/>
          <p:cNvSpPr txBox="1"/>
          <p:nvPr/>
        </p:nvSpPr>
        <p:spPr>
          <a:xfrm>
            <a:off x="10616792" y="3104489"/>
            <a:ext cx="670266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Target 40</a:t>
            </a:r>
          </a:p>
        </p:txBody>
      </p:sp>
      <p:sp>
        <p:nvSpPr>
          <p:cNvPr id="13" name="End label"/>
          <p:cNvSpPr txBox="1"/>
          <p:nvPr/>
        </p:nvSpPr>
        <p:spPr>
          <a:xfrm>
            <a:off x="10616792" y="3305657"/>
            <a:ext cx="598974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East  </a:t>
            </a:r>
            <a:r>
              <a:rPr sz="1100" b="1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37</a:t>
            </a:r>
          </a:p>
        </p:txBody>
      </p:sp>
      <p:sp>
        <p:nvSpPr>
          <p:cNvPr id="14" name="End label"/>
          <p:cNvSpPr txBox="1"/>
          <p:nvPr/>
        </p:nvSpPr>
        <p:spPr>
          <a:xfrm>
            <a:off x="10616792" y="3506825"/>
            <a:ext cx="686207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South  </a:t>
            </a:r>
            <a:r>
              <a:rPr sz="1100" b="1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34</a:t>
            </a:r>
          </a:p>
        </p:txBody>
      </p:sp>
      <p:sp>
        <p:nvSpPr>
          <p:cNvPr id="15" name="End label"/>
          <p:cNvSpPr txBox="1"/>
          <p:nvPr/>
        </p:nvSpPr>
        <p:spPr>
          <a:xfrm>
            <a:off x="10616792" y="3746906"/>
            <a:ext cx="635845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West  </a:t>
            </a:r>
            <a:r>
              <a:rPr sz="1100" b="1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30</a:t>
            </a:r>
          </a:p>
        </p:txBody>
      </p:sp>
      <p:cxnSp>
        <p:nvCxnSpPr>
          <p:cNvPr id="16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17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WATERFALL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Price and new members more than offset higher churn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Source"/>
          <p:cNvSpPr txBox="1"/>
          <p:nvPr/>
        </p:nvSpPr>
        <p:spPr>
          <a:xfrm>
            <a:off x="812800" y="5708650"/>
            <a:ext cx="10566400" cy="20955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Source: Illustrative finance data</a:t>
            </a:r>
          </a:p>
        </p:txBody>
      </p:sp>
      <p:sp>
        <p:nvSpPr>
          <p:cNvPr id="6" name="Commentary"/>
          <p:cNvSpPr txBox="1"/>
          <p:nvPr/>
        </p:nvSpPr>
        <p:spPr>
          <a:xfrm>
            <a:off x="8161866" y="1422400"/>
            <a:ext cx="3217333" cy="8778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Net growth of </a:t>
            </a:r>
            <a:r>
              <a:rPr sz="1600" b="1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16</a:t>
            </a: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 came from price and new members; churn took back </a:t>
            </a:r>
            <a:r>
              <a:rPr sz="1600" b="1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27</a:t>
            </a: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.</a:t>
            </a:r>
          </a:p>
        </p:txBody>
      </p:sp>
      <p:sp>
        <p:nvSpPr>
          <p:cNvPr id="7" name="Commentary rule"/>
          <p:cNvSpPr/>
          <p:nvPr/>
        </p:nvSpPr>
        <p:spPr>
          <a:xfrm>
            <a:off x="8009466" y="1422400"/>
            <a:ext cx="25400" cy="877824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800" y="1422400"/>
            <a:ext cx="6968066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Revenue bridge, millions</a:t>
            </a:r>
          </a:p>
        </p:txBody>
      </p:sp>
      <p:graphicFrame>
        <p:nvGraphicFramePr>
          <p:cNvPr id="9" name="Chart"/>
          <p:cNvGraphicFramePr>
            <a:graphicFrameLocks noGrp="1"/>
          </p:cNvGraphicFramePr>
          <p:nvPr/>
        </p:nvGraphicFramePr>
        <p:xfrm>
          <a:off x="812800" y="1673860"/>
          <a:ext cx="6968066" cy="392049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Value label"/>
          <p:cNvSpPr txBox="1"/>
          <p:nvPr/>
        </p:nvSpPr>
        <p:spPr>
          <a:xfrm>
            <a:off x="863600" y="3086608"/>
            <a:ext cx="1140177" cy="195579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120</a:t>
            </a:r>
          </a:p>
        </p:txBody>
      </p:sp>
      <p:sp>
        <p:nvSpPr>
          <p:cNvPr id="11" name="Value label"/>
          <p:cNvSpPr txBox="1"/>
          <p:nvPr/>
        </p:nvSpPr>
        <p:spPr>
          <a:xfrm>
            <a:off x="2003777" y="2507780"/>
            <a:ext cx="1140177" cy="195579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+34</a:t>
            </a:r>
          </a:p>
        </p:txBody>
      </p:sp>
      <p:sp>
        <p:nvSpPr>
          <p:cNvPr id="12" name="Value label"/>
          <p:cNvSpPr txBox="1"/>
          <p:nvPr/>
        </p:nvSpPr>
        <p:spPr>
          <a:xfrm>
            <a:off x="3143955" y="2201341"/>
            <a:ext cx="1140177" cy="195579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+18</a:t>
            </a:r>
          </a:p>
        </p:txBody>
      </p:sp>
      <p:sp>
        <p:nvSpPr>
          <p:cNvPr id="13" name="Value label"/>
          <p:cNvSpPr txBox="1"/>
          <p:nvPr/>
        </p:nvSpPr>
        <p:spPr>
          <a:xfrm>
            <a:off x="4284133" y="2201341"/>
            <a:ext cx="1140177" cy="195579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−27</a:t>
            </a:r>
          </a:p>
        </p:txBody>
      </p:sp>
      <p:sp>
        <p:nvSpPr>
          <p:cNvPr id="14" name="Value label"/>
          <p:cNvSpPr txBox="1"/>
          <p:nvPr/>
        </p:nvSpPr>
        <p:spPr>
          <a:xfrm>
            <a:off x="5424311" y="2660999"/>
            <a:ext cx="1140177" cy="195579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−9</a:t>
            </a:r>
          </a:p>
        </p:txBody>
      </p:sp>
      <p:sp>
        <p:nvSpPr>
          <p:cNvPr id="15" name="Value label"/>
          <p:cNvSpPr txBox="1"/>
          <p:nvPr/>
        </p:nvSpPr>
        <p:spPr>
          <a:xfrm>
            <a:off x="6564488" y="2814218"/>
            <a:ext cx="1140177" cy="195579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136</a:t>
            </a:r>
          </a:p>
        </p:txBody>
      </p:sp>
      <p:cxnSp>
        <p:nvCxnSpPr>
          <p:cNvPr id="16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17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COMPUTED DELTAS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Self-service resolves 18 points more tickets than two years ago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Source"/>
          <p:cNvSpPr txBox="1"/>
          <p:nvPr/>
        </p:nvSpPr>
        <p:spPr>
          <a:xfrm>
            <a:off x="812800" y="5515864"/>
            <a:ext cx="10566400" cy="40233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Values from 2027 on are estimates.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Source: Illustrative support data</a:t>
            </a:r>
          </a:p>
        </p:txBody>
      </p:sp>
      <p:sp>
        <p:nvSpPr>
          <p:cNvPr id="6" name="Bullets"/>
          <p:cNvSpPr txBox="1"/>
          <p:nvPr/>
        </p:nvSpPr>
        <p:spPr>
          <a:xfrm>
            <a:off x="965200" y="1422400"/>
            <a:ext cx="2317750" cy="10500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 marL="181610" indent="-181610">
              <a:lnSpc>
                <a:spcPct val="120000"/>
              </a:lnSpc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The deltas are computed from the plotted values.</a:t>
            </a:r>
          </a:p>
          <a:p>
            <a:pPr algn="l" marL="181610" indent="-181610">
              <a:lnSpc>
                <a:spcPct val="120000"/>
              </a:lnSpc>
              <a:spcBef>
                <a:spcPts val="780"/>
              </a:spcBef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The last bar is an estimate, so it is lighter and noted.</a:t>
            </a:r>
          </a:p>
        </p:txBody>
      </p:sp>
      <p:sp>
        <p:nvSpPr>
          <p:cNvPr id="7" name="Commentary rule"/>
          <p:cNvSpPr/>
          <p:nvPr/>
        </p:nvSpPr>
        <p:spPr>
          <a:xfrm>
            <a:off x="812800" y="1422400"/>
            <a:ext cx="25400" cy="1050036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11550" y="1422400"/>
            <a:ext cx="78676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Share of tickets resolved without an agent</a:t>
            </a:r>
          </a:p>
        </p:txBody>
      </p:sp>
      <p:graphicFrame>
        <p:nvGraphicFramePr>
          <p:cNvPr id="9" name="Chart"/>
          <p:cNvGraphicFramePr>
            <a:graphicFrameLocks noGrp="1"/>
          </p:cNvGraphicFramePr>
          <p:nvPr/>
        </p:nvGraphicFramePr>
        <p:xfrm>
          <a:off x="3511550" y="1673860"/>
          <a:ext cx="7867650" cy="372770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Delta bracket"/>
          <p:cNvSpPr/>
          <p:nvPr/>
        </p:nvSpPr>
        <p:spPr>
          <a:xfrm>
            <a:off x="8400256" y="2331212"/>
            <a:ext cx="1935162" cy="777621"/>
          </a:xfrm>
          <a:custGeom>
            <a:avLst/>
            <a:gdLst/>
            <a:ahLst/>
            <a:cxnLst/>
            <a:rect l="l" t="t" r="r" b="b"/>
            <a:pathLst>
              <a:path w="1935162" h="777621">
                <a:moveTo>
                  <a:pt x="0" y="777621"/>
                </a:moveTo>
                <a:lnTo>
                  <a:pt x="0" y="0"/>
                </a:lnTo>
                <a:lnTo>
                  <a:pt x="1935162" y="0"/>
                </a:lnTo>
                <a:lnTo>
                  <a:pt x="1935162" y="657453"/>
                </a:lnTo>
              </a:path>
            </a:pathLst>
          </a:custGeom>
          <a:noFill/>
          <a:ln w="9525">
            <a:solidFill>
              <a:srgbClr val="5E6672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Delta"/>
          <p:cNvSpPr/>
          <p:nvPr/>
        </p:nvSpPr>
        <p:spPr>
          <a:xfrm>
            <a:off x="9118464" y="2192528"/>
            <a:ext cx="498745" cy="277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5BD3"/>
            </a:solidFill>
          </a:ln>
        </p:spPr>
        <p:txBody>
          <a:bodyPr rtlCol="0" anchor="ctr" wrap="square" lIns="25400" tIns="25400" rIns="25400" bIns="25400"/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+4pp</a:t>
            </a:r>
          </a:p>
        </p:txBody>
      </p:sp>
      <p:sp>
        <p:nvSpPr>
          <p:cNvPr id="12" name="Delta bracket"/>
          <p:cNvSpPr/>
          <p:nvPr/>
        </p:nvSpPr>
        <p:spPr>
          <a:xfrm>
            <a:off x="4529931" y="1926844"/>
            <a:ext cx="3870325" cy="1722742"/>
          </a:xfrm>
          <a:custGeom>
            <a:avLst/>
            <a:gdLst/>
            <a:ahLst/>
            <a:cxnLst/>
            <a:rect l="l" t="t" r="r" b="b"/>
            <a:pathLst>
              <a:path w="3870325" h="1722742">
                <a:moveTo>
                  <a:pt x="0" y="1722742"/>
                </a:moveTo>
                <a:lnTo>
                  <a:pt x="0" y="0"/>
                </a:lnTo>
                <a:lnTo>
                  <a:pt x="3870325" y="0"/>
                </a:lnTo>
                <a:lnTo>
                  <a:pt x="3870325" y="1181989"/>
                </a:lnTo>
              </a:path>
            </a:pathLst>
          </a:custGeom>
          <a:noFill/>
          <a:ln w="9525">
            <a:solidFill>
              <a:srgbClr val="5E6672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Delta"/>
          <p:cNvSpPr/>
          <p:nvPr/>
        </p:nvSpPr>
        <p:spPr>
          <a:xfrm>
            <a:off x="6176101" y="1788160"/>
            <a:ext cx="577985" cy="277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5BD3"/>
            </a:solidFill>
          </a:ln>
        </p:spPr>
        <p:txBody>
          <a:bodyPr rtlCol="0" anchor="ctr" wrap="square" lIns="25400" tIns="25400" rIns="25400" bIns="25400"/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+18pp</a:t>
            </a:r>
          </a:p>
        </p:txBody>
      </p:sp>
      <p:cxnSp>
        <p:nvCxnSpPr>
          <p:cNvPr id="14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15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"/>
          <p:cNvSpPr txBox="1"/>
          <p:nvPr/>
        </p:nvSpPr>
        <p:spPr>
          <a:xfrm>
            <a:off x="812800" y="2139188"/>
            <a:ext cx="845312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03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2522829"/>
            <a:ext cx="8453120" cy="81930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Place the reading beside the 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PANELS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Every region grew, and the north grew fastest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Source"/>
          <p:cNvSpPr txBox="1"/>
          <p:nvPr/>
        </p:nvSpPr>
        <p:spPr>
          <a:xfrm>
            <a:off x="812800" y="5708650"/>
            <a:ext cx="10566400" cy="20955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Source: Illustrative membership data</a:t>
            </a:r>
          </a:p>
        </p:txBody>
      </p:sp>
      <p:sp>
        <p:nvSpPr>
          <p:cNvPr id="6" name="Panel title"/>
          <p:cNvSpPr txBox="1"/>
          <p:nvPr/>
        </p:nvSpPr>
        <p:spPr>
          <a:xfrm>
            <a:off x="812800" y="1422400"/>
            <a:ext cx="336973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North</a:t>
            </a:r>
          </a:p>
        </p:txBody>
      </p:sp>
      <p:sp>
        <p:nvSpPr>
          <p:cNvPr id="7" name="Panel unit"/>
          <p:cNvSpPr txBox="1"/>
          <p:nvPr/>
        </p:nvSpPr>
        <p:spPr>
          <a:xfrm>
            <a:off x="812800" y="1660144"/>
            <a:ext cx="3369733" cy="20116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Members, thousands</a:t>
            </a:r>
          </a:p>
        </p:txBody>
      </p:sp>
      <p:sp>
        <p:nvSpPr>
          <p:cNvPr id="8" name="Panel title"/>
          <p:cNvSpPr txBox="1"/>
          <p:nvPr/>
        </p:nvSpPr>
        <p:spPr>
          <a:xfrm>
            <a:off x="4411133" y="1422400"/>
            <a:ext cx="336973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East</a:t>
            </a:r>
          </a:p>
        </p:txBody>
      </p:sp>
      <p:sp>
        <p:nvSpPr>
          <p:cNvPr id="9" name="Panel unit"/>
          <p:cNvSpPr txBox="1"/>
          <p:nvPr/>
        </p:nvSpPr>
        <p:spPr>
          <a:xfrm>
            <a:off x="4411133" y="1660144"/>
            <a:ext cx="3369733" cy="20116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Members, thousands</a:t>
            </a:r>
          </a:p>
        </p:txBody>
      </p:sp>
      <p:sp>
        <p:nvSpPr>
          <p:cNvPr id="10" name="Panel title"/>
          <p:cNvSpPr txBox="1"/>
          <p:nvPr/>
        </p:nvSpPr>
        <p:spPr>
          <a:xfrm>
            <a:off x="8009466" y="1422400"/>
            <a:ext cx="336973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South</a:t>
            </a:r>
          </a:p>
        </p:txBody>
      </p:sp>
      <p:sp>
        <p:nvSpPr>
          <p:cNvPr id="11" name="Panel unit"/>
          <p:cNvSpPr txBox="1"/>
          <p:nvPr/>
        </p:nvSpPr>
        <p:spPr>
          <a:xfrm>
            <a:off x="8009466" y="1660144"/>
            <a:ext cx="3369733" cy="20116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Members, thousands</a:t>
            </a:r>
          </a:p>
        </p:txBody>
      </p:sp>
      <p:graphicFrame>
        <p:nvGraphicFramePr>
          <p:cNvPr id="12" name="Chart panel 1"/>
          <p:cNvGraphicFramePr>
            <a:graphicFrameLocks noGrp="1"/>
          </p:cNvGraphicFramePr>
          <p:nvPr/>
        </p:nvGraphicFramePr>
        <p:xfrm>
          <a:off x="812800" y="1975612"/>
          <a:ext cx="3369733" cy="36187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3" name="Chart panel 2"/>
          <p:cNvGraphicFramePr>
            <a:graphicFrameLocks noGrp="1"/>
          </p:cNvGraphicFramePr>
          <p:nvPr/>
        </p:nvGraphicFramePr>
        <p:xfrm>
          <a:off x="4411133" y="1975612"/>
          <a:ext cx="3369733" cy="361873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4" name="Chart panel 3"/>
          <p:cNvGraphicFramePr>
            <a:graphicFrameLocks noGrp="1"/>
          </p:cNvGraphicFramePr>
          <p:nvPr/>
        </p:nvGraphicFramePr>
        <p:xfrm>
          <a:off x="8009466" y="1975612"/>
          <a:ext cx="3369733" cy="3618738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cxnSp>
        <p:nvCxnSpPr>
          <p:cNvPr id="15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16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PANELS WITH DIFFERENT UNITS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Faster replies came with fewer repeat contacts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Source"/>
          <p:cNvSpPr txBox="1"/>
          <p:nvPr/>
        </p:nvSpPr>
        <p:spPr>
          <a:xfrm>
            <a:off x="812800" y="5708650"/>
            <a:ext cx="10566400" cy="20955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Source: Illustrative support data</a:t>
            </a:r>
          </a:p>
        </p:txBody>
      </p:sp>
      <p:sp>
        <p:nvSpPr>
          <p:cNvPr id="6" name="Panel title"/>
          <p:cNvSpPr txBox="1"/>
          <p:nvPr/>
        </p:nvSpPr>
        <p:spPr>
          <a:xfrm>
            <a:off x="812800" y="1422400"/>
            <a:ext cx="51689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First reply time</a:t>
            </a:r>
          </a:p>
        </p:txBody>
      </p:sp>
      <p:sp>
        <p:nvSpPr>
          <p:cNvPr id="7" name="Panel unit"/>
          <p:cNvSpPr txBox="1"/>
          <p:nvPr/>
        </p:nvSpPr>
        <p:spPr>
          <a:xfrm>
            <a:off x="812800" y="1660144"/>
            <a:ext cx="5168900" cy="20116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Median hours</a:t>
            </a:r>
          </a:p>
        </p:txBody>
      </p:sp>
      <p:sp>
        <p:nvSpPr>
          <p:cNvPr id="8" name="Panel title"/>
          <p:cNvSpPr txBox="1"/>
          <p:nvPr/>
        </p:nvSpPr>
        <p:spPr>
          <a:xfrm>
            <a:off x="6210300" y="1422400"/>
            <a:ext cx="51689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Repeat contacts</a:t>
            </a:r>
          </a:p>
        </p:txBody>
      </p:sp>
      <p:sp>
        <p:nvSpPr>
          <p:cNvPr id="9" name="Panel unit"/>
          <p:cNvSpPr txBox="1"/>
          <p:nvPr/>
        </p:nvSpPr>
        <p:spPr>
          <a:xfrm>
            <a:off x="6210300" y="1660144"/>
            <a:ext cx="5168900" cy="20116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Share of tickets reopened</a:t>
            </a:r>
          </a:p>
        </p:txBody>
      </p:sp>
      <p:sp>
        <p:nvSpPr>
          <p:cNvPr id="10" name="Key swatch"/>
          <p:cNvSpPr/>
          <p:nvPr/>
        </p:nvSpPr>
        <p:spPr>
          <a:xfrm>
            <a:off x="812800" y="2024507"/>
            <a:ext cx="111760" cy="11176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1" name="Key"/>
          <p:cNvSpPr txBox="1"/>
          <p:nvPr/>
        </p:nvSpPr>
        <p:spPr>
          <a:xfrm>
            <a:off x="980440" y="1975612"/>
            <a:ext cx="432501" cy="2095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Email</a:t>
            </a:r>
          </a:p>
        </p:txBody>
      </p:sp>
      <p:sp>
        <p:nvSpPr>
          <p:cNvPr id="12" name="Key swatch"/>
          <p:cNvSpPr/>
          <p:nvPr/>
        </p:nvSpPr>
        <p:spPr>
          <a:xfrm>
            <a:off x="1641541" y="2024507"/>
            <a:ext cx="111760" cy="111760"/>
          </a:xfrm>
          <a:prstGeom prst="rect">
            <a:avLst/>
          </a:prstGeom>
          <a:solidFill>
            <a:srgbClr val="7A8699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3" name="Key"/>
          <p:cNvSpPr txBox="1"/>
          <p:nvPr/>
        </p:nvSpPr>
        <p:spPr>
          <a:xfrm>
            <a:off x="1809181" y="1975612"/>
            <a:ext cx="377174" cy="2095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Chat</a:t>
            </a:r>
          </a:p>
        </p:txBody>
      </p:sp>
      <p:graphicFrame>
        <p:nvGraphicFramePr>
          <p:cNvPr id="14" name="Chart panel 1"/>
          <p:cNvGraphicFramePr>
            <a:graphicFrameLocks noGrp="1"/>
          </p:cNvGraphicFramePr>
          <p:nvPr/>
        </p:nvGraphicFramePr>
        <p:xfrm>
          <a:off x="812800" y="2299462"/>
          <a:ext cx="5168900" cy="329488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End label"/>
          <p:cNvSpPr txBox="1"/>
          <p:nvPr/>
        </p:nvSpPr>
        <p:spPr>
          <a:xfrm>
            <a:off x="5195758" y="3779306"/>
            <a:ext cx="709741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Email  </a:t>
            </a:r>
            <a:r>
              <a:rPr sz="1100" b="1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5.2</a:t>
            </a:r>
          </a:p>
        </p:txBody>
      </p:sp>
      <p:sp>
        <p:nvSpPr>
          <p:cNvPr id="16" name="End label"/>
          <p:cNvSpPr txBox="1"/>
          <p:nvPr/>
        </p:nvSpPr>
        <p:spPr>
          <a:xfrm>
            <a:off x="5195758" y="4891013"/>
            <a:ext cx="654413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Chat  </a:t>
            </a:r>
            <a:r>
              <a:rPr sz="1100" b="1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1.2</a:t>
            </a:r>
          </a:p>
        </p:txBody>
      </p:sp>
      <p:graphicFrame>
        <p:nvGraphicFramePr>
          <p:cNvPr id="17" name="Chart panel 2"/>
          <p:cNvGraphicFramePr>
            <a:graphicFrameLocks noGrp="1"/>
          </p:cNvGraphicFramePr>
          <p:nvPr/>
        </p:nvGraphicFramePr>
        <p:xfrm>
          <a:off x="6210300" y="2299462"/>
          <a:ext cx="5168900" cy="329488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8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19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COMMENTARY ON A TABLE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The shared pool is cheaper at every team size we tested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Source"/>
          <p:cNvSpPr txBox="1"/>
          <p:nvPr/>
        </p:nvSpPr>
        <p:spPr>
          <a:xfrm>
            <a:off x="812800" y="5708650"/>
            <a:ext cx="10566400" cy="20955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Source: Illustrative cost model</a:t>
            </a:r>
          </a:p>
        </p:txBody>
      </p:sp>
      <p:sp>
        <p:nvSpPr>
          <p:cNvPr id="6" name="Bullets"/>
          <p:cNvSpPr txBox="1"/>
          <p:nvPr/>
        </p:nvSpPr>
        <p:spPr>
          <a:xfrm>
            <a:off x="8161866" y="1422400"/>
            <a:ext cx="3217333" cy="12923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 marL="223520" indent="-223520">
              <a:lnSpc>
                <a:spcPct val="120000"/>
              </a:lnSpc>
              <a:buClr>
                <a:srgbClr val="2F5BD3"/>
              </a:buClr>
              <a:buChar char="•"/>
            </a:pPr>
            <a:r>
              <a:rPr sz="16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Cost stays flat because idle capacity is reused.</a:t>
            </a:r>
          </a:p>
          <a:p>
            <a:pPr algn="l" marL="223520" indent="-223520">
              <a:lnSpc>
                <a:spcPct val="120000"/>
              </a:lnSpc>
              <a:spcBef>
                <a:spcPts val="960"/>
              </a:spcBef>
              <a:buClr>
                <a:srgbClr val="2F5BD3"/>
              </a:buClr>
              <a:buChar char="•"/>
            </a:pPr>
            <a:r>
              <a:rPr sz="16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Per-team pools grow with every team added.</a:t>
            </a:r>
          </a:p>
        </p:txBody>
      </p:sp>
      <p:sp>
        <p:nvSpPr>
          <p:cNvPr id="7" name="Commentary rule"/>
          <p:cNvSpPr/>
          <p:nvPr/>
        </p:nvSpPr>
        <p:spPr>
          <a:xfrm>
            <a:off x="8009466" y="1422400"/>
            <a:ext cx="25400" cy="1292352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graphicFrame>
        <p:nvGraphicFramePr>
          <p:cNvPr id="8" name="Table"/>
          <p:cNvGraphicFramePr>
            <a:graphicFrameLocks noGrp="1"/>
          </p:cNvGraphicFramePr>
          <p:nvPr/>
        </p:nvGraphicFramePr>
        <p:xfrm>
          <a:off x="812800" y="1473200"/>
          <a:ext cx="6968064" cy="1518412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322688"/>
                <a:gridCol w="2322688"/>
                <a:gridCol w="2322688"/>
              </a:tblGrid>
              <a:tr h="4241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E6672"/>
                          </a:solidFill>
                          <a:latin typeface="Arial"/>
                          <a:ea typeface="Malgun Gothic"/>
                          <a:cs typeface="Arial"/>
                        </a:rPr>
                        <a:t>Team size</a:t>
                      </a:r>
                    </a:p>
                  </a:txBody>
                  <a:tcPr marL="63500" marR="63500" marT="63500" marB="635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F5BD3"/>
                          </a:solidFill>
                          <a:latin typeface="Arial"/>
                          <a:ea typeface="Malgun Gothic"/>
                          <a:cs typeface="Arial"/>
                        </a:rPr>
                        <a:t>Shared pool</a:t>
                      </a:r>
                    </a:p>
                  </a:txBody>
                  <a:tcPr marL="63500" marR="63500" marT="63500" marB="635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E6672"/>
                          </a:solidFill>
                          <a:latin typeface="Arial"/>
                          <a:ea typeface="Malgun Gothic"/>
                          <a:cs typeface="Arial"/>
                        </a:rPr>
                        <a:t>Per team</a:t>
                      </a:r>
                    </a:p>
                  </a:txBody>
                  <a:tcPr marL="63500" marR="63500" marT="63500" marB="635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</a:tr>
              <a:tr h="36474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5 teams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Low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0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Medium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</a:tr>
              <a:tr h="36474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10 teams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Low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0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High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</a:tr>
              <a:tr h="36474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20 teams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Medium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solidFill>
                      <a:srgbClr val="F0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Very high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135488" y="1447800"/>
            <a:ext cx="2322688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cxnSp>
        <p:nvCxnSpPr>
          <p:cNvPr id="10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11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COMMENTARY ON AN IMAGE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Each gate can be switched off per repository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Commentary"/>
          <p:cNvSpPr txBox="1"/>
          <p:nvPr/>
        </p:nvSpPr>
        <p:spPr>
          <a:xfrm>
            <a:off x="965200" y="1422400"/>
            <a:ext cx="231775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Teams keep </a:t>
            </a:r>
            <a:r>
              <a:rPr sz="1300" b="1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one switch per gate</a:t>
            </a: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 while they adopt the checks.</a:t>
            </a:r>
          </a:p>
        </p:txBody>
      </p:sp>
      <p:sp>
        <p:nvSpPr>
          <p:cNvPr id="6" name="Commentary rule"/>
          <p:cNvSpPr/>
          <p:nvPr/>
        </p:nvSpPr>
        <p:spPr>
          <a:xfrm>
            <a:off x="812800" y="1422400"/>
            <a:ext cx="25400" cy="713232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pic>
        <p:nvPicPr>
          <p:cNvPr id="7" name="Image" descr="Pipeline settings screen with one toggle per release ga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550" y="1457523"/>
            <a:ext cx="7867650" cy="4425553"/>
          </a:xfrm>
          <a:prstGeom prst="rect">
            <a:avLst/>
          </a:prstGeom>
        </p:spPr>
      </p:pic>
      <p:cxnSp>
        <p:nvCxnSpPr>
          <p:cNvPr id="8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9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COMMENTARY ON A DIAGRAM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Checks read a masked snapshot, never production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Commentary"/>
          <p:cNvSpPr txBox="1"/>
          <p:nvPr/>
        </p:nvSpPr>
        <p:spPr>
          <a:xfrm>
            <a:off x="9061450" y="1422400"/>
            <a:ext cx="231775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The runner holds </a:t>
            </a:r>
            <a:r>
              <a:rPr sz="1300" b="1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no production credentials</a:t>
            </a: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.</a:t>
            </a:r>
          </a:p>
        </p:txBody>
      </p:sp>
      <p:sp>
        <p:nvSpPr>
          <p:cNvPr id="6" name="Commentary rule"/>
          <p:cNvSpPr/>
          <p:nvPr/>
        </p:nvSpPr>
        <p:spPr>
          <a:xfrm>
            <a:off x="8909050" y="1422400"/>
            <a:ext cx="25400" cy="47548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7" name="Node pr"/>
          <p:cNvSpPr/>
          <p:nvPr/>
        </p:nvSpPr>
        <p:spPr>
          <a:xfrm>
            <a:off x="1284859" y="1955800"/>
            <a:ext cx="1678432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5E6672"/>
            </a:solidFill>
            <a:prstDash val="dash"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8" name="Label pr"/>
          <p:cNvSpPr txBox="1"/>
          <p:nvPr/>
        </p:nvSpPr>
        <p:spPr>
          <a:xfrm>
            <a:off x="1386459" y="1955800"/>
            <a:ext cx="1475232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Pull request</a:t>
            </a:r>
          </a:p>
        </p:txBody>
      </p:sp>
      <p:sp>
        <p:nvSpPr>
          <p:cNvPr id="9" name="Node runner"/>
          <p:cNvSpPr/>
          <p:nvPr/>
        </p:nvSpPr>
        <p:spPr>
          <a:xfrm>
            <a:off x="3907409" y="1955800"/>
            <a:ext cx="1678432" cy="736600"/>
          </a:xfrm>
          <a:prstGeom prst="rect">
            <a:avLst/>
          </a:prstGeom>
          <a:solidFill>
            <a:srgbClr val="EAEFFB"/>
          </a:solidFill>
          <a:ln w="15875">
            <a:solidFill>
              <a:srgbClr val="2F5BD3"/>
            </a:solidFill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0" name="Label runner"/>
          <p:cNvSpPr txBox="1"/>
          <p:nvPr/>
        </p:nvSpPr>
        <p:spPr>
          <a:xfrm>
            <a:off x="4009009" y="1955800"/>
            <a:ext cx="1475232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Check runner</a:t>
            </a:r>
          </a:p>
        </p:txBody>
      </p:sp>
      <p:sp>
        <p:nvSpPr>
          <p:cNvPr id="11" name="Node snap"/>
          <p:cNvSpPr/>
          <p:nvPr/>
        </p:nvSpPr>
        <p:spPr>
          <a:xfrm>
            <a:off x="6529958" y="1955800"/>
            <a:ext cx="1678432" cy="736600"/>
          </a:xfrm>
          <a:prstGeom prst="can">
            <a:avLst/>
          </a:prstGeom>
          <a:solidFill>
            <a:srgbClr val="FFFFFF"/>
          </a:solidFill>
          <a:ln w="9525">
            <a:solidFill>
              <a:srgbClr val="5E6672"/>
            </a:solidFill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2" name="Label snap"/>
          <p:cNvSpPr txBox="1"/>
          <p:nvPr/>
        </p:nvSpPr>
        <p:spPr>
          <a:xfrm>
            <a:off x="6631558" y="1955800"/>
            <a:ext cx="1475232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Snapshot DB</a:t>
            </a:r>
          </a:p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masked copy</a:t>
            </a:r>
          </a:p>
        </p:txBody>
      </p:sp>
      <p:cxnSp>
        <p:nvCxnSpPr>
          <p:cNvPr id="13" name="Edge pr-runner"/>
          <p:cNvCxnSpPr>
            <a:stCxn id="7" idx="3"/>
            <a:endCxn id="9" idx="1"/>
          </p:cNvCxnSpPr>
          <p:nvPr/>
        </p:nvCxnSpPr>
        <p:spPr>
          <a:xfrm flipV="1">
            <a:off x="2963291" y="2324100"/>
            <a:ext cx="944118" cy="0"/>
          </a:xfrm>
          <a:prstGeom prst="line">
            <a:avLst/>
          </a:prstGeom>
          <a:ln w="19050">
            <a:solidFill>
              <a:srgbClr val="2F5BD3"/>
            </a:solidFill>
            <a:tailEnd type="triangle" w="med" len="med"/>
          </a:ln>
        </p:spPr>
      </p:cxnSp>
      <p:sp>
        <p:nvSpPr>
          <p:cNvPr id="14" name="Edge label"/>
          <p:cNvSpPr txBox="1"/>
          <p:nvPr/>
        </p:nvSpPr>
        <p:spPr>
          <a:xfrm>
            <a:off x="3118333" y="2089150"/>
            <a:ext cx="634033" cy="209550"/>
          </a:xfrm>
          <a:prstGeom prst="rect">
            <a:avLst/>
          </a:prstGeom>
          <a:solidFill>
            <a:srgbClr val="FFFFFF"/>
          </a:solidFill>
        </p:spPr>
        <p:txBody>
          <a:bodyPr wrap="square" lIns="12700" tIns="12700" rIns="12700" bIns="1270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on push</a:t>
            </a:r>
          </a:p>
        </p:txBody>
      </p:sp>
      <p:cxnSp>
        <p:nvCxnSpPr>
          <p:cNvPr id="15" name="Edge runner-snap"/>
          <p:cNvCxnSpPr>
            <a:stCxn id="9" idx="3"/>
            <a:endCxn id="11" idx="1"/>
          </p:cNvCxnSpPr>
          <p:nvPr/>
        </p:nvCxnSpPr>
        <p:spPr>
          <a:xfrm flipV="1">
            <a:off x="5585841" y="2324100"/>
            <a:ext cx="944117" cy="0"/>
          </a:xfrm>
          <a:prstGeom prst="line">
            <a:avLst/>
          </a:prstGeom>
          <a:ln w="12700">
            <a:solidFill>
              <a:srgbClr val="5E6672"/>
            </a:solidFill>
            <a:tailEnd type="triangle" w="med" len="med"/>
          </a:ln>
        </p:spPr>
      </p:cxnSp>
      <p:sp>
        <p:nvSpPr>
          <p:cNvPr id="16" name="Edge label"/>
          <p:cNvSpPr txBox="1"/>
          <p:nvPr/>
        </p:nvSpPr>
        <p:spPr>
          <a:xfrm>
            <a:off x="5772676" y="2089150"/>
            <a:ext cx="570445" cy="209550"/>
          </a:xfrm>
          <a:prstGeom prst="rect">
            <a:avLst/>
          </a:prstGeom>
          <a:solidFill>
            <a:srgbClr val="FFFFFF"/>
          </a:solidFill>
        </p:spPr>
        <p:txBody>
          <a:bodyPr wrap="square" lIns="12700" tIns="12700" rIns="12700" bIns="1270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dry run</a:t>
            </a:r>
          </a:p>
        </p:txBody>
      </p:sp>
      <p:cxnSp>
        <p:nvCxnSpPr>
          <p:cNvPr id="17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18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812800" y="1914753"/>
            <a:ext cx="10566400" cy="140451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4800" b="0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3547871"/>
            <a:ext cx="7620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C9D0DA"/>
                </a:solidFill>
                <a:latin typeface="Arial"/>
                <a:ea typeface="Malgun Gothic"/>
                <a:cs typeface="Arial"/>
              </a:rPr>
              <a:t>Every figure in this deck is illustrative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deckkit (python-pptx)</Application>
  <PresentationFormat>On-screen Show (16:9)</PresentationFormat>
  <Slides>19</Slides>
  <Notes>19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Exhibit features (illustrative)</dc:title>
  <dc:subject>Show every exhibit option on a slide that uses it for a reason</dc:subject>
  <dc:creator>Presenter Name</dc:creator>
  <cp:keywords/>
  <dc:description/>
  <cp:lastModifiedBy>Presenter Name</cp:lastModifiedBy>
  <cp:revision>1</cp:revision>
  <dcterms:created xsi:type="dcterms:W3CDTF">2026-10-19T02:51:14Z</dcterms:created>
  <dcterms:modified xsi:type="dcterms:W3CDTF">2026-10-19T02:51:14Z</dcterms:modified>
  <cp:category/>
</cp:coreProperties>
</file>