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hours to fix</c:v>
                </c:pt>
              </c:strCache>
            </c:strRef>
          </c:tx>
          <c:spPr>
            <a:solidFill>
              <a:srgbClr val="A6ABB1"/>
            </a:solidFill>
          </c:spPr>
          <c:dPt>
            <c:idx val="2"/>
            <c:spPr>
              <a:solidFill>
                <a:srgbClr val="2F5BD3"/>
              </a:solidFill>
            </c:spPr>
          </c:dPt>
          <c:cat>
            <c:strRef>
              <c:f>Sheet1!$A$2:$A$5</c:f>
              <c:strCache>
                <c:ptCount val="4"/>
                <c:pt idx="0">
                  <c:v>Pull request</c:v>
                </c:pt>
                <c:pt idx="1">
                  <c:v>Main branch</c:v>
                </c:pt>
                <c:pt idx="2">
                  <c:v>Release branch</c:v>
                </c:pt>
                <c:pt idx="3">
                  <c:v>Production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31</c:v>
                </c:pt>
                <c:pt idx="3">
                  <c:v>58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 am asking for one decision: a four-week pilot that moves our release checks from the release branch to every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answer three questions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where we find release blockers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blockers appear late, and each one costs more than two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release branch is where the cost jumps.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what the change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about the checks changes; only when they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migration dry run is the new gate; the others exist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only new infrastructure, and it never touches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recommend the shared pool for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point is at the end of week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measures are agreed now so the result is not argued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Opting in is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keep control during the pilot; any gate can be turned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biggest relief is for release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with a real, approved quote or delete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the decision I am asking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807464"/>
            <a:ext cx="8664448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0DA"/>
                </a:solidFill>
                <a:latin typeface="Consolas"/>
                <a:ea typeface="Malgun Gothic"/>
                <a:cs typeface="Consolas"/>
              </a:rPr>
              <a:t>ENGINEERING REVIEW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112264"/>
            <a:ext cx="8664448" cy="1536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Catch release blockers while the change is still small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12800" y="3877055"/>
            <a:ext cx="86644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A proposal to run release checks on every pull request</a:t>
            </a:r>
          </a:p>
        </p:txBody>
      </p:sp>
      <p:sp>
        <p:nvSpPr>
          <p:cNvPr id="5" name="Presenter"/>
          <p:cNvSpPr txBox="1"/>
          <p:nvPr/>
        </p:nvSpPr>
        <p:spPr>
          <a:xfrm>
            <a:off x="812800" y="5638800"/>
            <a:ext cx="8664448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Presenter Name · Platform team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AGENDA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Three questions decide whether the pilot is worth it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4224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2400" y="14224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Where release blockers are found today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19812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12800" y="19812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2400" y="19812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changes when checks run per pull 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" y="25400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12800" y="25400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2400" y="25400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the pilot costs and how we judge 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800" y="30988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cxnSp>
        <p:nvCxnSpPr>
          <p:cNvPr id="1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830068"/>
            <a:ext cx="84531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Where blockers are found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CURRENT STATE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Most blockers surface only after the branch is cut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data, sample deck</a:t>
            </a:r>
          </a:p>
        </p:txBody>
      </p:sp>
      <p:sp>
        <p:nvSpPr>
          <p:cNvPr id="6" name="Stat 1"/>
          <p:cNvSpPr txBox="1"/>
          <p:nvPr/>
        </p:nvSpPr>
        <p:spPr>
          <a:xfrm>
            <a:off x="812800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71%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2067560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12800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found on the release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Illustrative figure for the sample deck</a:t>
            </a:r>
          </a:p>
        </p:txBody>
      </p:sp>
      <p:sp>
        <p:nvSpPr>
          <p:cNvPr id="10" name="Stat 2"/>
          <p:cNvSpPr txBox="1"/>
          <p:nvPr/>
        </p:nvSpPr>
        <p:spPr>
          <a:xfrm>
            <a:off x="4411133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2.4 days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11133" y="2067560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411133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median delay per blocker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133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From detection to merged fix</a:t>
            </a:r>
          </a:p>
        </p:txBody>
      </p:sp>
      <p:sp>
        <p:nvSpPr>
          <p:cNvPr id="14" name="Stat 3"/>
          <p:cNvSpPr txBox="1"/>
          <p:nvPr/>
        </p:nvSpPr>
        <p:spPr>
          <a:xfrm>
            <a:off x="8009466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3 of 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9466" y="2067560"/>
            <a:ext cx="3369734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9466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blockers trace to one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9466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The rest combine two or more changes</a:t>
            </a:r>
          </a:p>
        </p:txBody>
      </p:sp>
      <p:cxnSp>
        <p:nvCxnSpPr>
          <p:cNvPr id="1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CURRENT STATE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later a blocker is found, the longer the fix takes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data, sample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9466" y="1422400"/>
            <a:ext cx="25400" cy="877823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1866" y="1422400"/>
            <a:ext cx="3217333" cy="877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Fixing on the release branch takes </a:t>
            </a:r>
            <a:r>
              <a:rPr sz="16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10x longer</a:t>
            </a: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 than fixing in the pull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422400"/>
            <a:ext cx="696806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Median hours to fix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812800" y="1673860"/>
          <a:ext cx="6968066" cy="392049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1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830068"/>
            <a:ext cx="84531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changes per pull request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PROPOSAL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same checks run earlier, on a smaller change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422400"/>
            <a:ext cx="49403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816608"/>
            <a:ext cx="49403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Checks run once, on the release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153412"/>
            <a:ext cx="49403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A failure blocks every change in the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490216"/>
            <a:ext cx="49403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The author has moved on to other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1422400"/>
            <a:ext cx="49403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Proposed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1816608"/>
            <a:ext cx="49403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Checks run on every pull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2153412"/>
            <a:ext cx="49403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A failure blocks only that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2490216"/>
            <a:ext cx="49403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The author fixes it while the context is 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3100" y="1422400"/>
            <a:ext cx="685800" cy="130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→</a:t>
            </a:r>
          </a:p>
        </p:txBody>
      </p:sp>
      <p:cxnSp>
        <p:nvCxnSpPr>
          <p:cNvPr id="1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PROPOSAL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 pull request passes four gates before merge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1422400"/>
            <a:ext cx="2298700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600200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866900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235708"/>
            <a:ext cx="22987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Compile and package exactly as the release does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25800" y="1441450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3568700" y="1422400"/>
            <a:ext cx="2298700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8700" y="1600200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8700" y="1866900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Contract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8700" y="2235708"/>
            <a:ext cx="22987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Verify public interfaces against consumers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1700" y="1441450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6324600" y="1422400"/>
            <a:ext cx="2298700" cy="381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600" y="1600200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1866900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Migration dry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235708"/>
            <a:ext cx="22987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Apply schema changes to a production snapshot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7600" y="1441450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9080500" y="1422400"/>
            <a:ext cx="2298700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0500" y="1600200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0500" y="1866900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0500" y="2235708"/>
            <a:ext cx="22987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Merge only when all three checks pass</a:t>
            </a:r>
          </a:p>
        </p:txBody>
      </p:sp>
      <p:cxnSp>
        <p:nvCxnSpPr>
          <p:cNvPr id="2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PROPOSAL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Checks run in an isolated runner, never against production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5680456"/>
            <a:ext cx="1056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The runner reads a masked snapshot; it holds no production credentials.</a:t>
            </a:r>
          </a:p>
        </p:txBody>
      </p:sp>
      <p:sp>
        <p:nvSpPr>
          <p:cNvPr id="6" name="Group CI environment"/>
          <p:cNvSpPr/>
          <p:nvPr/>
        </p:nvSpPr>
        <p:spPr>
          <a:xfrm>
            <a:off x="3505200" y="1473200"/>
            <a:ext cx="5181600" cy="3505200"/>
          </a:xfrm>
          <a:prstGeom prst="rect">
            <a:avLst/>
          </a:prstGeom>
          <a:noFill/>
          <a:ln w="9525">
            <a:solidFill>
              <a:srgbClr val="8C939E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6800" y="1536700"/>
            <a:ext cx="49784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CI environment</a:t>
            </a:r>
          </a:p>
        </p:txBody>
      </p:sp>
      <p:sp>
        <p:nvSpPr>
          <p:cNvPr id="8" name="Node pr"/>
          <p:cNvSpPr/>
          <p:nvPr/>
        </p:nvSpPr>
        <p:spPr>
          <a:xfrm>
            <a:off x="1288288" y="1955800"/>
            <a:ext cx="1690624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5E6672"/>
            </a:solidFill>
            <a:prstDash val="dash"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Label pr"/>
          <p:cNvSpPr txBox="1"/>
          <p:nvPr/>
        </p:nvSpPr>
        <p:spPr>
          <a:xfrm>
            <a:off x="1389888" y="19558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Pull request</a:t>
            </a:r>
          </a:p>
        </p:txBody>
      </p:sp>
      <p:sp>
        <p:nvSpPr>
          <p:cNvPr id="10" name="Node runner"/>
          <p:cNvSpPr/>
          <p:nvPr/>
        </p:nvSpPr>
        <p:spPr>
          <a:xfrm>
            <a:off x="3929888" y="1955800"/>
            <a:ext cx="1690624" cy="736600"/>
          </a:xfrm>
          <a:prstGeom prst="rect">
            <a:avLst/>
          </a:prstGeom>
          <a:solidFill>
            <a:srgbClr val="EAEFFB"/>
          </a:solidFill>
          <a:ln w="15875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Label runner"/>
          <p:cNvSpPr txBox="1"/>
          <p:nvPr/>
        </p:nvSpPr>
        <p:spPr>
          <a:xfrm>
            <a:off x="4031488" y="19558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Check runner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isolated</a:t>
            </a:r>
          </a:p>
        </p:txBody>
      </p:sp>
      <p:sp>
        <p:nvSpPr>
          <p:cNvPr id="12" name="Node snap"/>
          <p:cNvSpPr/>
          <p:nvPr/>
        </p:nvSpPr>
        <p:spPr>
          <a:xfrm>
            <a:off x="6571488" y="1955800"/>
            <a:ext cx="1690624" cy="736600"/>
          </a:xfrm>
          <a:prstGeom prst="can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3" name="Label snap"/>
          <p:cNvSpPr txBox="1"/>
          <p:nvPr/>
        </p:nvSpPr>
        <p:spPr>
          <a:xfrm>
            <a:off x="6673088" y="19558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Snapshot DB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masked copy</a:t>
            </a:r>
          </a:p>
        </p:txBody>
      </p:sp>
      <p:sp>
        <p:nvSpPr>
          <p:cNvPr id="14" name="Node report"/>
          <p:cNvSpPr/>
          <p:nvPr/>
        </p:nvSpPr>
        <p:spPr>
          <a:xfrm>
            <a:off x="3929888" y="3759200"/>
            <a:ext cx="1690624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5" name="Label report"/>
          <p:cNvSpPr txBox="1"/>
          <p:nvPr/>
        </p:nvSpPr>
        <p:spPr>
          <a:xfrm>
            <a:off x="4031488" y="37592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Check report</a:t>
            </a:r>
          </a:p>
        </p:txBody>
      </p:sp>
      <p:sp>
        <p:nvSpPr>
          <p:cNvPr id="16" name="Node merge"/>
          <p:cNvSpPr/>
          <p:nvPr/>
        </p:nvSpPr>
        <p:spPr>
          <a:xfrm>
            <a:off x="9213088" y="3759200"/>
            <a:ext cx="1690624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7" name="Label merge"/>
          <p:cNvSpPr txBox="1"/>
          <p:nvPr/>
        </p:nvSpPr>
        <p:spPr>
          <a:xfrm>
            <a:off x="9314688" y="37592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Merge gate</a:t>
            </a:r>
          </a:p>
        </p:txBody>
      </p:sp>
      <p:cxnSp>
        <p:nvCxnSpPr>
          <p:cNvPr id="18" name="Edge pr-runner"/>
          <p:cNvCxnSpPr>
            <a:stCxn id="8" idx="3"/>
            <a:endCxn id="10" idx="1"/>
          </p:cNvCxnSpPr>
          <p:nvPr/>
        </p:nvCxnSpPr>
        <p:spPr>
          <a:xfrm flipV="1">
            <a:off x="2978912" y="2324100"/>
            <a:ext cx="950976" cy="0"/>
          </a:xfrm>
          <a:prstGeom prst="line">
            <a:avLst/>
          </a:prstGeom>
          <a:ln w="19050">
            <a:solidFill>
              <a:srgbClr val="2F5BD3"/>
            </a:solidFill>
            <a:tailEnd type="triangle" w="med" len="med"/>
          </a:ln>
        </p:spPr>
      </p:cxnSp>
      <p:sp>
        <p:nvSpPr>
          <p:cNvPr id="19" name="Edge label"/>
          <p:cNvSpPr txBox="1"/>
          <p:nvPr/>
        </p:nvSpPr>
        <p:spPr>
          <a:xfrm>
            <a:off x="3140837" y="2089150"/>
            <a:ext cx="627126" cy="209550"/>
          </a:xfrm>
          <a:prstGeom prst="rect">
            <a:avLst/>
          </a:prstGeom>
          <a:solidFill>
            <a:srgbClr val="FFFFFF"/>
          </a:solidFill>
        </p:spPr>
        <p:txBody>
          <a:bodyPr wrap="square" lIns="12700" tIns="12700" rIns="12700" bIns="127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on push</a:t>
            </a:r>
          </a:p>
        </p:txBody>
      </p:sp>
      <p:cxnSp>
        <p:nvCxnSpPr>
          <p:cNvPr id="20" name="Edge runner-snap"/>
          <p:cNvCxnSpPr>
            <a:stCxn id="10" idx="3"/>
            <a:endCxn id="12" idx="1"/>
          </p:cNvCxnSpPr>
          <p:nvPr/>
        </p:nvCxnSpPr>
        <p:spPr>
          <a:xfrm flipV="1">
            <a:off x="5620512" y="2324100"/>
            <a:ext cx="950976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21" name="Edge label"/>
          <p:cNvSpPr txBox="1"/>
          <p:nvPr/>
        </p:nvSpPr>
        <p:spPr>
          <a:xfrm>
            <a:off x="5782437" y="2089150"/>
            <a:ext cx="627126" cy="209550"/>
          </a:xfrm>
          <a:prstGeom prst="rect">
            <a:avLst/>
          </a:prstGeom>
          <a:solidFill>
            <a:srgbClr val="FFFFFF"/>
          </a:solidFill>
        </p:spPr>
        <p:txBody>
          <a:bodyPr wrap="square" lIns="12700" tIns="12700" rIns="12700" bIns="127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dry run</a:t>
            </a:r>
          </a:p>
        </p:txBody>
      </p:sp>
      <p:cxnSp>
        <p:nvCxnSpPr>
          <p:cNvPr id="22" name="Edge runner-report"/>
          <p:cNvCxnSpPr>
            <a:stCxn id="10" idx="2"/>
            <a:endCxn id="14" idx="0"/>
          </p:cNvCxnSpPr>
          <p:nvPr/>
        </p:nvCxnSpPr>
        <p:spPr>
          <a:xfrm flipH="1">
            <a:off x="4775200" y="2692400"/>
            <a:ext cx="0" cy="106680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cxnSp>
        <p:nvCxnSpPr>
          <p:cNvPr id="23" name="Edge report-merge"/>
          <p:cNvCxnSpPr>
            <a:stCxn id="14" idx="3"/>
            <a:endCxn id="16" idx="1"/>
          </p:cNvCxnSpPr>
          <p:nvPr/>
        </p:nvCxnSpPr>
        <p:spPr>
          <a:xfrm flipV="1">
            <a:off x="5620512" y="4127500"/>
            <a:ext cx="3592576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24" name="Edge label"/>
          <p:cNvSpPr txBox="1"/>
          <p:nvPr/>
        </p:nvSpPr>
        <p:spPr>
          <a:xfrm>
            <a:off x="7020814" y="3892550"/>
            <a:ext cx="791972" cy="209550"/>
          </a:xfrm>
          <a:prstGeom prst="rect">
            <a:avLst/>
          </a:prstGeom>
          <a:solidFill>
            <a:srgbClr val="FFFFFF"/>
          </a:solidFill>
        </p:spPr>
        <p:txBody>
          <a:bodyPr wrap="square" lIns="12700" tIns="12700" rIns="12700" bIns="127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pass / fail</a:t>
            </a:r>
          </a:p>
        </p:txBody>
      </p:sp>
      <p:cxnSp>
        <p:nvCxnSpPr>
          <p:cNvPr id="25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6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COST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pilot needs one runner pool and two weeks of setup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812800" y="1473200"/>
          <a:ext cx="10566400" cy="268782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13280"/>
                <a:gridCol w="4226560"/>
                <a:gridCol w="4226560"/>
              </a:tblGrid>
              <a:tr h="424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Item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F5BD3"/>
                          </a:solidFill>
                          <a:latin typeface="Arial"/>
                          <a:ea typeface="Malgun Gothic"/>
                          <a:cs typeface="Arial"/>
                        </a:rPr>
                        <a:t>Option A — shared pool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Option B — per team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Runner capacity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Shared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8 parallel jobs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Dedicated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4 jobs per team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Setup effort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2 weeks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one platform engineer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3 weeks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platform and each team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Monthly cost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Illustrative low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reuses idle capacity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Illustrative high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new capacity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Isolation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Per job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sandboxed runners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Per team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separate pools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926080" y="1447800"/>
            <a:ext cx="422656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7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8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Four weeks from setup to a go / no-go decision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12800" y="1752600"/>
            <a:ext cx="10566400" cy="0"/>
          </a:xfrm>
          <a:prstGeom prst="line">
            <a:avLst/>
          </a:prstGeom>
          <a:ln w="12700">
            <a:solidFill>
              <a:srgbClr val="D9DD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812800" y="1422400"/>
            <a:ext cx="24701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Week 1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1701800"/>
            <a:ext cx="101600" cy="1016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1955800"/>
            <a:ext cx="247015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Set up runners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299208"/>
            <a:ext cx="24701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Shared pool and snapshot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550" y="1422400"/>
            <a:ext cx="24701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Week 2</a:t>
            </a:r>
          </a:p>
        </p:txBody>
      </p:sp>
      <p:sp>
        <p:nvSpPr>
          <p:cNvPr id="11" name="Oval 10"/>
          <p:cNvSpPr/>
          <p:nvPr/>
        </p:nvSpPr>
        <p:spPr>
          <a:xfrm>
            <a:off x="3511550" y="1701800"/>
            <a:ext cx="101600" cy="101600"/>
          </a:xfrm>
          <a:prstGeom prst="ellipse">
            <a:avLst/>
          </a:prstGeom>
          <a:solidFill>
            <a:srgbClr val="8C939E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550" y="1955800"/>
            <a:ext cx="247015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Two teams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550" y="2299208"/>
            <a:ext cx="24701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Checks are advisory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1422400"/>
            <a:ext cx="24701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Week 3</a:t>
            </a:r>
          </a:p>
        </p:txBody>
      </p:sp>
      <p:sp>
        <p:nvSpPr>
          <p:cNvPr id="15" name="Oval 14"/>
          <p:cNvSpPr/>
          <p:nvPr/>
        </p:nvSpPr>
        <p:spPr>
          <a:xfrm>
            <a:off x="6210300" y="1701800"/>
            <a:ext cx="101600" cy="101600"/>
          </a:xfrm>
          <a:prstGeom prst="ellipse">
            <a:avLst/>
          </a:prstGeom>
          <a:solidFill>
            <a:srgbClr val="8C939E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300" y="1955800"/>
            <a:ext cx="247015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Checks block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300" y="2299208"/>
            <a:ext cx="24701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For the two pilot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9050" y="1422400"/>
            <a:ext cx="24701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Week 4</a:t>
            </a:r>
          </a:p>
        </p:txBody>
      </p:sp>
      <p:sp>
        <p:nvSpPr>
          <p:cNvPr id="19" name="Oval 18"/>
          <p:cNvSpPr/>
          <p:nvPr/>
        </p:nvSpPr>
        <p:spPr>
          <a:xfrm>
            <a:off x="8909050" y="1701800"/>
            <a:ext cx="101600" cy="101600"/>
          </a:xfrm>
          <a:prstGeom prst="ellipse">
            <a:avLst/>
          </a:prstGeom>
          <a:solidFill>
            <a:srgbClr val="8C939E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9050" y="1955800"/>
            <a:ext cx="247015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9050" y="2299208"/>
            <a:ext cx="247015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Compare blockers found and time to fix</a:t>
            </a:r>
          </a:p>
        </p:txBody>
      </p:sp>
      <p:cxnSp>
        <p:nvCxnSpPr>
          <p:cNvPr id="22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3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DECISION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We judge the pilot on three measures agreed in advance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Lead"/>
          <p:cNvSpPr txBox="1"/>
          <p:nvPr/>
        </p:nvSpPr>
        <p:spPr>
          <a:xfrm>
            <a:off x="812800" y="1422400"/>
            <a:ext cx="10566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The pilot continues only if the measures improve without slowing merges.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943608"/>
            <a:ext cx="9509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3520" indent="-22352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Share of blockers found before merge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— target: a clear majority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358135"/>
            <a:ext cx="9509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3520" indent="-22352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Median time to fix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— target: lower than on the release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772663"/>
            <a:ext cx="9509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3520" indent="-22352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Median time to merge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— must not grow by more than a small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319" y="3090671"/>
            <a:ext cx="9286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–"/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Measured on the same two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319" y="3353815"/>
            <a:ext cx="9286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–"/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before and during the pilot</a:t>
            </a:r>
          </a:p>
        </p:txBody>
      </p:sp>
      <p:cxnSp>
        <p:nvCxnSpPr>
          <p:cNvPr id="11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2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Teams opt in with one line in their pipeline file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ode panel"/>
          <p:cNvSpPr/>
          <p:nvPr/>
        </p:nvSpPr>
        <p:spPr>
          <a:xfrm>
            <a:off x="812800" y="1422400"/>
            <a:ext cx="10566400" cy="8112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Code"/>
          <p:cNvSpPr txBox="1"/>
          <p:nvPr/>
        </p:nvSpPr>
        <p:spPr>
          <a:xfrm>
            <a:off x="990600" y="1600200"/>
            <a:ext cx="10210800" cy="4556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328"/>
                </a:solidFill>
                <a:latin typeface="Consolas"/>
                <a:ea typeface="Malgun Gothic"/>
                <a:cs typeface="Consolas"/>
              </a:rPr>
              <a:t>checks: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328"/>
                </a:solidFill>
                <a:latin typeface="Consolas"/>
                <a:ea typeface="Malgun Gothic"/>
                <a:cs typeface="Consolas"/>
              </a:rPr>
              <a:t>  release-gates: enabled   # build, contract tests, migration dry run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8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Each gate can be switched off per repository while teams adopt it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5680456"/>
            <a:ext cx="1056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Wireframe of the pipeline settings screen; one gate is switched off.</a:t>
            </a:r>
          </a:p>
        </p:txBody>
      </p:sp>
      <p:pic>
        <p:nvPicPr>
          <p:cNvPr id="6" name="Image" descr="Pipeline settings screen with one toggle per release g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72" y="1422400"/>
            <a:ext cx="7389255" cy="4156455"/>
          </a:xfrm>
          <a:prstGeom prst="rect">
            <a:avLst/>
          </a:prstGeom>
        </p:spPr>
      </p:pic>
      <p:cxnSp>
        <p:nvCxnSpPr>
          <p:cNvPr id="7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8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Each role gets something concrete from the pilot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ard 1"/>
          <p:cNvSpPr/>
          <p:nvPr/>
        </p:nvSpPr>
        <p:spPr>
          <a:xfrm>
            <a:off x="812800" y="1422400"/>
            <a:ext cx="3369733" cy="11998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Authors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969008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A failing check points at their own change, while it is still fresh</a:t>
            </a:r>
          </a:p>
        </p:txBody>
      </p:sp>
      <p:sp>
        <p:nvSpPr>
          <p:cNvPr id="8" name="Card 2"/>
          <p:cNvSpPr/>
          <p:nvPr/>
        </p:nvSpPr>
        <p:spPr>
          <a:xfrm>
            <a:off x="4411133" y="1422400"/>
            <a:ext cx="3369733" cy="11998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8933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Reviewers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8933" y="1969008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Reviews start from a change that already builds and migrates</a:t>
            </a:r>
          </a:p>
        </p:txBody>
      </p:sp>
      <p:sp>
        <p:nvSpPr>
          <p:cNvPr id="11" name="Card 3"/>
          <p:cNvSpPr/>
          <p:nvPr/>
        </p:nvSpPr>
        <p:spPr>
          <a:xfrm>
            <a:off x="8009466" y="1422400"/>
            <a:ext cx="3369733" cy="1199895"/>
          </a:xfrm>
          <a:prstGeom prst="rect">
            <a:avLst/>
          </a:prstGeom>
          <a:solidFill>
            <a:srgbClr val="EEF2FB"/>
          </a:solidFill>
          <a:ln w="12700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7266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Release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7266" y="1969008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Release week stops being the first time the checks run together</a:t>
            </a:r>
          </a:p>
        </p:txBody>
      </p:sp>
      <p:cxnSp>
        <p:nvCxnSpPr>
          <p:cNvPr id="1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2361691"/>
            <a:ext cx="38100" cy="1626616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" name="Quote"/>
          <p:cNvSpPr txBox="1"/>
          <p:nvPr/>
        </p:nvSpPr>
        <p:spPr>
          <a:xfrm>
            <a:off x="1270000" y="2310891"/>
            <a:ext cx="8453120" cy="1728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“We stopped dreading release week once failures arrived one change at a time.”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0" y="4267708"/>
            <a:ext cx="8453120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Team lead · illustrative quote for the sample deck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262123"/>
            <a:ext cx="9087104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THE ASK</a:t>
            </a:r>
          </a:p>
        </p:txBody>
      </p:sp>
      <p:sp>
        <p:nvSpPr>
          <p:cNvPr id="3" name="Statement"/>
          <p:cNvSpPr txBox="1"/>
          <p:nvPr/>
        </p:nvSpPr>
        <p:spPr>
          <a:xfrm>
            <a:off x="812800" y="2592323"/>
            <a:ext cx="9087104" cy="1152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Approve a </a:t>
            </a:r>
            <a:r>
              <a:rPr sz="36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four-week pilot</a:t>
            </a: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 with two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73067"/>
            <a:ext cx="908710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We return with the three measures and a go / no-go recommendation.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12800" y="2441447"/>
            <a:ext cx="10566400" cy="877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47871"/>
            <a:ext cx="10566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Questions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54779"/>
            <a:ext cx="1056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platform-team@example.com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deckkit (python-pptx)</Application>
  <PresentationFormat>On-screen Show (16:9)</PresentationFormat>
  <Slides>18</Slides>
  <Notes>18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Moving release checks earlier</dc:title>
  <dc:subject>Agree to run the automated release checks on every pull request</dc:subject>
  <dc:creator>Presenter Name</dc:creator>
  <cp:keywords/>
  <dc:description/>
  <cp:lastModifiedBy>Presenter Name</cp:lastModifiedBy>
  <cp:revision>1</cp:revision>
  <dcterms:created xsi:type="dcterms:W3CDTF">2026-10-18T16:48:28Z</dcterms:created>
  <dcterms:modified xsi:type="dcterms:W3CDTF">2026-10-18T16:48:28Z</dcterms:modified>
  <cp:category/>
</cp:coreProperties>
</file>