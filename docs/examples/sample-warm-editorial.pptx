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hours to fix</c:v>
                </c:pt>
              </c:strCache>
            </c:strRef>
          </c:tx>
          <c:spPr>
            <a:solidFill>
              <a:srgbClr val="AEA6A0"/>
            </a:solidFill>
          </c:spPr>
          <c:dPt>
            <c:idx val="2"/>
            <c:spPr>
              <a:solidFill>
                <a:srgbClr val="9C4422"/>
              </a:solidFill>
            </c:spPr>
          </c:dPt>
          <c:cat>
            <c:strRef>
              <c:f>Sheet1!$A$2:$A$5</c:f>
              <c:strCache>
                <c:ptCount val="4"/>
                <c:pt idx="0">
                  <c:v>Pull request</c:v>
                </c:pt>
                <c:pt idx="1">
                  <c:v>Main branch</c:v>
                </c:pt>
                <c:pt idx="2">
                  <c:v>Release branch</c:v>
                </c:pt>
                <c:pt idx="3">
                  <c:v>Production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9</c:v>
                </c:pt>
                <c:pt idx="2">
                  <c:v>31</c:v>
                </c:pt>
                <c:pt idx="3">
                  <c:v>58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2B21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DBD1"/>
            </a:solidFill>
          </a:ln>
        </c:spPr>
        <c:txPr>
          <a:bodyPr/>
          <a:lstStyle/>
          <a:p>
            <a:pPr>
              <a:defRPr sz="1100">
                <a:solidFill>
                  <a:srgbClr val="4A3F3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5E5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 am asking for one decision: a four-week pilot that moves our release checks from the release branch to every pull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answer three questions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one page: blockers are found late and cost ten times more to fix there. Running the same checks per pull request fixes that, and the pilot is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where we find release blockers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blockers appear late, and each one costs more than two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release branch is where the cost jumps.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what the change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about the checks changes; only when they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migration dry run is the new gate; the others exist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only new infrastructure, and it never touches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recommend the shared pool for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decision point is at the end of week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measures are agreed now so the result is not argued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Opting in is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Teams keep control during the pilot; any gate can be turned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biggest relief is for release managers.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with a real, approved quote or delete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is the decision I am asking for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807464"/>
            <a:ext cx="8664448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Engineering review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1190548"/>
            <a:ext cx="8664448" cy="2457907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48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Catch release blockers while the change is still small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12800" y="3877055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A proposal to run release checks on every pull request</a:t>
            </a:r>
          </a:p>
        </p:txBody>
      </p:sp>
      <p:sp>
        <p:nvSpPr>
          <p:cNvPr id="5" name="Presenter"/>
          <p:cNvSpPr txBox="1"/>
          <p:nvPr/>
        </p:nvSpPr>
        <p:spPr>
          <a:xfrm>
            <a:off x="812800" y="5638800"/>
            <a:ext cx="8664448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Presenter Name · Platform team ·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AGENDA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Three questions decide whether the pilot is worth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4224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2400" y="1422400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Where release blockers are found today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12800" y="1981200"/>
            <a:ext cx="7396480" cy="0"/>
          </a:xfrm>
          <a:prstGeom prst="line">
            <a:avLst/>
          </a:prstGeom>
          <a:ln w="6350">
            <a:solidFill>
              <a:srgbClr val="E3DBD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12800" y="19812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2400" y="1981200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What changes when checks run per pull request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2800" y="2540000"/>
            <a:ext cx="7396480" cy="0"/>
          </a:xfrm>
          <a:prstGeom prst="line">
            <a:avLst/>
          </a:prstGeom>
          <a:ln w="6350">
            <a:solidFill>
              <a:srgbClr val="E3DBD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12800" y="25400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2400" y="2540000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What the pilot costs and how we judge 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2800" y="3098800"/>
            <a:ext cx="7396480" cy="0"/>
          </a:xfrm>
          <a:prstGeom prst="line">
            <a:avLst/>
          </a:prstGeom>
          <a:ln w="6350">
            <a:solidFill>
              <a:srgbClr val="E3DBD1"/>
            </a:solidFill>
          </a:ln>
        </p:spPr>
      </p:cxnSp>
      <p:sp>
        <p:nvSpPr>
          <p:cNvPr id="13" name="Footer"/>
          <p:cNvSpPr txBox="1"/>
          <p:nvPr/>
        </p:nvSpPr>
        <p:spPr>
          <a:xfrm>
            <a:off x="812800" y="6426200"/>
            <a:ext cx="660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Example Corp — internal</a:t>
            </a:r>
          </a:p>
        </p:txBody>
      </p:sp>
      <p:sp>
        <p:nvSpPr>
          <p:cNvPr id="14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Checking every pull request finds blockers while they are cheap</a:t>
            </a:r>
          </a:p>
        </p:txBody>
      </p:sp>
      <p:sp>
        <p:nvSpPr>
          <p:cNvPr id="4" name="So what"/>
          <p:cNvSpPr/>
          <p:nvPr/>
        </p:nvSpPr>
        <p:spPr>
          <a:xfrm>
            <a:off x="812800" y="5320792"/>
            <a:ext cx="10566400" cy="597408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 what rule"/>
          <p:cNvSpPr/>
          <p:nvPr/>
        </p:nvSpPr>
        <p:spPr>
          <a:xfrm>
            <a:off x="812800" y="5320792"/>
            <a:ext cx="25400" cy="597408"/>
          </a:xfrm>
          <a:prstGeom prst="rect">
            <a:avLst/>
          </a:prstGeom>
          <a:solidFill>
            <a:srgbClr val="9C4422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So what text"/>
          <p:cNvSpPr txBox="1"/>
          <p:nvPr/>
        </p:nvSpPr>
        <p:spPr>
          <a:xfrm>
            <a:off x="990600" y="5473192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Approve a four-week pilot with two teams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2800" y="1422400"/>
            <a:ext cx="3369733" cy="0"/>
          </a:xfrm>
          <a:prstGeom prst="line">
            <a:avLst/>
          </a:prstGeom>
          <a:ln w="9525">
            <a:solidFill>
              <a:srgbClr val="E3DBD1"/>
            </a:solidFill>
          </a:ln>
        </p:spPr>
      </p:cxnSp>
      <p:sp>
        <p:nvSpPr>
          <p:cNvPr id="8" name="Summary 01"/>
          <p:cNvSpPr txBox="1"/>
          <p:nvPr/>
        </p:nvSpPr>
        <p:spPr>
          <a:xfrm>
            <a:off x="812800" y="1549400"/>
            <a:ext cx="3369733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179070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Where blockers are found today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812800" y="2159508"/>
            <a:ext cx="3369733" cy="10500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9C4422"/>
              </a:buClr>
              <a:buChar char="•"/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Most blockers surface only after the branch is cut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9C4422"/>
              </a:buClr>
              <a:buChar char="•"/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A blocker found on the release branch takes about 10x longer to fix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11133" y="1422400"/>
            <a:ext cx="3369733" cy="0"/>
          </a:xfrm>
          <a:prstGeom prst="line">
            <a:avLst/>
          </a:prstGeom>
          <a:ln w="9525">
            <a:solidFill>
              <a:srgbClr val="E3DBD1"/>
            </a:solidFill>
          </a:ln>
        </p:spPr>
      </p:cxnSp>
      <p:sp>
        <p:nvSpPr>
          <p:cNvPr id="12" name="Summary 02"/>
          <p:cNvSpPr txBox="1"/>
          <p:nvPr/>
        </p:nvSpPr>
        <p:spPr>
          <a:xfrm>
            <a:off x="4411133" y="1549400"/>
            <a:ext cx="3369733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1133" y="179070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What changes per pull request</a:t>
            </a:r>
          </a:p>
        </p:txBody>
      </p:sp>
      <p:sp>
        <p:nvSpPr>
          <p:cNvPr id="14" name="Bullets"/>
          <p:cNvSpPr txBox="1"/>
          <p:nvPr/>
        </p:nvSpPr>
        <p:spPr>
          <a:xfrm>
            <a:off x="4411133" y="2159508"/>
            <a:ext cx="3369733" cy="10500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9C4422"/>
              </a:buClr>
              <a:buChar char="•"/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The same checks run earlier, on one change at a time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9C4422"/>
              </a:buClr>
              <a:buChar char="•"/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Checks run in an isolated runner and never touch production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9466" y="1422400"/>
            <a:ext cx="3369734" cy="0"/>
          </a:xfrm>
          <a:prstGeom prst="line">
            <a:avLst/>
          </a:prstGeom>
          <a:ln w="9525">
            <a:solidFill>
              <a:srgbClr val="E3DBD1"/>
            </a:solidFill>
          </a:ln>
        </p:spPr>
      </p:cxnSp>
      <p:sp>
        <p:nvSpPr>
          <p:cNvPr id="16" name="Summary 03"/>
          <p:cNvSpPr txBox="1"/>
          <p:nvPr/>
        </p:nvSpPr>
        <p:spPr>
          <a:xfrm>
            <a:off x="8009466" y="1549400"/>
            <a:ext cx="3369733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9466" y="179070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What the pilot costs</a:t>
            </a:r>
          </a:p>
        </p:txBody>
      </p:sp>
      <p:sp>
        <p:nvSpPr>
          <p:cNvPr id="18" name="Bullets"/>
          <p:cNvSpPr txBox="1"/>
          <p:nvPr/>
        </p:nvSpPr>
        <p:spPr>
          <a:xfrm>
            <a:off x="8009466" y="2159508"/>
            <a:ext cx="3369733" cy="10500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9C4422"/>
              </a:buClr>
              <a:buChar char="•"/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One shared runner pool and two weeks of setup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9C4422"/>
              </a:buClr>
              <a:buChar char="•"/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A go / no-go decision after four weeks, on measures agreed now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812800" y="6426200"/>
            <a:ext cx="660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Example Corp — internal</a:t>
            </a:r>
          </a:p>
        </p:txBody>
      </p:sp>
      <p:sp>
        <p:nvSpPr>
          <p:cNvPr id="20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812800" y="2139188"/>
            <a:ext cx="84531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522829"/>
            <a:ext cx="8453120" cy="81930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Where blockers are found today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Current state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Most blockers surface only after the branch is cut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Source: Illustrative data, sample deck</a:t>
            </a:r>
          </a:p>
        </p:txBody>
      </p:sp>
      <p:sp>
        <p:nvSpPr>
          <p:cNvPr id="5" name="Stat 1"/>
          <p:cNvSpPr txBox="1"/>
          <p:nvPr/>
        </p:nvSpPr>
        <p:spPr>
          <a:xfrm>
            <a:off x="812800" y="1422400"/>
            <a:ext cx="3369733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9C4422"/>
                </a:solidFill>
                <a:latin typeface="Georgia"/>
                <a:ea typeface="Malgun Gothic"/>
                <a:cs typeface="Georgia"/>
              </a:rPr>
              <a:t>71%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12800" y="2067560"/>
            <a:ext cx="3369733" cy="0"/>
          </a:xfrm>
          <a:prstGeom prst="line">
            <a:avLst/>
          </a:prstGeom>
          <a:ln w="9525">
            <a:solidFill>
              <a:srgbClr val="E3DBD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12800" y="219456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found on the release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537968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Illustrative figure for the sample deck</a:t>
            </a:r>
          </a:p>
        </p:txBody>
      </p:sp>
      <p:sp>
        <p:nvSpPr>
          <p:cNvPr id="9" name="Stat 2"/>
          <p:cNvSpPr txBox="1"/>
          <p:nvPr/>
        </p:nvSpPr>
        <p:spPr>
          <a:xfrm>
            <a:off x="4411133" y="1422400"/>
            <a:ext cx="3369733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2.4 days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11133" y="2067560"/>
            <a:ext cx="3369733" cy="0"/>
          </a:xfrm>
          <a:prstGeom prst="line">
            <a:avLst/>
          </a:prstGeom>
          <a:ln w="9525">
            <a:solidFill>
              <a:srgbClr val="E3DBD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4411133" y="219456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median delay per blocker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1133" y="2537968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From detection to merged fix</a:t>
            </a:r>
          </a:p>
        </p:txBody>
      </p:sp>
      <p:sp>
        <p:nvSpPr>
          <p:cNvPr id="13" name="Stat 3"/>
          <p:cNvSpPr txBox="1"/>
          <p:nvPr/>
        </p:nvSpPr>
        <p:spPr>
          <a:xfrm>
            <a:off x="8009466" y="1422400"/>
            <a:ext cx="3369733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3 of 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09466" y="2067560"/>
            <a:ext cx="3369734" cy="0"/>
          </a:xfrm>
          <a:prstGeom prst="line">
            <a:avLst/>
          </a:prstGeom>
          <a:ln w="9525">
            <a:solidFill>
              <a:srgbClr val="E3DBD1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009466" y="219456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blockers trace to one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9466" y="2537968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The rest combine two or more changes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812800" y="6426200"/>
            <a:ext cx="660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Example Corp — internal</a:t>
            </a:r>
          </a:p>
        </p:txBody>
      </p:sp>
      <p:sp>
        <p:nvSpPr>
          <p:cNvPr id="18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Current state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The later a blocker is found, the longer the fix takes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Source: Illustrative data, sample deck</a:t>
            </a:r>
          </a:p>
        </p:txBody>
      </p:sp>
      <p:sp>
        <p:nvSpPr>
          <p:cNvPr id="5" name="Commentary"/>
          <p:cNvSpPr txBox="1"/>
          <p:nvPr/>
        </p:nvSpPr>
        <p:spPr>
          <a:xfrm>
            <a:off x="8161866" y="1422400"/>
            <a:ext cx="3217333" cy="8778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Fixing on the release branch takes </a:t>
            </a:r>
            <a:r>
              <a:rPr sz="1600" b="1" i="0">
                <a:solidFill>
                  <a:srgbClr val="9C4422"/>
                </a:solidFill>
                <a:latin typeface="Arial"/>
                <a:ea typeface="Malgun Gothic"/>
                <a:cs typeface="Arial"/>
              </a:rPr>
              <a:t>10x longer</a:t>
            </a: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 than fixing in the pull request.</a:t>
            </a:r>
          </a:p>
        </p:txBody>
      </p:sp>
      <p:sp>
        <p:nvSpPr>
          <p:cNvPr id="6" name="Commentary rule"/>
          <p:cNvSpPr/>
          <p:nvPr/>
        </p:nvSpPr>
        <p:spPr>
          <a:xfrm>
            <a:off x="8009466" y="1422400"/>
            <a:ext cx="25400" cy="877824"/>
          </a:xfrm>
          <a:prstGeom prst="rect">
            <a:avLst/>
          </a:prstGeom>
          <a:solidFill>
            <a:srgbClr val="9C4422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1422400"/>
            <a:ext cx="6968066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Median hours to fix</a:t>
            </a:r>
          </a:p>
        </p:txBody>
      </p:sp>
      <p:graphicFrame>
        <p:nvGraphicFramePr>
          <p:cNvPr id="8" name="Chart"/>
          <p:cNvGraphicFramePr>
            <a:graphicFrameLocks noGrp="1"/>
          </p:cNvGraphicFramePr>
          <p:nvPr/>
        </p:nvGraphicFramePr>
        <p:xfrm>
          <a:off x="812800" y="1673860"/>
          <a:ext cx="6968066" cy="392049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Footer"/>
          <p:cNvSpPr txBox="1"/>
          <p:nvPr/>
        </p:nvSpPr>
        <p:spPr>
          <a:xfrm>
            <a:off x="812800" y="6426200"/>
            <a:ext cx="660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Example Corp — internal</a:t>
            </a:r>
          </a:p>
        </p:txBody>
      </p:sp>
      <p:sp>
        <p:nvSpPr>
          <p:cNvPr id="10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812800" y="2139188"/>
            <a:ext cx="84531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522829"/>
            <a:ext cx="8453120" cy="81930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What changes per pull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Proposal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The same checks run earlier, on a smaller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422400"/>
            <a:ext cx="49403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Today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812800" y="1816608"/>
            <a:ext cx="4940300" cy="9113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9C4422"/>
              </a:buClr>
              <a:buChar char="•"/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Checks run once, on the release branch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9C4422"/>
              </a:buClr>
              <a:buChar char="•"/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A failure blocks every change in the release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9C4422"/>
              </a:buClr>
              <a:buChar char="•"/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The author has moved on to other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8900" y="1422400"/>
            <a:ext cx="49403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Proposed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438900" y="1816608"/>
            <a:ext cx="4940300" cy="9113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9C4422"/>
              </a:buClr>
              <a:buChar char="•"/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Checks run on every pull request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9C4422"/>
              </a:buClr>
              <a:buChar char="•"/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A failure blocks only that change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9C4422"/>
              </a:buClr>
              <a:buChar char="•"/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The author fixes it while the context is fresh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3100" y="1422400"/>
            <a:ext cx="685800" cy="130555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9C4422"/>
                </a:solidFill>
                <a:latin typeface="Arial"/>
                <a:ea typeface="Malgun Gothic"/>
                <a:cs typeface="Arial"/>
              </a:rPr>
              <a:t>→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812800" y="6426200"/>
            <a:ext cx="660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Example Corp — internal</a:t>
            </a:r>
          </a:p>
        </p:txBody>
      </p:sp>
      <p:sp>
        <p:nvSpPr>
          <p:cNvPr id="10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Proposal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A pull request passes four gates before merge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2298700" cy="38100"/>
          </a:xfrm>
          <a:prstGeom prst="rect">
            <a:avLst/>
          </a:prstGeom>
          <a:solidFill>
            <a:srgbClr val="E3DBD1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600200"/>
            <a:ext cx="2298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866900"/>
            <a:ext cx="22987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235708"/>
            <a:ext cx="22987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Compile and package exactly as the release does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25800" y="1441450"/>
            <a:ext cx="228600" cy="0"/>
          </a:xfrm>
          <a:prstGeom prst="line">
            <a:avLst/>
          </a:prstGeom>
          <a:ln w="12700">
            <a:solidFill>
              <a:srgbClr val="6B5E52"/>
            </a:solidFill>
            <a:tailEnd type="triangle" w="med" len="med"/>
          </a:ln>
        </p:spPr>
      </p:cxnSp>
      <p:sp>
        <p:nvSpPr>
          <p:cNvPr id="9" name="Rectangle 8"/>
          <p:cNvSpPr/>
          <p:nvPr/>
        </p:nvSpPr>
        <p:spPr>
          <a:xfrm>
            <a:off x="3568700" y="1422400"/>
            <a:ext cx="2298700" cy="38100"/>
          </a:xfrm>
          <a:prstGeom prst="rect">
            <a:avLst/>
          </a:prstGeom>
          <a:solidFill>
            <a:srgbClr val="E3DBD1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8700" y="1600200"/>
            <a:ext cx="2298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8700" y="1866900"/>
            <a:ext cx="22987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Contract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8700" y="2235708"/>
            <a:ext cx="22987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Verify public interfaces against consumers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1700" y="1441450"/>
            <a:ext cx="228600" cy="0"/>
          </a:xfrm>
          <a:prstGeom prst="line">
            <a:avLst/>
          </a:prstGeom>
          <a:ln w="12700">
            <a:solidFill>
              <a:srgbClr val="6B5E52"/>
            </a:solidFill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6324600" y="1422400"/>
            <a:ext cx="2298700" cy="38100"/>
          </a:xfrm>
          <a:prstGeom prst="rect">
            <a:avLst/>
          </a:prstGeom>
          <a:solidFill>
            <a:srgbClr val="9C4422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600" y="1600200"/>
            <a:ext cx="2298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1866900"/>
            <a:ext cx="22987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Migration dry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600" y="2235708"/>
            <a:ext cx="22987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Apply schema changes to a production snapshot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37600" y="1441450"/>
            <a:ext cx="228600" cy="0"/>
          </a:xfrm>
          <a:prstGeom prst="line">
            <a:avLst/>
          </a:prstGeom>
          <a:ln w="12700">
            <a:solidFill>
              <a:srgbClr val="6B5E52"/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9080500" y="1422400"/>
            <a:ext cx="2298700" cy="38100"/>
          </a:xfrm>
          <a:prstGeom prst="rect">
            <a:avLst/>
          </a:prstGeom>
          <a:solidFill>
            <a:srgbClr val="E3DBD1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0500" y="1600200"/>
            <a:ext cx="2298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0500" y="1866900"/>
            <a:ext cx="22987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0500" y="2235708"/>
            <a:ext cx="22987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Merge only when all three checks pass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812800" y="6426200"/>
            <a:ext cx="660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Example Corp — internal</a:t>
            </a:r>
          </a:p>
        </p:txBody>
      </p:sp>
      <p:sp>
        <p:nvSpPr>
          <p:cNvPr id="24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Proposal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Checks run in an isolated runner, never against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5680456"/>
            <a:ext cx="1056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The runner reads a masked snapshot; it holds no production credentials.</a:t>
            </a:r>
          </a:p>
        </p:txBody>
      </p:sp>
      <p:sp>
        <p:nvSpPr>
          <p:cNvPr id="5" name="Group CI environment"/>
          <p:cNvSpPr/>
          <p:nvPr/>
        </p:nvSpPr>
        <p:spPr>
          <a:xfrm>
            <a:off x="3505200" y="1473200"/>
            <a:ext cx="5181600" cy="3505200"/>
          </a:xfrm>
          <a:prstGeom prst="roundRect">
            <a:avLst>
              <a:gd name="adj" fmla="val 2173"/>
            </a:avLst>
          </a:prstGeom>
          <a:noFill/>
          <a:ln w="9525">
            <a:solidFill>
              <a:srgbClr val="9C8F8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6800" y="1536700"/>
            <a:ext cx="49784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CI environment</a:t>
            </a:r>
          </a:p>
        </p:txBody>
      </p:sp>
      <p:sp>
        <p:nvSpPr>
          <p:cNvPr id="7" name="Node pr"/>
          <p:cNvSpPr/>
          <p:nvPr/>
        </p:nvSpPr>
        <p:spPr>
          <a:xfrm>
            <a:off x="1288288" y="1955800"/>
            <a:ext cx="1690624" cy="736600"/>
          </a:xfrm>
          <a:prstGeom prst="roundRect">
            <a:avLst>
              <a:gd name="adj" fmla="val 10344"/>
            </a:avLst>
          </a:prstGeom>
          <a:solidFill>
            <a:srgbClr val="FFFCF7"/>
          </a:solidFill>
          <a:ln w="9525">
            <a:solidFill>
              <a:srgbClr val="6B5E52"/>
            </a:solidFill>
            <a:prstDash val="dash"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8" name="Label pr"/>
          <p:cNvSpPr txBox="1"/>
          <p:nvPr/>
        </p:nvSpPr>
        <p:spPr>
          <a:xfrm>
            <a:off x="1389888" y="1955800"/>
            <a:ext cx="1487424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Pull request</a:t>
            </a:r>
          </a:p>
        </p:txBody>
      </p:sp>
      <p:sp>
        <p:nvSpPr>
          <p:cNvPr id="9" name="Node runner"/>
          <p:cNvSpPr/>
          <p:nvPr/>
        </p:nvSpPr>
        <p:spPr>
          <a:xfrm>
            <a:off x="3929888" y="1955800"/>
            <a:ext cx="1690624" cy="736600"/>
          </a:xfrm>
          <a:prstGeom prst="roundRect">
            <a:avLst>
              <a:gd name="adj" fmla="val 10344"/>
            </a:avLst>
          </a:prstGeom>
          <a:solidFill>
            <a:srgbClr val="F5ECE9"/>
          </a:solidFill>
          <a:ln w="15875">
            <a:solidFill>
              <a:srgbClr val="9C442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0" name="Label runner"/>
          <p:cNvSpPr txBox="1"/>
          <p:nvPr/>
        </p:nvSpPr>
        <p:spPr>
          <a:xfrm>
            <a:off x="4031488" y="1955800"/>
            <a:ext cx="1487424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Check runner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isolated</a:t>
            </a:r>
          </a:p>
        </p:txBody>
      </p:sp>
      <p:sp>
        <p:nvSpPr>
          <p:cNvPr id="11" name="Node snap"/>
          <p:cNvSpPr/>
          <p:nvPr/>
        </p:nvSpPr>
        <p:spPr>
          <a:xfrm>
            <a:off x="6571488" y="1955800"/>
            <a:ext cx="1690624" cy="736600"/>
          </a:xfrm>
          <a:prstGeom prst="can">
            <a:avLst/>
          </a:prstGeom>
          <a:solidFill>
            <a:srgbClr val="FFFCF7"/>
          </a:solidFill>
          <a:ln w="9525">
            <a:solidFill>
              <a:srgbClr val="6B5E5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2" name="Label snap"/>
          <p:cNvSpPr txBox="1"/>
          <p:nvPr/>
        </p:nvSpPr>
        <p:spPr>
          <a:xfrm>
            <a:off x="6673088" y="1955800"/>
            <a:ext cx="1487424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Snapshot DB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masked copy</a:t>
            </a:r>
          </a:p>
        </p:txBody>
      </p:sp>
      <p:sp>
        <p:nvSpPr>
          <p:cNvPr id="13" name="Node report"/>
          <p:cNvSpPr/>
          <p:nvPr/>
        </p:nvSpPr>
        <p:spPr>
          <a:xfrm>
            <a:off x="3929888" y="3759200"/>
            <a:ext cx="1690624" cy="736600"/>
          </a:xfrm>
          <a:prstGeom prst="roundRect">
            <a:avLst>
              <a:gd name="adj" fmla="val 10344"/>
            </a:avLst>
          </a:prstGeom>
          <a:solidFill>
            <a:srgbClr val="FFFCF7"/>
          </a:solidFill>
          <a:ln w="9525">
            <a:solidFill>
              <a:srgbClr val="6B5E5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4" name="Label report"/>
          <p:cNvSpPr txBox="1"/>
          <p:nvPr/>
        </p:nvSpPr>
        <p:spPr>
          <a:xfrm>
            <a:off x="4031488" y="3759200"/>
            <a:ext cx="1487424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Check report</a:t>
            </a:r>
          </a:p>
        </p:txBody>
      </p:sp>
      <p:sp>
        <p:nvSpPr>
          <p:cNvPr id="15" name="Node merge"/>
          <p:cNvSpPr/>
          <p:nvPr/>
        </p:nvSpPr>
        <p:spPr>
          <a:xfrm>
            <a:off x="9213088" y="3759200"/>
            <a:ext cx="1690624" cy="736600"/>
          </a:xfrm>
          <a:prstGeom prst="roundRect">
            <a:avLst>
              <a:gd name="adj" fmla="val 10344"/>
            </a:avLst>
          </a:prstGeom>
          <a:solidFill>
            <a:srgbClr val="FFFCF7"/>
          </a:solidFill>
          <a:ln w="9525">
            <a:solidFill>
              <a:srgbClr val="6B5E5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6" name="Label merge"/>
          <p:cNvSpPr txBox="1"/>
          <p:nvPr/>
        </p:nvSpPr>
        <p:spPr>
          <a:xfrm>
            <a:off x="9314688" y="3759200"/>
            <a:ext cx="1487424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Merge gate</a:t>
            </a:r>
          </a:p>
        </p:txBody>
      </p:sp>
      <p:cxnSp>
        <p:nvCxnSpPr>
          <p:cNvPr id="17" name="Edge pr-runner"/>
          <p:cNvCxnSpPr>
            <a:stCxn id="7" idx="3"/>
            <a:endCxn id="9" idx="1"/>
          </p:cNvCxnSpPr>
          <p:nvPr/>
        </p:nvCxnSpPr>
        <p:spPr>
          <a:xfrm flipV="1">
            <a:off x="2978912" y="2324100"/>
            <a:ext cx="950976" cy="0"/>
          </a:xfrm>
          <a:prstGeom prst="line">
            <a:avLst/>
          </a:prstGeom>
          <a:ln w="19050">
            <a:solidFill>
              <a:srgbClr val="9C4422"/>
            </a:solidFill>
            <a:tailEnd type="triangle" w="med" len="med"/>
          </a:ln>
        </p:spPr>
      </p:cxnSp>
      <p:sp>
        <p:nvSpPr>
          <p:cNvPr id="18" name="Edge label"/>
          <p:cNvSpPr txBox="1"/>
          <p:nvPr/>
        </p:nvSpPr>
        <p:spPr>
          <a:xfrm>
            <a:off x="3137383" y="2089150"/>
            <a:ext cx="634033" cy="209550"/>
          </a:xfrm>
          <a:prstGeom prst="rect">
            <a:avLst/>
          </a:prstGeom>
          <a:solidFill>
            <a:srgbClr val="FFFCF7"/>
          </a:solidFill>
        </p:spPr>
        <p:txBody>
          <a:bodyPr wrap="square" lIns="12700" tIns="12700" rIns="12700" bIns="127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on push</a:t>
            </a:r>
          </a:p>
        </p:txBody>
      </p:sp>
      <p:cxnSp>
        <p:nvCxnSpPr>
          <p:cNvPr id="19" name="Edge runner-snap"/>
          <p:cNvCxnSpPr>
            <a:stCxn id="9" idx="3"/>
            <a:endCxn id="11" idx="1"/>
          </p:cNvCxnSpPr>
          <p:nvPr/>
        </p:nvCxnSpPr>
        <p:spPr>
          <a:xfrm flipV="1">
            <a:off x="5620512" y="2324100"/>
            <a:ext cx="950976" cy="0"/>
          </a:xfrm>
          <a:prstGeom prst="line">
            <a:avLst/>
          </a:prstGeom>
          <a:ln w="12700">
            <a:solidFill>
              <a:srgbClr val="6B5E52"/>
            </a:solidFill>
            <a:tailEnd type="triangle" w="med" len="med"/>
          </a:ln>
        </p:spPr>
      </p:cxnSp>
      <p:sp>
        <p:nvSpPr>
          <p:cNvPr id="20" name="Edge label"/>
          <p:cNvSpPr txBox="1"/>
          <p:nvPr/>
        </p:nvSpPr>
        <p:spPr>
          <a:xfrm>
            <a:off x="5810777" y="2089150"/>
            <a:ext cx="570445" cy="209550"/>
          </a:xfrm>
          <a:prstGeom prst="rect">
            <a:avLst/>
          </a:prstGeom>
          <a:solidFill>
            <a:srgbClr val="FFFCF7"/>
          </a:solidFill>
        </p:spPr>
        <p:txBody>
          <a:bodyPr wrap="square" lIns="12700" tIns="12700" rIns="12700" bIns="127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dry run</a:t>
            </a:r>
          </a:p>
        </p:txBody>
      </p:sp>
      <p:cxnSp>
        <p:nvCxnSpPr>
          <p:cNvPr id="21" name="Edge runner-report"/>
          <p:cNvCxnSpPr>
            <a:stCxn id="9" idx="2"/>
            <a:endCxn id="13" idx="0"/>
          </p:cNvCxnSpPr>
          <p:nvPr/>
        </p:nvCxnSpPr>
        <p:spPr>
          <a:xfrm flipH="1">
            <a:off x="4775200" y="2692400"/>
            <a:ext cx="0" cy="1066800"/>
          </a:xfrm>
          <a:prstGeom prst="line">
            <a:avLst/>
          </a:prstGeom>
          <a:ln w="12700">
            <a:solidFill>
              <a:srgbClr val="6B5E52"/>
            </a:solidFill>
            <a:tailEnd type="triangle" w="med" len="med"/>
          </a:ln>
        </p:spPr>
      </p:cxnSp>
      <p:cxnSp>
        <p:nvCxnSpPr>
          <p:cNvPr id="22" name="Edge report-merge"/>
          <p:cNvCxnSpPr>
            <a:stCxn id="13" idx="3"/>
            <a:endCxn id="15" idx="1"/>
          </p:cNvCxnSpPr>
          <p:nvPr/>
        </p:nvCxnSpPr>
        <p:spPr>
          <a:xfrm flipV="1">
            <a:off x="5620512" y="4127500"/>
            <a:ext cx="3592576" cy="0"/>
          </a:xfrm>
          <a:prstGeom prst="line">
            <a:avLst/>
          </a:prstGeom>
          <a:ln w="12700">
            <a:solidFill>
              <a:srgbClr val="6B5E52"/>
            </a:solidFill>
            <a:tailEnd type="triangle" w="med" len="med"/>
          </a:ln>
        </p:spPr>
      </p:cxnSp>
      <p:sp>
        <p:nvSpPr>
          <p:cNvPr id="23" name="Edge label"/>
          <p:cNvSpPr txBox="1"/>
          <p:nvPr/>
        </p:nvSpPr>
        <p:spPr>
          <a:xfrm>
            <a:off x="7052359" y="3892550"/>
            <a:ext cx="728881" cy="209550"/>
          </a:xfrm>
          <a:prstGeom prst="rect">
            <a:avLst/>
          </a:prstGeom>
          <a:solidFill>
            <a:srgbClr val="FFFCF7"/>
          </a:solidFill>
        </p:spPr>
        <p:txBody>
          <a:bodyPr wrap="square" lIns="12700" tIns="12700" rIns="12700" bIns="127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pass / fail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812800" y="6426200"/>
            <a:ext cx="660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Example Corp — internal</a:t>
            </a:r>
          </a:p>
        </p:txBody>
      </p:sp>
      <p:sp>
        <p:nvSpPr>
          <p:cNvPr id="25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Cost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The pilot needs one runner pool and two weeks of setup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812800" y="1473200"/>
          <a:ext cx="10566400" cy="268782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113280"/>
                <a:gridCol w="4226560"/>
                <a:gridCol w="4226560"/>
              </a:tblGrid>
              <a:tr h="424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6B5E52"/>
                          </a:solidFill>
                          <a:latin typeface="Arial"/>
                          <a:ea typeface="Malgun Gothic"/>
                          <a:cs typeface="Arial"/>
                        </a:rPr>
                        <a:t>Item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E3DBD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9C4422"/>
                          </a:solidFill>
                          <a:latin typeface="Arial"/>
                          <a:ea typeface="Malgun Gothic"/>
                          <a:cs typeface="Arial"/>
                        </a:rPr>
                        <a:t>Option A — shared pool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E3DBD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6B5E52"/>
                          </a:solidFill>
                          <a:latin typeface="Arial"/>
                          <a:ea typeface="Malgun Gothic"/>
                          <a:cs typeface="Arial"/>
                        </a:rPr>
                        <a:t>Option B — per team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E3DBD1"/>
                      </a:solidFill>
                    </a:lnB>
                    <a:noFill/>
                  </a:tcPr>
                </a:tc>
              </a:tr>
              <a:tr h="565911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118"/>
                          </a:solidFill>
                          <a:latin typeface="Arial"/>
                          <a:ea typeface="Malgun Gothic"/>
                          <a:cs typeface="Arial"/>
                        </a:rPr>
                        <a:t>Runner capacity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DBD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B2118"/>
                          </a:solidFill>
                          <a:latin typeface="Arial"/>
                          <a:ea typeface="Malgun Gothic"/>
                          <a:cs typeface="Arial"/>
                        </a:rPr>
                        <a:t>Shared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6B5E52"/>
                          </a:solidFill>
                          <a:latin typeface="Arial"/>
                          <a:ea typeface="Malgun Gothic"/>
                          <a:cs typeface="Arial"/>
                        </a:rPr>
                        <a:t>8 parallel jobs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DBD1"/>
                      </a:solidFill>
                    </a:lnB>
                    <a:solidFill>
                      <a:srgbClr val="F8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B2118"/>
                          </a:solidFill>
                          <a:latin typeface="Arial"/>
                          <a:ea typeface="Malgun Gothic"/>
                          <a:cs typeface="Arial"/>
                        </a:rPr>
                        <a:t>Dedicated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6B5E52"/>
                          </a:solidFill>
                          <a:latin typeface="Arial"/>
                          <a:ea typeface="Malgun Gothic"/>
                          <a:cs typeface="Arial"/>
                        </a:rPr>
                        <a:t>4 jobs per team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DBD1"/>
                      </a:solidFill>
                    </a:lnB>
                    <a:noFill/>
                  </a:tcPr>
                </a:tc>
              </a:tr>
              <a:tr h="565911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118"/>
                          </a:solidFill>
                          <a:latin typeface="Arial"/>
                          <a:ea typeface="Malgun Gothic"/>
                          <a:cs typeface="Arial"/>
                        </a:rPr>
                        <a:t>Setup effort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DBD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B2118"/>
                          </a:solidFill>
                          <a:latin typeface="Arial"/>
                          <a:ea typeface="Malgun Gothic"/>
                          <a:cs typeface="Arial"/>
                        </a:rPr>
                        <a:t>2 weeks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6B5E52"/>
                          </a:solidFill>
                          <a:latin typeface="Arial"/>
                          <a:ea typeface="Malgun Gothic"/>
                          <a:cs typeface="Arial"/>
                        </a:rPr>
                        <a:t>one platform engineer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DBD1"/>
                      </a:solidFill>
                    </a:lnB>
                    <a:solidFill>
                      <a:srgbClr val="F8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B2118"/>
                          </a:solidFill>
                          <a:latin typeface="Arial"/>
                          <a:ea typeface="Malgun Gothic"/>
                          <a:cs typeface="Arial"/>
                        </a:rPr>
                        <a:t>3 weeks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6B5E52"/>
                          </a:solidFill>
                          <a:latin typeface="Arial"/>
                          <a:ea typeface="Malgun Gothic"/>
                          <a:cs typeface="Arial"/>
                        </a:rPr>
                        <a:t>platform and each team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DBD1"/>
                      </a:solidFill>
                    </a:lnB>
                    <a:noFill/>
                  </a:tcPr>
                </a:tc>
              </a:tr>
              <a:tr h="565911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118"/>
                          </a:solidFill>
                          <a:latin typeface="Arial"/>
                          <a:ea typeface="Malgun Gothic"/>
                          <a:cs typeface="Arial"/>
                        </a:rPr>
                        <a:t>Monthly cost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DBD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B2118"/>
                          </a:solidFill>
                          <a:latin typeface="Arial"/>
                          <a:ea typeface="Malgun Gothic"/>
                          <a:cs typeface="Arial"/>
                        </a:rPr>
                        <a:t>Illustrative low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6B5E52"/>
                          </a:solidFill>
                          <a:latin typeface="Arial"/>
                          <a:ea typeface="Malgun Gothic"/>
                          <a:cs typeface="Arial"/>
                        </a:rPr>
                        <a:t>reuses idle capacity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DBD1"/>
                      </a:solidFill>
                    </a:lnB>
                    <a:solidFill>
                      <a:srgbClr val="F8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B2118"/>
                          </a:solidFill>
                          <a:latin typeface="Arial"/>
                          <a:ea typeface="Malgun Gothic"/>
                          <a:cs typeface="Arial"/>
                        </a:rPr>
                        <a:t>Illustrative high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6B5E52"/>
                          </a:solidFill>
                          <a:latin typeface="Arial"/>
                          <a:ea typeface="Malgun Gothic"/>
                          <a:cs typeface="Arial"/>
                        </a:rPr>
                        <a:t>new capacity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DBD1"/>
                      </a:solidFill>
                    </a:lnB>
                    <a:noFill/>
                  </a:tcPr>
                </a:tc>
              </a:tr>
              <a:tr h="565911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118"/>
                          </a:solidFill>
                          <a:latin typeface="Arial"/>
                          <a:ea typeface="Malgun Gothic"/>
                          <a:cs typeface="Arial"/>
                        </a:rPr>
                        <a:t>Isolation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E3DBD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B2118"/>
                          </a:solidFill>
                          <a:latin typeface="Arial"/>
                          <a:ea typeface="Malgun Gothic"/>
                          <a:cs typeface="Arial"/>
                        </a:rPr>
                        <a:t>Per job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6B5E52"/>
                          </a:solidFill>
                          <a:latin typeface="Arial"/>
                          <a:ea typeface="Malgun Gothic"/>
                          <a:cs typeface="Arial"/>
                        </a:rPr>
                        <a:t>sandboxed runners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E3DBD1"/>
                      </a:solidFill>
                    </a:lnB>
                    <a:solidFill>
                      <a:srgbClr val="F8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B2118"/>
                          </a:solidFill>
                          <a:latin typeface="Arial"/>
                          <a:ea typeface="Malgun Gothic"/>
                          <a:cs typeface="Arial"/>
                        </a:rPr>
                        <a:t>Per team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6B5E52"/>
                          </a:solidFill>
                          <a:latin typeface="Arial"/>
                          <a:ea typeface="Malgun Gothic"/>
                          <a:cs typeface="Arial"/>
                        </a:rPr>
                        <a:t>separate pools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E3DBD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926080" y="1447800"/>
            <a:ext cx="4226560" cy="25400"/>
          </a:xfrm>
          <a:prstGeom prst="roundRect">
            <a:avLst>
              <a:gd name="adj" fmla="val 50000"/>
            </a:avLst>
          </a:prstGeom>
          <a:solidFill>
            <a:srgbClr val="9C4422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Footer"/>
          <p:cNvSpPr txBox="1"/>
          <p:nvPr/>
        </p:nvSpPr>
        <p:spPr>
          <a:xfrm>
            <a:off x="812800" y="6426200"/>
            <a:ext cx="660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Example Corp — internal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Plan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Four weeks from setup to a go / no-go decision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12800" y="1752600"/>
            <a:ext cx="10566400" cy="0"/>
          </a:xfrm>
          <a:prstGeom prst="line">
            <a:avLst/>
          </a:prstGeom>
          <a:ln w="12700">
            <a:solidFill>
              <a:srgbClr val="E3DBD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812800" y="1422400"/>
            <a:ext cx="24701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Week 1</a:t>
            </a:r>
          </a:p>
        </p:txBody>
      </p:sp>
      <p:sp>
        <p:nvSpPr>
          <p:cNvPr id="6" name="Oval 5"/>
          <p:cNvSpPr/>
          <p:nvPr/>
        </p:nvSpPr>
        <p:spPr>
          <a:xfrm>
            <a:off x="812800" y="1701800"/>
            <a:ext cx="101600" cy="101600"/>
          </a:xfrm>
          <a:prstGeom prst="ellipse">
            <a:avLst/>
          </a:prstGeom>
          <a:solidFill>
            <a:srgbClr val="9C4422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1955800"/>
            <a:ext cx="247015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Set up runners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299208"/>
            <a:ext cx="247015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Shared pool and snapshot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550" y="1422400"/>
            <a:ext cx="24701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Week 2</a:t>
            </a:r>
          </a:p>
        </p:txBody>
      </p:sp>
      <p:sp>
        <p:nvSpPr>
          <p:cNvPr id="10" name="Oval 9"/>
          <p:cNvSpPr/>
          <p:nvPr/>
        </p:nvSpPr>
        <p:spPr>
          <a:xfrm>
            <a:off x="3511550" y="1701800"/>
            <a:ext cx="101600" cy="101600"/>
          </a:xfrm>
          <a:prstGeom prst="ellipse">
            <a:avLst/>
          </a:prstGeom>
          <a:solidFill>
            <a:srgbClr val="9C8F82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550" y="1955800"/>
            <a:ext cx="247015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Two teams 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550" y="2299208"/>
            <a:ext cx="247015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Checks are advisory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300" y="1422400"/>
            <a:ext cx="24701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Week 3</a:t>
            </a:r>
          </a:p>
        </p:txBody>
      </p:sp>
      <p:sp>
        <p:nvSpPr>
          <p:cNvPr id="14" name="Oval 13"/>
          <p:cNvSpPr/>
          <p:nvPr/>
        </p:nvSpPr>
        <p:spPr>
          <a:xfrm>
            <a:off x="6210300" y="1701800"/>
            <a:ext cx="101600" cy="101600"/>
          </a:xfrm>
          <a:prstGeom prst="ellipse">
            <a:avLst/>
          </a:prstGeom>
          <a:solidFill>
            <a:srgbClr val="9C8F82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0300" y="1955800"/>
            <a:ext cx="247015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Checks block 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300" y="2299208"/>
            <a:ext cx="247015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For the two pilot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9050" y="1422400"/>
            <a:ext cx="247015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Week 4</a:t>
            </a:r>
          </a:p>
        </p:txBody>
      </p:sp>
      <p:sp>
        <p:nvSpPr>
          <p:cNvPr id="18" name="Oval 17"/>
          <p:cNvSpPr/>
          <p:nvPr/>
        </p:nvSpPr>
        <p:spPr>
          <a:xfrm>
            <a:off x="8909050" y="1701800"/>
            <a:ext cx="101600" cy="101600"/>
          </a:xfrm>
          <a:prstGeom prst="ellipse">
            <a:avLst/>
          </a:prstGeom>
          <a:solidFill>
            <a:srgbClr val="9C8F82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09050" y="1955800"/>
            <a:ext cx="247015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9050" y="2299208"/>
            <a:ext cx="247015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Compare blockers found and time to fix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812800" y="6426200"/>
            <a:ext cx="660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Example Corp — internal</a:t>
            </a:r>
          </a:p>
        </p:txBody>
      </p:sp>
      <p:sp>
        <p:nvSpPr>
          <p:cNvPr id="22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Decision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We judge the pilot on three measures agreed in advance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812800" y="1422400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The pilot continues only if the measures improve without slowing merges.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812800" y="1943608"/>
            <a:ext cx="7620000" cy="1384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223520" indent="-223520">
              <a:lnSpc>
                <a:spcPct val="120000"/>
              </a:lnSpc>
              <a:buClr>
                <a:srgbClr val="9C4422"/>
              </a:buClr>
              <a:buChar char="•"/>
            </a:pPr>
            <a:r>
              <a:rPr sz="1600" b="1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Share of blockers found before merge</a:t>
            </a:r>
            <a:r>
              <a:rPr sz="16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 — target: a clear majority</a:t>
            </a:r>
          </a:p>
          <a:p>
            <a:pPr algn="l" marL="223520" indent="-223520">
              <a:lnSpc>
                <a:spcPct val="120000"/>
              </a:lnSpc>
              <a:spcBef>
                <a:spcPts val="960"/>
              </a:spcBef>
              <a:buClr>
                <a:srgbClr val="9C4422"/>
              </a:buClr>
              <a:buChar char="•"/>
            </a:pPr>
            <a:r>
              <a:rPr sz="1600" b="1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Median time to fix</a:t>
            </a:r>
            <a:r>
              <a:rPr sz="16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 — target: lower than on the release branch</a:t>
            </a:r>
          </a:p>
          <a:p>
            <a:pPr algn="l" marL="223520" indent="-223520">
              <a:lnSpc>
                <a:spcPct val="120000"/>
              </a:lnSpc>
              <a:spcBef>
                <a:spcPts val="960"/>
              </a:spcBef>
              <a:buClr>
                <a:srgbClr val="9C4422"/>
              </a:buClr>
              <a:buChar char="•"/>
            </a:pPr>
            <a:r>
              <a:rPr sz="1600" b="1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Median time to merge</a:t>
            </a:r>
            <a:r>
              <a:rPr sz="16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 — must not grow by more than a small margin</a:t>
            </a:r>
          </a:p>
          <a:p>
            <a:pPr algn="l" marL="405130" indent="-181610">
              <a:lnSpc>
                <a:spcPct val="120000"/>
              </a:lnSpc>
              <a:spcBef>
                <a:spcPts val="200"/>
              </a:spcBef>
              <a:buClr>
                <a:srgbClr val="9C4422"/>
              </a:buClr>
              <a:buChar char="–"/>
            </a:pPr>
            <a:r>
              <a:rPr sz="13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Measured on the same two teams, before and during the pilot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12800" y="6426200"/>
            <a:ext cx="660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Example Corp — internal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Appendix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Teams opt in with one line in their pipeline file</a:t>
            </a:r>
          </a:p>
        </p:txBody>
      </p:sp>
      <p:sp>
        <p:nvSpPr>
          <p:cNvPr id="4" name="Code panel"/>
          <p:cNvSpPr/>
          <p:nvPr/>
        </p:nvSpPr>
        <p:spPr>
          <a:xfrm>
            <a:off x="812800" y="1422400"/>
            <a:ext cx="10566400" cy="811276"/>
          </a:xfrm>
          <a:prstGeom prst="roundRect">
            <a:avLst>
              <a:gd name="adj" fmla="val 9392"/>
            </a:avLst>
          </a:prstGeom>
          <a:solidFill>
            <a:srgbClr val="F5EEE4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Code"/>
          <p:cNvSpPr txBox="1"/>
          <p:nvPr/>
        </p:nvSpPr>
        <p:spPr>
          <a:xfrm>
            <a:off x="990600" y="1600200"/>
            <a:ext cx="10210800" cy="4556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B2118"/>
                </a:solidFill>
                <a:latin typeface="Consolas"/>
                <a:ea typeface="Malgun Gothic"/>
                <a:cs typeface="Consolas"/>
              </a:rPr>
              <a:t>checks: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B2118"/>
                </a:solidFill>
                <a:latin typeface="Consolas"/>
                <a:ea typeface="Malgun Gothic"/>
                <a:cs typeface="Consolas"/>
              </a:rPr>
              <a:t>  release-gates: enabled   # build, contract tests, migration dry run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12800" y="6426200"/>
            <a:ext cx="660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Example Corp — internal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Appendix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Each gate can be switched off per repository during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5680456"/>
            <a:ext cx="1056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Wireframe of the pipeline settings screen; one gate is switched off.</a:t>
            </a:r>
          </a:p>
        </p:txBody>
      </p:sp>
      <p:pic>
        <p:nvPicPr>
          <p:cNvPr id="5" name="Image" descr="Pipeline settings screen with one toggle per release g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72" y="1422400"/>
            <a:ext cx="7389255" cy="4156455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812800" y="6426200"/>
            <a:ext cx="660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Example Corp — internal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Appendix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Each role gets something concrete from the pilot</a:t>
            </a:r>
          </a:p>
        </p:txBody>
      </p:sp>
      <p:sp>
        <p:nvSpPr>
          <p:cNvPr id="4" name="Card 1"/>
          <p:cNvSpPr/>
          <p:nvPr/>
        </p:nvSpPr>
        <p:spPr>
          <a:xfrm>
            <a:off x="812800" y="1422400"/>
            <a:ext cx="3369733" cy="1199895"/>
          </a:xfrm>
          <a:prstGeom prst="roundRect">
            <a:avLst>
              <a:gd name="adj" fmla="val 6350"/>
            </a:avLst>
          </a:prstGeom>
          <a:solidFill>
            <a:srgbClr val="F5EEE4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" y="1600200"/>
            <a:ext cx="30141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Authors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1969008"/>
            <a:ext cx="3014133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A failing check points at their own change, while it is still fresh</a:t>
            </a:r>
          </a:p>
        </p:txBody>
      </p:sp>
      <p:sp>
        <p:nvSpPr>
          <p:cNvPr id="7" name="Card 2"/>
          <p:cNvSpPr/>
          <p:nvPr/>
        </p:nvSpPr>
        <p:spPr>
          <a:xfrm>
            <a:off x="4411133" y="1422400"/>
            <a:ext cx="3369733" cy="1199895"/>
          </a:xfrm>
          <a:prstGeom prst="roundRect">
            <a:avLst>
              <a:gd name="adj" fmla="val 6350"/>
            </a:avLst>
          </a:prstGeom>
          <a:solidFill>
            <a:srgbClr val="F5EEE4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8933" y="1600200"/>
            <a:ext cx="30141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Reviewers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8933" y="1969008"/>
            <a:ext cx="3014133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Reviews start from a change that already builds and migrates</a:t>
            </a:r>
          </a:p>
        </p:txBody>
      </p:sp>
      <p:sp>
        <p:nvSpPr>
          <p:cNvPr id="10" name="Card 3"/>
          <p:cNvSpPr/>
          <p:nvPr/>
        </p:nvSpPr>
        <p:spPr>
          <a:xfrm>
            <a:off x="8009466" y="1422400"/>
            <a:ext cx="3369733" cy="1199895"/>
          </a:xfrm>
          <a:prstGeom prst="roundRect">
            <a:avLst>
              <a:gd name="adj" fmla="val 6350"/>
            </a:avLst>
          </a:prstGeom>
          <a:solidFill>
            <a:srgbClr val="F7F0ED"/>
          </a:solidFill>
          <a:ln w="12700">
            <a:solidFill>
              <a:srgbClr val="9C442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7266" y="1600200"/>
            <a:ext cx="30141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2118"/>
                </a:solidFill>
                <a:latin typeface="Arial"/>
                <a:ea typeface="Malgun Gothic"/>
                <a:cs typeface="Arial"/>
              </a:rPr>
              <a:t>Release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7266" y="1969008"/>
            <a:ext cx="3014133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Release week stops being the first time the checks run together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812800" y="6426200"/>
            <a:ext cx="6604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Example Corp — internal</a:t>
            </a:r>
          </a:p>
        </p:txBody>
      </p:sp>
      <p:sp>
        <p:nvSpPr>
          <p:cNvPr id="14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5E52"/>
                </a:solidFill>
                <a:latin typeface="Consolas"/>
                <a:ea typeface="Malgun Gothic"/>
                <a:cs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2361691"/>
            <a:ext cx="38100" cy="1626616"/>
          </a:xfrm>
          <a:prstGeom prst="rect">
            <a:avLst/>
          </a:prstGeom>
          <a:solidFill>
            <a:srgbClr val="9C4422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3" name="Quote"/>
          <p:cNvSpPr txBox="1"/>
          <p:nvPr/>
        </p:nvSpPr>
        <p:spPr>
          <a:xfrm>
            <a:off x="1270000" y="1273962"/>
            <a:ext cx="8453120" cy="276514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“We stopped dreading release week once failures arrived one change at a time.”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0000" y="4267708"/>
            <a:ext cx="8453120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5E52"/>
                </a:solidFill>
                <a:latin typeface="Arial"/>
                <a:ea typeface="Malgun Gothic"/>
                <a:cs typeface="Arial"/>
              </a:rPr>
              <a:t>Team lead · illustrative quote for the sample deck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2262123"/>
            <a:ext cx="9087104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4422"/>
                </a:solidFill>
                <a:latin typeface="Consolas"/>
                <a:ea typeface="Malgun Gothic"/>
                <a:cs typeface="Consolas"/>
              </a:rPr>
              <a:t>The ask</a:t>
            </a:r>
          </a:p>
        </p:txBody>
      </p:sp>
      <p:sp>
        <p:nvSpPr>
          <p:cNvPr id="3" name="Statement"/>
          <p:cNvSpPr txBox="1"/>
          <p:nvPr/>
        </p:nvSpPr>
        <p:spPr>
          <a:xfrm>
            <a:off x="812800" y="1901037"/>
            <a:ext cx="9087104" cy="184343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Approve a </a:t>
            </a:r>
            <a:r>
              <a:rPr sz="3600" b="1" i="0">
                <a:solidFill>
                  <a:srgbClr val="9C4422"/>
                </a:solidFill>
                <a:latin typeface="Georgia"/>
                <a:ea typeface="Malgun Gothic"/>
                <a:cs typeface="Georgia"/>
              </a:rPr>
              <a:t>four-week pilot</a:t>
            </a:r>
            <a:r>
              <a:rPr sz="3600" b="0" i="0">
                <a:solidFill>
                  <a:srgbClr val="2B2118"/>
                </a:solidFill>
                <a:latin typeface="Georgia"/>
                <a:ea typeface="Malgun Gothic"/>
                <a:cs typeface="Georgia"/>
              </a:rPr>
              <a:t> with two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973067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A3F35"/>
                </a:solidFill>
                <a:latin typeface="Arial"/>
                <a:ea typeface="Malgun Gothic"/>
                <a:cs typeface="Arial"/>
              </a:rPr>
              <a:t>We return with the three measures and a go / no-go recommendation.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4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12800" y="1914753"/>
            <a:ext cx="10566400" cy="140451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4800" b="0" i="0">
                <a:solidFill>
                  <a:srgbClr val="FFFFFF"/>
                </a:solidFill>
                <a:latin typeface="Georgia"/>
                <a:ea typeface="Malgun Gothic"/>
                <a:cs typeface="Georg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3547871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3DBD1"/>
                </a:solidFill>
                <a:latin typeface="Arial"/>
                <a:ea typeface="Malgun Gothic"/>
                <a:cs typeface="Arial"/>
              </a:rPr>
              <a:t>Questions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954779"/>
            <a:ext cx="619125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3DBD1"/>
                </a:solidFill>
                <a:latin typeface="Arial"/>
                <a:ea typeface="Malgun Gothic"/>
                <a:cs typeface="Arial"/>
              </a:rPr>
              <a:t>platform-team@example.com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deckkit (python-pptx)</Application>
  <PresentationFormat>On-screen Show (16:9)</PresentationFormat>
  <Slides>19</Slides>
  <Notes>19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Moving release checks earlier</dc:title>
  <dc:subject>Agree to run the automated release checks on every pull request</dc:subject>
  <dc:creator>Presenter Name</dc:creator>
  <cp:keywords/>
  <dc:description/>
  <cp:lastModifiedBy>Presenter Name</cp:lastModifiedBy>
  <cp:revision>1</cp:revision>
  <dcterms:created xsi:type="dcterms:W3CDTF">2026-10-19T03:14:06Z</dcterms:created>
  <dcterms:modified xsi:type="dcterms:W3CDTF">2026-10-19T03:14:06Z</dcterms:modified>
  <cp:category/>
</cp:coreProperties>
</file>