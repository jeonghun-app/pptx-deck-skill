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EA6A0"/>
            </a:solidFill>
          </c:spPr>
          <c:dPt>
            <c:idx val="2"/>
            <c:spPr>
              <a:solidFill>
                <a:srgbClr val="9C4422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1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DBD1"/>
            </a:solidFill>
          </a:ln>
        </c:spPr>
        <c:txPr>
          <a:bodyPr/>
          <a:lstStyle/>
          <a:p>
            <a:pPr>
              <a:defRPr sz="1100">
                <a:solidFill>
                  <a:srgbClr val="4A3F3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5E5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one page: blockers are found late and cost ten times more to fix there. Running the same checks per pull request fixes that, and the pilot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Three questions decide whether the pilot is worth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Checking every pull request finds blockers while they are cheap</a:t>
            </a:r>
          </a:p>
        </p:txBody>
      </p:sp>
      <p:sp>
        <p:nvSpPr>
          <p:cNvPr id="4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Approve a four-week pilot with two teams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8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blocker found on the release branch takes about 10x longer to fix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2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  <p:sp>
        <p:nvSpPr>
          <p:cNvPr id="14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same checks run earlier, on one change at a time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in an isolated runner and never touch production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6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the pilot costs</a:t>
            </a:r>
          </a:p>
        </p:txBody>
      </p:sp>
      <p:sp>
        <p:nvSpPr>
          <p:cNvPr id="18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One shared runner pool and two weeks of setup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go / no-go decision after four weeks, on measures agreed now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Most blockers surface only after the branch is cut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71%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9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2.4 days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3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3 of 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later a blocker is found, the longer the fix takes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same checks run earlier, on a smaller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8128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4389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53100" y="1422400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 pull request passes four gates before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Checks run in an isolated runner, never against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5" name="Group CI environment"/>
          <p:cNvSpPr/>
          <p:nvPr/>
        </p:nvSpPr>
        <p:spPr>
          <a:xfrm>
            <a:off x="3505200" y="1473200"/>
            <a:ext cx="5181600" cy="3505200"/>
          </a:xfrm>
          <a:prstGeom prst="roundRect">
            <a:avLst>
              <a:gd name="adj" fmla="val 2173"/>
            </a:avLst>
          </a:prstGeom>
          <a:noFill/>
          <a:ln w="9525">
            <a:solidFill>
              <a:srgbClr val="9C8F8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7" name="Node pr"/>
          <p:cNvSpPr/>
          <p:nvPr/>
        </p:nvSpPr>
        <p:spPr>
          <a:xfrm>
            <a:off x="12882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9" name="Node runner"/>
          <p:cNvSpPr/>
          <p:nvPr/>
        </p:nvSpPr>
        <p:spPr>
          <a:xfrm>
            <a:off x="39298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5ECE9"/>
          </a:solidFill>
          <a:ln w="15875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1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3" name="Node report"/>
          <p:cNvSpPr/>
          <p:nvPr/>
        </p:nvSpPr>
        <p:spPr>
          <a:xfrm>
            <a:off x="39298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5" name="Node merge"/>
          <p:cNvSpPr/>
          <p:nvPr/>
        </p:nvSpPr>
        <p:spPr>
          <a:xfrm>
            <a:off x="92130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7" name="Edge pr-runner"/>
          <p:cNvCxnSpPr>
            <a:stCxn id="7" idx="3"/>
            <a:endCxn id="9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9C4422"/>
            </a:solidFill>
            <a:tailEnd type="triangle" w="med" len="med"/>
          </a:ln>
        </p:spPr>
      </p:cxnSp>
      <p:sp>
        <p:nvSpPr>
          <p:cNvPr id="18" name="Edge label"/>
          <p:cNvSpPr txBox="1"/>
          <p:nvPr/>
        </p:nvSpPr>
        <p:spPr>
          <a:xfrm>
            <a:off x="3137383" y="2089150"/>
            <a:ext cx="634033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19" name="Edge runner-snap"/>
          <p:cNvCxnSpPr>
            <a:stCxn id="9" idx="3"/>
            <a:endCxn id="11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0" name="Edge label"/>
          <p:cNvSpPr txBox="1"/>
          <p:nvPr/>
        </p:nvSpPr>
        <p:spPr>
          <a:xfrm>
            <a:off x="5810777" y="2089150"/>
            <a:ext cx="570445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1" name="Edge runner-report"/>
          <p:cNvCxnSpPr>
            <a:stCxn id="9" idx="2"/>
            <a:endCxn id="13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cxnSp>
        <p:nvCxnSpPr>
          <p:cNvPr id="22" name="Edge report-merge"/>
          <p:cNvCxnSpPr>
            <a:stCxn id="13" idx="3"/>
            <a:endCxn id="15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3" name="Edge label"/>
          <p:cNvSpPr txBox="1"/>
          <p:nvPr/>
        </p:nvSpPr>
        <p:spPr>
          <a:xfrm>
            <a:off x="7052359" y="3892550"/>
            <a:ext cx="728881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pilot needs one runner pool and two weeks of setup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9C4422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926080" y="1447800"/>
            <a:ext cx="4226560" cy="25400"/>
          </a:xfrm>
          <a:prstGeom prst="roundRect">
            <a:avLst>
              <a:gd name="adj" fmla="val 50000"/>
            </a:avLst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Four weeks from setup to a go / no-go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E3DBD1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6" name="Oval 5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0" name="Oval 9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4" name="Oval 13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8" name="Oval 17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We judge the pilot on three measures agreed in advance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812800" y="1422400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812800" y="1943608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9C4422"/>
              </a:buClr>
              <a:buChar char="–"/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Measured on the same two teams, before and during the pilot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Teams opt in with one line in their pipeline file</a:t>
            </a:r>
          </a:p>
        </p:txBody>
      </p:sp>
      <p:sp>
        <p:nvSpPr>
          <p:cNvPr id="4" name="Code panel"/>
          <p:cNvSpPr/>
          <p:nvPr/>
        </p:nvSpPr>
        <p:spPr>
          <a:xfrm>
            <a:off x="812800" y="1422400"/>
            <a:ext cx="10566400" cy="811276"/>
          </a:xfrm>
          <a:prstGeom prst="roundRect">
            <a:avLst>
              <a:gd name="adj" fmla="val 9392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gate can be switched off per repository during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5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role gets something concrete from the pilot</a:t>
            </a:r>
          </a:p>
        </p:txBody>
      </p:sp>
      <p:sp>
        <p:nvSpPr>
          <p:cNvPr id="4" name="Card 1"/>
          <p:cNvSpPr/>
          <p:nvPr/>
        </p:nvSpPr>
        <p:spPr>
          <a:xfrm>
            <a:off x="812800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7" name="Card 2"/>
          <p:cNvSpPr/>
          <p:nvPr/>
        </p:nvSpPr>
        <p:spPr>
          <a:xfrm>
            <a:off x="4411133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0" name="Card 3"/>
          <p:cNvSpPr/>
          <p:nvPr/>
        </p:nvSpPr>
        <p:spPr>
          <a:xfrm>
            <a:off x="8009466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7F0ED"/>
          </a:solidFill>
          <a:ln w="12700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1273962"/>
            <a:ext cx="8453120" cy="276514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62123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1901037"/>
            <a:ext cx="9087104" cy="184343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Approve a </a:t>
            </a:r>
            <a:r>
              <a:rPr sz="3600" b="1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four-week pilot</a:t>
            </a: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73067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Georgia"/>
                <a:ea typeface="Malgun Gothic"/>
                <a:cs typeface="Georg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2026-10-19T02:51:13Z</dcterms:created>
  <dcterms:modified xsi:type="dcterms:W3CDTF">2026-10-19T02:51:13Z</dcterms:modified>
  <cp:category/>
</cp:coreProperties>
</file>