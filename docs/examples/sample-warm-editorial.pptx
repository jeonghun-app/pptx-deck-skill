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hours to fix</c:v>
                </c:pt>
              </c:strCache>
            </c:strRef>
          </c:tx>
          <c:spPr>
            <a:solidFill>
              <a:srgbClr val="AEA6A0"/>
            </a:solidFill>
          </c:spPr>
          <c:dPt>
            <c:idx val="2"/>
            <c:spPr>
              <a:solidFill>
                <a:srgbClr val="9C4422"/>
              </a:solidFill>
            </c:spPr>
          </c:dPt>
          <c:cat>
            <c:strRef>
              <c:f>Sheet1!$A$2:$A$5</c:f>
              <c:strCache>
                <c:ptCount val="4"/>
                <c:pt idx="0">
                  <c:v>Pull request</c:v>
                </c:pt>
                <c:pt idx="1">
                  <c:v>Main branch</c:v>
                </c:pt>
                <c:pt idx="2">
                  <c:v>Release branch</c:v>
                </c:pt>
                <c:pt idx="3">
                  <c:v>Production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9</c:v>
                </c:pt>
                <c:pt idx="2">
                  <c:v>31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1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DBD1"/>
            </a:solidFill>
          </a:ln>
        </c:spPr>
        <c:txPr>
          <a:bodyPr/>
          <a:lstStyle/>
          <a:p>
            <a:pPr>
              <a:defRPr sz="1100">
                <a:solidFill>
                  <a:srgbClr val="4A3F3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5E5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one decision: a four-week pilot that moves our release checks from the release branch to every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answer three questions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one page: blockers are found late and cost ten times more to fix there. Running the same checks per pull request fixes that, and the pilot is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where we find release blockers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blockers appear late, and each one costs more than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release branch is where the cost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what the change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checks changes; only when they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dry run is the new gate; the others exist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new infrastructure, and it never touches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the shared pool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point is at the end of week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measures are agreed now so the result is not argued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Opting in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keep control during the pilot; any gate can be turned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relief is for release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with a real, approved quote or delete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decision I am asking for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Engineering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Catch release blockers while the change is still small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proposal to run release checks on every pull request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Presenter Name · Platform team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Three questions decide whether the pilot is worth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Where release blockers are found today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changes when checks run per pull request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the pilot costs and how we judge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Checking every pull request finds blockers while they are cheap</a:t>
            </a:r>
          </a:p>
        </p:txBody>
      </p:sp>
      <p:sp>
        <p:nvSpPr>
          <p:cNvPr id="4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Approve a four-week pilot with two teams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8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blocker found on the release branch takes about 10x longer to fix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2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  <p:sp>
        <p:nvSpPr>
          <p:cNvPr id="14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same checks run earlier, on one change at a time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in an isolated runner and never touch production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6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the pilot costs</a:t>
            </a:r>
          </a:p>
        </p:txBody>
      </p:sp>
      <p:sp>
        <p:nvSpPr>
          <p:cNvPr id="18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One shared runner pool and two weeks of setup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go / no-go decision after four weeks, on measures agreed now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Where blockers are found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Most blockers surface only after the branch is cut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5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9C4422"/>
                </a:solidFill>
                <a:latin typeface="Georgia"/>
                <a:ea typeface="Malgun Gothic"/>
                <a:cs typeface="Georgia"/>
              </a:rPr>
              <a:t>71%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found on the release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Illustrative figure for the sample deck</a:t>
            </a:r>
          </a:p>
        </p:txBody>
      </p:sp>
      <p:sp>
        <p:nvSpPr>
          <p:cNvPr id="9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2.4 days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delay per blocker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From detection to merged fix</a:t>
            </a:r>
          </a:p>
        </p:txBody>
      </p:sp>
      <p:sp>
        <p:nvSpPr>
          <p:cNvPr id="13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3 of 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blockers trace to one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The rest combine two or more changes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later a blocker is found, the longer the fix takes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5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Fixing on the release branch takes </a:t>
            </a:r>
            <a:r>
              <a:rPr sz="1600" b="1" i="0">
                <a:solidFill>
                  <a:srgbClr val="9C4422"/>
                </a:solidFill>
                <a:latin typeface="Arial"/>
                <a:ea typeface="Malgun Gothic"/>
                <a:cs typeface="Arial"/>
              </a:rPr>
              <a:t>10x longer</a:t>
            </a: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 than fixing in the pull request.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Median hours to fix</a:t>
            </a:r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What changes per pull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same checks run earlier, on a smaller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8128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once, on the release branch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failure blocks every change in the release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author has moved on to other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89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4389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on every pull request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failure blocks only that change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author fixes it while the context is 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53100" y="1422400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A pull request passes four gates before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Compile and package exactly as the release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258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35687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87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87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Contract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87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Verify public interfaces against consumers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817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6324600" y="1422400"/>
            <a:ext cx="2298700" cy="38100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Migration dry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Apply schema changes to a production snapshot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76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90805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05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5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05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Merge only when all three checks pass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Checks run in an isolated runner, never against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The runner reads a masked snapshot; it holds no production credentials.</a:t>
            </a:r>
          </a:p>
        </p:txBody>
      </p:sp>
      <p:sp>
        <p:nvSpPr>
          <p:cNvPr id="5" name="Group CI environment"/>
          <p:cNvSpPr/>
          <p:nvPr/>
        </p:nvSpPr>
        <p:spPr>
          <a:xfrm>
            <a:off x="3505200" y="1473200"/>
            <a:ext cx="5181600" cy="3505200"/>
          </a:xfrm>
          <a:prstGeom prst="roundRect">
            <a:avLst>
              <a:gd name="adj" fmla="val 2173"/>
            </a:avLst>
          </a:prstGeom>
          <a:noFill/>
          <a:ln w="9525">
            <a:solidFill>
              <a:srgbClr val="9C8F8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6800" y="1536700"/>
            <a:ext cx="49784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CI environment</a:t>
            </a:r>
          </a:p>
        </p:txBody>
      </p:sp>
      <p:sp>
        <p:nvSpPr>
          <p:cNvPr id="7" name="Node pr"/>
          <p:cNvSpPr/>
          <p:nvPr/>
        </p:nvSpPr>
        <p:spPr>
          <a:xfrm>
            <a:off x="1288288" y="19558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Label pr"/>
          <p:cNvSpPr txBox="1"/>
          <p:nvPr/>
        </p:nvSpPr>
        <p:spPr>
          <a:xfrm>
            <a:off x="13898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9" name="Node runner"/>
          <p:cNvSpPr/>
          <p:nvPr/>
        </p:nvSpPr>
        <p:spPr>
          <a:xfrm>
            <a:off x="3929888" y="19558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5ECE9"/>
          </a:solidFill>
          <a:ln w="15875">
            <a:solidFill>
              <a:srgbClr val="9C442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abel runner"/>
          <p:cNvSpPr txBox="1"/>
          <p:nvPr/>
        </p:nvSpPr>
        <p:spPr>
          <a:xfrm>
            <a:off x="40314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 runner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isolated</a:t>
            </a:r>
          </a:p>
        </p:txBody>
      </p:sp>
      <p:sp>
        <p:nvSpPr>
          <p:cNvPr id="11" name="Node snap"/>
          <p:cNvSpPr/>
          <p:nvPr/>
        </p:nvSpPr>
        <p:spPr>
          <a:xfrm>
            <a:off x="6571488" y="1955800"/>
            <a:ext cx="1690624" cy="736600"/>
          </a:xfrm>
          <a:prstGeom prst="can">
            <a:avLst/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Label snap"/>
          <p:cNvSpPr txBox="1"/>
          <p:nvPr/>
        </p:nvSpPr>
        <p:spPr>
          <a:xfrm>
            <a:off x="66730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sp>
        <p:nvSpPr>
          <p:cNvPr id="13" name="Node report"/>
          <p:cNvSpPr/>
          <p:nvPr/>
        </p:nvSpPr>
        <p:spPr>
          <a:xfrm>
            <a:off x="3929888" y="37592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4" name="Label report"/>
          <p:cNvSpPr txBox="1"/>
          <p:nvPr/>
        </p:nvSpPr>
        <p:spPr>
          <a:xfrm>
            <a:off x="40314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 report</a:t>
            </a:r>
          </a:p>
        </p:txBody>
      </p:sp>
      <p:sp>
        <p:nvSpPr>
          <p:cNvPr id="15" name="Node merge"/>
          <p:cNvSpPr/>
          <p:nvPr/>
        </p:nvSpPr>
        <p:spPr>
          <a:xfrm>
            <a:off x="9213088" y="37592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Label merge"/>
          <p:cNvSpPr txBox="1"/>
          <p:nvPr/>
        </p:nvSpPr>
        <p:spPr>
          <a:xfrm>
            <a:off x="93146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Merge gate</a:t>
            </a:r>
          </a:p>
        </p:txBody>
      </p:sp>
      <p:cxnSp>
        <p:nvCxnSpPr>
          <p:cNvPr id="17" name="Edge pr-runner"/>
          <p:cNvCxnSpPr>
            <a:stCxn id="7" idx="3"/>
            <a:endCxn id="9" idx="1"/>
          </p:cNvCxnSpPr>
          <p:nvPr/>
        </p:nvCxnSpPr>
        <p:spPr>
          <a:xfrm flipV="1">
            <a:off x="2978912" y="2324100"/>
            <a:ext cx="950976" cy="0"/>
          </a:xfrm>
          <a:prstGeom prst="line">
            <a:avLst/>
          </a:prstGeom>
          <a:ln w="19050">
            <a:solidFill>
              <a:srgbClr val="9C4422"/>
            </a:solidFill>
            <a:tailEnd type="triangle" w="med" len="med"/>
          </a:ln>
        </p:spPr>
      </p:cxnSp>
      <p:sp>
        <p:nvSpPr>
          <p:cNvPr id="18" name="Edge label"/>
          <p:cNvSpPr txBox="1"/>
          <p:nvPr/>
        </p:nvSpPr>
        <p:spPr>
          <a:xfrm>
            <a:off x="3137383" y="2089150"/>
            <a:ext cx="634033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19" name="Edge runner-snap"/>
          <p:cNvCxnSpPr>
            <a:stCxn id="9" idx="3"/>
            <a:endCxn id="11" idx="1"/>
          </p:cNvCxnSpPr>
          <p:nvPr/>
        </p:nvCxnSpPr>
        <p:spPr>
          <a:xfrm flipV="1">
            <a:off x="5620512" y="2324100"/>
            <a:ext cx="950976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20" name="Edge label"/>
          <p:cNvSpPr txBox="1"/>
          <p:nvPr/>
        </p:nvSpPr>
        <p:spPr>
          <a:xfrm>
            <a:off x="5810777" y="2089150"/>
            <a:ext cx="570445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21" name="Edge runner-report"/>
          <p:cNvCxnSpPr>
            <a:stCxn id="9" idx="2"/>
            <a:endCxn id="13" idx="0"/>
          </p:cNvCxnSpPr>
          <p:nvPr/>
        </p:nvCxnSpPr>
        <p:spPr>
          <a:xfrm flipH="1">
            <a:off x="4775200" y="2692400"/>
            <a:ext cx="0" cy="106680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cxnSp>
        <p:nvCxnSpPr>
          <p:cNvPr id="22" name="Edge report-merge"/>
          <p:cNvCxnSpPr>
            <a:stCxn id="13" idx="3"/>
            <a:endCxn id="15" idx="1"/>
          </p:cNvCxnSpPr>
          <p:nvPr/>
        </p:nvCxnSpPr>
        <p:spPr>
          <a:xfrm flipV="1">
            <a:off x="5620512" y="4127500"/>
            <a:ext cx="3592576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23" name="Edge label"/>
          <p:cNvSpPr txBox="1"/>
          <p:nvPr/>
        </p:nvSpPr>
        <p:spPr>
          <a:xfrm>
            <a:off x="7052359" y="3892550"/>
            <a:ext cx="728881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pass / fail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Cost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pilot needs one runner pool and two weeks of setup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812800" y="1473200"/>
          <a:ext cx="10566400" cy="268782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9C4422"/>
                          </a:solidFill>
                          <a:latin typeface="Arial"/>
                          <a:ea typeface="Malgun Gothic"/>
                          <a:cs typeface="Arial"/>
                        </a:rPr>
                        <a:t>Option A — 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Option B — 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Runner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Shared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8 parallel jobs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Dedicated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4 jobs per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Setup effort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2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one platform engineer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3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platform and each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Monthly cost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low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reuses idle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high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new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Isolation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Per job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sandboxed runners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separate pools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926080" y="1447800"/>
            <a:ext cx="4226560" cy="25400"/>
          </a:xfrm>
          <a:prstGeom prst="roundRect">
            <a:avLst>
              <a:gd name="adj" fmla="val 50000"/>
            </a:avLst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Four weeks from setup to a go / no-go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12800" y="1752600"/>
            <a:ext cx="10566400" cy="0"/>
          </a:xfrm>
          <a:prstGeom prst="line">
            <a:avLst/>
          </a:prstGeom>
          <a:ln w="12700">
            <a:solidFill>
              <a:srgbClr val="E3DBD1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128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Week 1</a:t>
            </a:r>
          </a:p>
        </p:txBody>
      </p:sp>
      <p:sp>
        <p:nvSpPr>
          <p:cNvPr id="6" name="Oval 5"/>
          <p:cNvSpPr/>
          <p:nvPr/>
        </p:nvSpPr>
        <p:spPr>
          <a:xfrm>
            <a:off x="812800" y="1701800"/>
            <a:ext cx="101600" cy="101600"/>
          </a:xfrm>
          <a:prstGeom prst="ellipse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Set up runners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Shared pool and snapshot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15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2</a:t>
            </a:r>
          </a:p>
        </p:txBody>
      </p:sp>
      <p:sp>
        <p:nvSpPr>
          <p:cNvPr id="10" name="Oval 9"/>
          <p:cNvSpPr/>
          <p:nvPr/>
        </p:nvSpPr>
        <p:spPr>
          <a:xfrm>
            <a:off x="351155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5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Two teams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55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are advisory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3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3</a:t>
            </a:r>
          </a:p>
        </p:txBody>
      </p:sp>
      <p:sp>
        <p:nvSpPr>
          <p:cNvPr id="14" name="Oval 13"/>
          <p:cNvSpPr/>
          <p:nvPr/>
        </p:nvSpPr>
        <p:spPr>
          <a:xfrm>
            <a:off x="621030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3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Checks block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3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For the two pilot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0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4</a:t>
            </a:r>
          </a:p>
        </p:txBody>
      </p:sp>
      <p:sp>
        <p:nvSpPr>
          <p:cNvPr id="18" name="Oval 17"/>
          <p:cNvSpPr/>
          <p:nvPr/>
        </p:nvSpPr>
        <p:spPr>
          <a:xfrm>
            <a:off x="890905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90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9050" y="2299208"/>
            <a:ext cx="24701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Compare blockers found and time to fix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We judge the pilot on three measures agreed in advance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812800" y="1422400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pilot continues only if the measures improve without slowing merges.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812800" y="1943608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Share of blockers found before merge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target: a clear majority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time to fix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target: lower than on the release branch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time to merge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must not grow by more than a small margin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9C4422"/>
              </a:buClr>
              <a:buChar char="–"/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Measured on the same two teams, before and during the pilot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Teams opt in with one line in their pipeline file</a:t>
            </a:r>
          </a:p>
        </p:txBody>
      </p:sp>
      <p:sp>
        <p:nvSpPr>
          <p:cNvPr id="4" name="Code panel"/>
          <p:cNvSpPr/>
          <p:nvPr/>
        </p:nvSpPr>
        <p:spPr>
          <a:xfrm>
            <a:off x="812800" y="1422400"/>
            <a:ext cx="10566400" cy="811276"/>
          </a:xfrm>
          <a:prstGeom prst="roundRect">
            <a:avLst>
              <a:gd name="adj" fmla="val 9392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de"/>
          <p:cNvSpPr txBox="1"/>
          <p:nvPr/>
        </p:nvSpPr>
        <p:spPr>
          <a:xfrm>
            <a:off x="990600" y="1600200"/>
            <a:ext cx="10210800" cy="4556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B2118"/>
                </a:solidFill>
                <a:latin typeface="Consolas"/>
                <a:ea typeface="Malgun Gothic"/>
                <a:cs typeface="Consolas"/>
              </a:rPr>
              <a:t>checks: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B2118"/>
                </a:solidFill>
                <a:latin typeface="Consolas"/>
                <a:ea typeface="Malgun Gothic"/>
                <a:cs typeface="Consolas"/>
              </a:rPr>
              <a:t>  release-gates: enabled   # build, contract tests, migration dry run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Each gate can be switched off per repository during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Wireframe of the pipeline settings screen; one gate is switched off.</a:t>
            </a:r>
          </a:p>
        </p:txBody>
      </p:sp>
      <p:pic>
        <p:nvPicPr>
          <p:cNvPr id="5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72" y="1422400"/>
            <a:ext cx="7389255" cy="4156455"/>
          </a:xfrm>
          <a:prstGeom prst="rect">
            <a:avLst/>
          </a:prstGeom>
        </p:spPr>
      </p:pic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Each role gets something concrete from the pilot</a:t>
            </a:r>
          </a:p>
        </p:txBody>
      </p:sp>
      <p:sp>
        <p:nvSpPr>
          <p:cNvPr id="4" name="Card 1"/>
          <p:cNvSpPr/>
          <p:nvPr/>
        </p:nvSpPr>
        <p:spPr>
          <a:xfrm>
            <a:off x="812800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Authors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failing check points at their own change, while it is still fresh</a:t>
            </a:r>
          </a:p>
        </p:txBody>
      </p:sp>
      <p:sp>
        <p:nvSpPr>
          <p:cNvPr id="7" name="Card 2"/>
          <p:cNvSpPr/>
          <p:nvPr/>
        </p:nvSpPr>
        <p:spPr>
          <a:xfrm>
            <a:off x="4411133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Reviewers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8933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Reviews start from a change that already builds and migrates</a:t>
            </a:r>
          </a:p>
        </p:txBody>
      </p:sp>
      <p:sp>
        <p:nvSpPr>
          <p:cNvPr id="10" name="Card 3"/>
          <p:cNvSpPr/>
          <p:nvPr/>
        </p:nvSpPr>
        <p:spPr>
          <a:xfrm>
            <a:off x="8009466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7F0ED"/>
          </a:solidFill>
          <a:ln w="12700">
            <a:solidFill>
              <a:srgbClr val="9C442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Release 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7266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Release week stops being the first time the checks run together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61691"/>
            <a:ext cx="38100" cy="1626616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" name="Quote"/>
          <p:cNvSpPr txBox="1"/>
          <p:nvPr/>
        </p:nvSpPr>
        <p:spPr>
          <a:xfrm>
            <a:off x="1270000" y="1273962"/>
            <a:ext cx="8453120" cy="276514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“We stopped dreading release week once failures arrived one change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4267708"/>
            <a:ext cx="8453120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Team lead · illustrative quote for the sample deck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62123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The ask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1901037"/>
            <a:ext cx="9087104" cy="184343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Approve a </a:t>
            </a:r>
            <a:r>
              <a:rPr sz="3600" b="1" i="0">
                <a:solidFill>
                  <a:srgbClr val="9C4422"/>
                </a:solidFill>
                <a:latin typeface="Georgia"/>
                <a:ea typeface="Malgun Gothic"/>
                <a:cs typeface="Georgia"/>
              </a:rPr>
              <a:t>four-week pilot</a:t>
            </a: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 with two 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73067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We return with the three measures and a go / no-go recommendation.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Georgia"/>
                <a:ea typeface="Malgun Gothic"/>
                <a:cs typeface="Georg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E3DBD1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3DBD1"/>
                </a:solidFill>
                <a:latin typeface="Arial"/>
                <a:ea typeface="Malgun Gothic"/>
                <a:cs typeface="Arial"/>
              </a:rPr>
              <a:t>platform-team@example.com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Moving release checks earlier</dc:title>
  <dc:subject>Agree to run the automated release checks on every pull request</dc:subject>
  <dc:creator>Presenter Name</dc:creator>
  <cp:keywords/>
  <dc:description/>
  <cp:lastModifiedBy>Presenter Name</cp:lastModifiedBy>
  <cp:revision>1</cp:revision>
  <dcterms:created xsi:type="dcterms:W3CDTF">2026-10-19T02:29:29Z</dcterms:created>
  <dcterms:modified xsi:type="dcterms:W3CDTF">2026-10-19T02:29:29Z</dcterms:modified>
  <cp:category/>
</cp:coreProperties>
</file>