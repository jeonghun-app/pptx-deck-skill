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Everything in this deck is invented to show the framework layouts. The story: pick two workflows to automate first, then run a two-quarter 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steps, in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whole recommendation on one page; the sections follow in the same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First, which workflows to start with.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Placement here is a judgement by the working group, which is why the tag says qualitative placement. Two workflows sit in the top-right cell.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same six workflows, now placed by measured scores. The dashed lines are the thresholds the group agreed before scoring.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three-level grid separates who leads, who partners and who waits.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Next, how the options compare.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More filled means better. Risk control for extending current tools was not assessed.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Vendor A meets every mandatory requirement; the others fail at least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status column always carries words, so it reads without colour.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Darker means stronger. Legal has not named an owner yet, so it is not assessed.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row is one change. Approval is the change that frees the most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Finally, the pilot itself.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Phases are conceptual, not proportional to time. We are in the preparation phase 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rail style keeps the existing look; periods and rows are optional.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steps fit in the chevron style when each title is one word.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actions, each one owned. The first one unblocks the others.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second condition is the one most pilots miss.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one number to remember is the 35 percent target.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the baseline values we will compare against each week.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A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1807464"/>
            <a:ext cx="8664448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C9D0DA"/>
                </a:solidFill>
                <a:latin typeface="Consolas"/>
                <a:ea typeface="Malgun Gothic"/>
                <a:cs typeface="Consolas"/>
              </a:rPr>
              <a:t>ILLUSTRATIVE EXAMPLE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812800" y="1190548"/>
            <a:ext cx="8664448" cy="2457907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5000"/>
              </a:lnSpc>
            </a:pPr>
            <a:r>
              <a:rPr sz="4800" b="0" i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Start automation where impact is high and effort is low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812800" y="3877055"/>
            <a:ext cx="76200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C9D0DA"/>
                </a:solidFill>
                <a:latin typeface="Arial"/>
                <a:ea typeface="Malgun Gothic"/>
                <a:cs typeface="Arial"/>
              </a:rPr>
              <a:t>A worked example of the framework layouts, with invented content</a:t>
            </a:r>
          </a:p>
        </p:txBody>
      </p:sp>
      <p:sp>
        <p:nvSpPr>
          <p:cNvPr id="5" name="Presenter"/>
          <p:cNvSpPr txBox="1"/>
          <p:nvPr/>
        </p:nvSpPr>
        <p:spPr>
          <a:xfrm>
            <a:off x="812800" y="5638800"/>
            <a:ext cx="8664448" cy="264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C9D0DA"/>
                </a:solidFill>
                <a:latin typeface="Arial"/>
                <a:ea typeface="Malgun Gothic"/>
                <a:cs typeface="Arial"/>
              </a:rPr>
              <a:t>Presenter Name · Operations office · 2026-10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812800" y="431800"/>
            <a:ext cx="105664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F5BD3"/>
                </a:solidFill>
                <a:latin typeface="Consolas"/>
                <a:ea typeface="Malgun Gothic"/>
                <a:cs typeface="Consolas"/>
              </a:rPr>
              <a:t>AGENDA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812800" y="635000"/>
            <a:ext cx="10566400" cy="431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Three steps lead from candidates to a pilot decision</a:t>
            </a:r>
          </a:p>
        </p:txBody>
      </p:sp>
      <p:sp>
        <p:nvSpPr>
          <p:cNvPr id="4" name="Rule"/>
          <p:cNvSpPr/>
          <p:nvPr/>
        </p:nvSpPr>
        <p:spPr>
          <a:xfrm>
            <a:off x="812800" y="1143000"/>
            <a:ext cx="533400" cy="25400"/>
          </a:xfrm>
          <a:prstGeom prst="rect">
            <a:avLst/>
          </a:prstGeom>
          <a:solidFill>
            <a:srgbClr val="2F5BD3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2800" y="1422400"/>
            <a:ext cx="5080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2F5BD3"/>
                </a:solidFill>
                <a:latin typeface="Consolas"/>
                <a:ea typeface="Malgun Gothic"/>
                <a:cs typeface="Consola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22400" y="1422400"/>
            <a:ext cx="6786880" cy="558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Which workflows to start with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12800" y="1981200"/>
            <a:ext cx="7396480" cy="0"/>
          </a:xfrm>
          <a:prstGeom prst="line">
            <a:avLst/>
          </a:prstGeom>
          <a:ln w="6350">
            <a:solidFill>
              <a:srgbClr val="D9DDE3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812800" y="1981200"/>
            <a:ext cx="5080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2F5BD3"/>
                </a:solidFill>
                <a:latin typeface="Consolas"/>
                <a:ea typeface="Malgun Gothic"/>
                <a:cs typeface="Consolas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22400" y="1981200"/>
            <a:ext cx="6786880" cy="558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How the options compare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12800" y="2540000"/>
            <a:ext cx="7396480" cy="0"/>
          </a:xfrm>
          <a:prstGeom prst="line">
            <a:avLst/>
          </a:prstGeom>
          <a:ln w="6350">
            <a:solidFill>
              <a:srgbClr val="D9DDE3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812800" y="2540000"/>
            <a:ext cx="5080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2F5BD3"/>
                </a:solidFill>
                <a:latin typeface="Consolas"/>
                <a:ea typeface="Malgun Gothic"/>
                <a:cs typeface="Consolas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22400" y="2540000"/>
            <a:ext cx="6786880" cy="558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What the pilot looks like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12800" y="3098800"/>
            <a:ext cx="7396480" cy="0"/>
          </a:xfrm>
          <a:prstGeom prst="line">
            <a:avLst/>
          </a:prstGeom>
          <a:ln w="6350">
            <a:solidFill>
              <a:srgbClr val="D9DDE3"/>
            </a:solidFill>
          </a:ln>
        </p:spPr>
      </p:cxnSp>
      <p:cxnSp>
        <p:nvCxnSpPr>
          <p:cNvPr id="14" name="Footer rule"/>
          <p:cNvCxnSpPr/>
          <p:nvPr/>
        </p:nvCxnSpPr>
        <p:spPr>
          <a:xfrm>
            <a:off x="812800" y="6324600"/>
            <a:ext cx="10566400" cy="0"/>
          </a:xfrm>
          <a:prstGeom prst="line">
            <a:avLst/>
          </a:prstGeom>
          <a:ln w="6350">
            <a:solidFill>
              <a:srgbClr val="D9DDE3"/>
            </a:solidFill>
          </a:ln>
        </p:spPr>
      </p:cxnSp>
      <p:sp>
        <p:nvSpPr>
          <p:cNvPr id="15" name="Page number"/>
          <p:cNvSpPr txBox="1"/>
          <p:nvPr/>
        </p:nvSpPr>
        <p:spPr>
          <a:xfrm>
            <a:off x="10617200" y="6426200"/>
            <a:ext cx="7620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5E6672"/>
                </a:solidFill>
                <a:latin typeface="Consolas"/>
                <a:ea typeface="Malgun Gothic"/>
                <a:cs typeface="Consola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812800" y="431800"/>
            <a:ext cx="105664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F5BD3"/>
                </a:solidFill>
                <a:latin typeface="Consolas"/>
                <a:ea typeface="Malgun Gothic"/>
                <a:cs typeface="Consolas"/>
              </a:rPr>
              <a:t>SUMMARY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812800" y="635000"/>
            <a:ext cx="10566400" cy="431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Automate invoice matching and expense approvals first</a:t>
            </a:r>
          </a:p>
        </p:txBody>
      </p:sp>
      <p:sp>
        <p:nvSpPr>
          <p:cNvPr id="4" name="Rule"/>
          <p:cNvSpPr/>
          <p:nvPr/>
        </p:nvSpPr>
        <p:spPr>
          <a:xfrm>
            <a:off x="812800" y="1143000"/>
            <a:ext cx="533400" cy="25400"/>
          </a:xfrm>
          <a:prstGeom prst="rect">
            <a:avLst/>
          </a:prstGeom>
          <a:solidFill>
            <a:srgbClr val="2F5BD3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5" name="So what"/>
          <p:cNvSpPr/>
          <p:nvPr/>
        </p:nvSpPr>
        <p:spPr>
          <a:xfrm>
            <a:off x="812800" y="5320792"/>
            <a:ext cx="10566400" cy="597408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6" name="So what rule"/>
          <p:cNvSpPr/>
          <p:nvPr/>
        </p:nvSpPr>
        <p:spPr>
          <a:xfrm>
            <a:off x="812800" y="5320792"/>
            <a:ext cx="25400" cy="597408"/>
          </a:xfrm>
          <a:prstGeom prst="rect">
            <a:avLst/>
          </a:prstGeom>
          <a:solidFill>
            <a:srgbClr val="2F5BD3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7" name="So what text"/>
          <p:cNvSpPr txBox="1"/>
          <p:nvPr/>
        </p:nvSpPr>
        <p:spPr>
          <a:xfrm>
            <a:off x="990600" y="5473192"/>
            <a:ext cx="76200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Approve a two-quarter pilot for the two selected workflows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12800" y="1422400"/>
            <a:ext cx="3369733" cy="0"/>
          </a:xfrm>
          <a:prstGeom prst="line">
            <a:avLst/>
          </a:prstGeom>
          <a:ln w="9525">
            <a:solidFill>
              <a:srgbClr val="D9DDE3"/>
            </a:solidFill>
          </a:ln>
        </p:spPr>
      </p:cxnSp>
      <p:sp>
        <p:nvSpPr>
          <p:cNvPr id="9" name="Summary 01"/>
          <p:cNvSpPr txBox="1"/>
          <p:nvPr/>
        </p:nvSpPr>
        <p:spPr>
          <a:xfrm>
            <a:off x="812800" y="1549400"/>
            <a:ext cx="3369733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F5BD3"/>
                </a:solidFill>
                <a:latin typeface="Consolas"/>
                <a:ea typeface="Malgun Gothic"/>
                <a:cs typeface="Consola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800" y="1790700"/>
            <a:ext cx="3369733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Which workflows to start with</a:t>
            </a:r>
          </a:p>
        </p:txBody>
      </p:sp>
      <p:sp>
        <p:nvSpPr>
          <p:cNvPr id="11" name="Bullets"/>
          <p:cNvSpPr txBox="1"/>
          <p:nvPr/>
        </p:nvSpPr>
        <p:spPr>
          <a:xfrm>
            <a:off x="812800" y="2159508"/>
            <a:ext cx="3369733" cy="105003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 marL="181610" indent="-181610">
              <a:lnSpc>
                <a:spcPct val="120000"/>
              </a:lnSpc>
              <a:buClr>
                <a:srgbClr val="2F5BD3"/>
              </a:buClr>
              <a:buChar char="•"/>
            </a:pPr>
            <a:r>
              <a:rPr sz="1300" b="0" i="0">
                <a:solidFill>
                  <a:srgbClr val="3D4450"/>
                </a:solidFill>
                <a:latin typeface="Arial"/>
                <a:ea typeface="Malgun Gothic"/>
                <a:cs typeface="Arial"/>
              </a:rPr>
              <a:t>Two workflows combine high impact with low effort</a:t>
            </a:r>
          </a:p>
          <a:p>
            <a:pPr algn="l" marL="181610" indent="-181610">
              <a:lnSpc>
                <a:spcPct val="120000"/>
              </a:lnSpc>
              <a:spcBef>
                <a:spcPts val="780"/>
              </a:spcBef>
              <a:buClr>
                <a:srgbClr val="2F5BD3"/>
              </a:buClr>
              <a:buChar char="•"/>
            </a:pPr>
            <a:r>
              <a:rPr sz="1300" b="0" i="0">
                <a:solidFill>
                  <a:srgbClr val="3D4450"/>
                </a:solidFill>
                <a:latin typeface="Arial"/>
                <a:ea typeface="Malgun Gothic"/>
                <a:cs typeface="Arial"/>
              </a:rPr>
              <a:t>Measured scores confirm both clear the thresholds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411133" y="1422400"/>
            <a:ext cx="3369733" cy="0"/>
          </a:xfrm>
          <a:prstGeom prst="line">
            <a:avLst/>
          </a:prstGeom>
          <a:ln w="9525">
            <a:solidFill>
              <a:srgbClr val="D9DDE3"/>
            </a:solidFill>
          </a:ln>
        </p:spPr>
      </p:cxnSp>
      <p:sp>
        <p:nvSpPr>
          <p:cNvPr id="13" name="Summary 02"/>
          <p:cNvSpPr txBox="1"/>
          <p:nvPr/>
        </p:nvSpPr>
        <p:spPr>
          <a:xfrm>
            <a:off x="4411133" y="1549400"/>
            <a:ext cx="3369733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F5BD3"/>
                </a:solidFill>
                <a:latin typeface="Consolas"/>
                <a:ea typeface="Malgun Gothic"/>
                <a:cs typeface="Consola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11133" y="1790700"/>
            <a:ext cx="3369733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How the options compare</a:t>
            </a:r>
          </a:p>
        </p:txBody>
      </p:sp>
      <p:sp>
        <p:nvSpPr>
          <p:cNvPr id="15" name="Bullets"/>
          <p:cNvSpPr txBox="1"/>
          <p:nvPr/>
        </p:nvSpPr>
        <p:spPr>
          <a:xfrm>
            <a:off x="4411133" y="2159508"/>
            <a:ext cx="3369733" cy="105003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 marL="181610" indent="-181610">
              <a:lnSpc>
                <a:spcPct val="120000"/>
              </a:lnSpc>
              <a:buClr>
                <a:srgbClr val="2F5BD3"/>
              </a:buClr>
              <a:buChar char="•"/>
            </a:pPr>
            <a:r>
              <a:rPr sz="1300" b="0" i="0">
                <a:solidFill>
                  <a:srgbClr val="3D4450"/>
                </a:solidFill>
                <a:latin typeface="Arial"/>
                <a:ea typeface="Malgun Gothic"/>
                <a:cs typeface="Arial"/>
              </a:rPr>
              <a:t>Buying a platform beats building on speed and risk</a:t>
            </a:r>
          </a:p>
          <a:p>
            <a:pPr algn="l" marL="181610" indent="-181610">
              <a:lnSpc>
                <a:spcPct val="120000"/>
              </a:lnSpc>
              <a:spcBef>
                <a:spcPts val="780"/>
              </a:spcBef>
              <a:buClr>
                <a:srgbClr val="2F5BD3"/>
              </a:buClr>
              <a:buChar char="•"/>
            </a:pPr>
            <a:r>
              <a:rPr sz="1300" b="0" i="0">
                <a:solidFill>
                  <a:srgbClr val="3D4450"/>
                </a:solidFill>
                <a:latin typeface="Arial"/>
                <a:ea typeface="Malgun Gothic"/>
                <a:cs typeface="Arial"/>
              </a:rPr>
              <a:t>Only one vendor meets every mandatory requirement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009466" y="1422400"/>
            <a:ext cx="3369734" cy="0"/>
          </a:xfrm>
          <a:prstGeom prst="line">
            <a:avLst/>
          </a:prstGeom>
          <a:ln w="9525">
            <a:solidFill>
              <a:srgbClr val="D9DDE3"/>
            </a:solidFill>
          </a:ln>
        </p:spPr>
      </p:cxnSp>
      <p:sp>
        <p:nvSpPr>
          <p:cNvPr id="17" name="Summary 03"/>
          <p:cNvSpPr txBox="1"/>
          <p:nvPr/>
        </p:nvSpPr>
        <p:spPr>
          <a:xfrm>
            <a:off x="8009466" y="1549400"/>
            <a:ext cx="3369733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F5BD3"/>
                </a:solidFill>
                <a:latin typeface="Consolas"/>
                <a:ea typeface="Malgun Gothic"/>
                <a:cs typeface="Consola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9466" y="1790700"/>
            <a:ext cx="3369733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What the pilot looks like</a:t>
            </a:r>
          </a:p>
        </p:txBody>
      </p:sp>
      <p:sp>
        <p:nvSpPr>
          <p:cNvPr id="19" name="Bullets"/>
          <p:cNvSpPr txBox="1"/>
          <p:nvPr/>
        </p:nvSpPr>
        <p:spPr>
          <a:xfrm>
            <a:off x="8009466" y="2159508"/>
            <a:ext cx="3369733" cy="57454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 marL="181610" indent="-181610">
              <a:lnSpc>
                <a:spcPct val="120000"/>
              </a:lnSpc>
              <a:buClr>
                <a:srgbClr val="2F5BD3"/>
              </a:buClr>
              <a:buChar char="•"/>
            </a:pPr>
            <a:r>
              <a:rPr sz="1300" b="0" i="0">
                <a:solidFill>
                  <a:srgbClr val="3D4450"/>
                </a:solidFill>
                <a:latin typeface="Arial"/>
                <a:ea typeface="Malgun Gothic"/>
                <a:cs typeface="Arial"/>
              </a:rPr>
              <a:t>Three phases with one decision at the end</a:t>
            </a:r>
          </a:p>
          <a:p>
            <a:pPr algn="l" marL="181610" indent="-181610">
              <a:lnSpc>
                <a:spcPct val="120000"/>
              </a:lnSpc>
              <a:spcBef>
                <a:spcPts val="780"/>
              </a:spcBef>
              <a:buClr>
                <a:srgbClr val="2F5BD3"/>
              </a:buClr>
              <a:buChar char="•"/>
            </a:pPr>
            <a:r>
              <a:rPr sz="1300" b="0" i="0">
                <a:solidFill>
                  <a:srgbClr val="3D4450"/>
                </a:solidFill>
                <a:latin typeface="Arial"/>
                <a:ea typeface="Malgun Gothic"/>
                <a:cs typeface="Arial"/>
              </a:rPr>
              <a:t>Nine measures tracked every week</a:t>
            </a:r>
          </a:p>
        </p:txBody>
      </p:sp>
      <p:cxnSp>
        <p:nvCxnSpPr>
          <p:cNvPr id="20" name="Footer rule"/>
          <p:cNvCxnSpPr/>
          <p:nvPr/>
        </p:nvCxnSpPr>
        <p:spPr>
          <a:xfrm>
            <a:off x="812800" y="6324600"/>
            <a:ext cx="10566400" cy="0"/>
          </a:xfrm>
          <a:prstGeom prst="line">
            <a:avLst/>
          </a:prstGeom>
          <a:ln w="6350">
            <a:solidFill>
              <a:srgbClr val="D9DDE3"/>
            </a:solidFill>
          </a:ln>
        </p:spPr>
      </p:cxnSp>
      <p:sp>
        <p:nvSpPr>
          <p:cNvPr id="21" name="Page number"/>
          <p:cNvSpPr txBox="1"/>
          <p:nvPr/>
        </p:nvSpPr>
        <p:spPr>
          <a:xfrm>
            <a:off x="10617200" y="6426200"/>
            <a:ext cx="7620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5E6672"/>
                </a:solidFill>
                <a:latin typeface="Consolas"/>
                <a:ea typeface="Malgun Gothic"/>
                <a:cs typeface="Consola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Number"/>
          <p:cNvSpPr txBox="1"/>
          <p:nvPr/>
        </p:nvSpPr>
        <p:spPr>
          <a:xfrm>
            <a:off x="812800" y="2139188"/>
            <a:ext cx="8453120" cy="609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3200" b="0" i="0">
                <a:solidFill>
                  <a:srgbClr val="2F5BD3"/>
                </a:solidFill>
                <a:latin typeface="Consolas"/>
                <a:ea typeface="Malgun Gothic"/>
                <a:cs typeface="Consolas"/>
              </a:rPr>
              <a:t>01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812800" y="2522829"/>
            <a:ext cx="8453120" cy="819302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5000"/>
              </a:lnSpc>
            </a:pPr>
            <a:r>
              <a:rPr sz="32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Which workflows to start with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812800" y="431800"/>
            <a:ext cx="105664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F5BD3"/>
                </a:solidFill>
                <a:latin typeface="Consolas"/>
                <a:ea typeface="Malgun Gothic"/>
                <a:cs typeface="Consolas"/>
              </a:rPr>
              <a:t>SELECTION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812800" y="635000"/>
            <a:ext cx="10566400" cy="431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Two workflows combine high impact with low effort</a:t>
            </a:r>
          </a:p>
        </p:txBody>
      </p:sp>
      <p:sp>
        <p:nvSpPr>
          <p:cNvPr id="4" name="Rule"/>
          <p:cNvSpPr/>
          <p:nvPr/>
        </p:nvSpPr>
        <p:spPr>
          <a:xfrm>
            <a:off x="812800" y="1143000"/>
            <a:ext cx="533400" cy="25400"/>
          </a:xfrm>
          <a:prstGeom prst="rect">
            <a:avLst/>
          </a:prstGeom>
          <a:solidFill>
            <a:srgbClr val="2F5BD3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5" name="Commentary"/>
          <p:cNvSpPr txBox="1"/>
          <p:nvPr/>
        </p:nvSpPr>
        <p:spPr>
          <a:xfrm>
            <a:off x="8161866" y="1422400"/>
            <a:ext cx="3217333" cy="87782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2F5BD3"/>
                </a:solidFill>
                <a:latin typeface="Arial"/>
                <a:ea typeface="Malgun Gothic"/>
                <a:cs typeface="Arial"/>
              </a:rPr>
              <a:t>Invoice matching</a:t>
            </a:r>
            <a:r>
              <a:rPr sz="16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 and </a:t>
            </a:r>
            <a:r>
              <a:rPr sz="1600" b="1" i="0">
                <a:solidFill>
                  <a:srgbClr val="2F5BD3"/>
                </a:solidFill>
                <a:latin typeface="Arial"/>
                <a:ea typeface="Malgun Gothic"/>
                <a:cs typeface="Arial"/>
              </a:rPr>
              <a:t>expense approvals</a:t>
            </a:r>
            <a:r>
              <a:rPr sz="16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 are the only candidates with high impact for low effort.</a:t>
            </a:r>
          </a:p>
        </p:txBody>
      </p:sp>
      <p:sp>
        <p:nvSpPr>
          <p:cNvPr id="6" name="Commentary rule"/>
          <p:cNvSpPr/>
          <p:nvPr/>
        </p:nvSpPr>
        <p:spPr>
          <a:xfrm>
            <a:off x="8009466" y="1422400"/>
            <a:ext cx="25400" cy="877824"/>
          </a:xfrm>
          <a:prstGeom prst="rect">
            <a:avLst/>
          </a:prstGeom>
          <a:solidFill>
            <a:srgbClr val="2F5BD3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7" name="Tag"/>
          <p:cNvSpPr/>
          <p:nvPr/>
        </p:nvSpPr>
        <p:spPr>
          <a:xfrm>
            <a:off x="6357458" y="1422400"/>
            <a:ext cx="1423408" cy="241300"/>
          </a:xfrm>
          <a:prstGeom prst="rect">
            <a:avLst/>
          </a:prstGeom>
          <a:noFill/>
          <a:ln w="9525">
            <a:solidFill>
              <a:srgbClr val="5E6672"/>
            </a:solidFill>
          </a:ln>
        </p:spPr>
        <p:txBody>
          <a:bodyPr rtlCol="0" anchor="ctr" wrap="square" lIns="25400" tIns="25400" rIns="25400" bIns="25400"/>
          <a:lstStyle/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5E6672"/>
                </a:solidFill>
                <a:latin typeface="Arial"/>
                <a:ea typeface="Malgun Gothic"/>
                <a:cs typeface="Arial"/>
              </a:rPr>
              <a:t>Qualitative placement</a:t>
            </a:r>
          </a:p>
        </p:txBody>
      </p:sp>
      <p:sp>
        <p:nvSpPr>
          <p:cNvPr id="8" name="Cell 1"/>
          <p:cNvSpPr/>
          <p:nvPr/>
        </p:nvSpPr>
        <p:spPr>
          <a:xfrm>
            <a:off x="1112520" y="1778000"/>
            <a:ext cx="3315123" cy="1901189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9" name="Cell 1 name"/>
          <p:cNvSpPr txBox="1"/>
          <p:nvPr/>
        </p:nvSpPr>
        <p:spPr>
          <a:xfrm>
            <a:off x="1239520" y="1905000"/>
            <a:ext cx="3061123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Plan carefully</a:t>
            </a:r>
          </a:p>
        </p:txBody>
      </p:sp>
      <p:sp>
        <p:nvSpPr>
          <p:cNvPr id="10" name="Cell 1 body"/>
          <p:cNvSpPr txBox="1"/>
          <p:nvPr/>
        </p:nvSpPr>
        <p:spPr>
          <a:xfrm>
            <a:off x="1239520" y="2168144"/>
            <a:ext cx="3061123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3D4450"/>
                </a:solidFill>
                <a:latin typeface="Arial"/>
                <a:ea typeface="Malgun Gothic"/>
                <a:cs typeface="Arial"/>
              </a:rPr>
              <a:t>High impact but needs process change first</a:t>
            </a:r>
          </a:p>
        </p:txBody>
      </p:sp>
      <p:sp>
        <p:nvSpPr>
          <p:cNvPr id="11" name="Item A"/>
          <p:cNvSpPr txBox="1"/>
          <p:nvPr/>
        </p:nvSpPr>
        <p:spPr>
          <a:xfrm>
            <a:off x="1239520" y="2694432"/>
            <a:ext cx="3061123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81610" indent="-181610">
              <a:lnSpc>
                <a:spcPct val="120000"/>
              </a:lnSpc>
              <a:buClr>
                <a:srgbClr val="2F5BD3"/>
              </a:buClr>
              <a:buChar char="•"/>
            </a:pPr>
            <a:r>
              <a:rPr sz="1300" b="1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A</a:t>
            </a:r>
            <a:r>
              <a:rPr sz="1300" b="0" i="0">
                <a:solidFill>
                  <a:srgbClr val="3D4450"/>
                </a:solidFill>
                <a:latin typeface="Arial"/>
                <a:ea typeface="Malgun Gothic"/>
                <a:cs typeface="Arial"/>
              </a:rPr>
              <a:t>  Contract review</a:t>
            </a:r>
          </a:p>
        </p:txBody>
      </p:sp>
      <p:sp>
        <p:nvSpPr>
          <p:cNvPr id="12" name="Cell 2"/>
          <p:cNvSpPr/>
          <p:nvPr/>
        </p:nvSpPr>
        <p:spPr>
          <a:xfrm>
            <a:off x="4465743" y="1778000"/>
            <a:ext cx="3315123" cy="1901189"/>
          </a:xfrm>
          <a:prstGeom prst="rect">
            <a:avLst/>
          </a:prstGeom>
          <a:solidFill>
            <a:srgbClr val="EAEFFB"/>
          </a:solidFill>
          <a:ln w="12700">
            <a:solidFill>
              <a:srgbClr val="2F5BD3"/>
            </a:solidFill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13" name="Cell 2 name"/>
          <p:cNvSpPr txBox="1"/>
          <p:nvPr/>
        </p:nvSpPr>
        <p:spPr>
          <a:xfrm>
            <a:off x="4592743" y="1905000"/>
            <a:ext cx="3061123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2F5BD3"/>
                </a:solidFill>
                <a:latin typeface="Arial"/>
                <a:ea typeface="Malgun Gothic"/>
                <a:cs typeface="Arial"/>
              </a:rPr>
              <a:t>Start here</a:t>
            </a:r>
          </a:p>
        </p:txBody>
      </p:sp>
      <p:sp>
        <p:nvSpPr>
          <p:cNvPr id="14" name="Cell 2 body"/>
          <p:cNvSpPr txBox="1"/>
          <p:nvPr/>
        </p:nvSpPr>
        <p:spPr>
          <a:xfrm>
            <a:off x="4592743" y="2168144"/>
            <a:ext cx="3061123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3D4450"/>
                </a:solidFill>
                <a:latin typeface="Arial"/>
                <a:ea typeface="Malgun Gothic"/>
                <a:cs typeface="Arial"/>
              </a:rPr>
              <a:t>High impact for little effort</a:t>
            </a:r>
          </a:p>
        </p:txBody>
      </p:sp>
      <p:sp>
        <p:nvSpPr>
          <p:cNvPr id="15" name="Item B"/>
          <p:cNvSpPr txBox="1"/>
          <p:nvPr/>
        </p:nvSpPr>
        <p:spPr>
          <a:xfrm>
            <a:off x="4592743" y="2456688"/>
            <a:ext cx="3061123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81610" indent="-181610">
              <a:lnSpc>
                <a:spcPct val="120000"/>
              </a:lnSpc>
              <a:buClr>
                <a:srgbClr val="2F5BD3"/>
              </a:buClr>
              <a:buChar char="•"/>
            </a:pPr>
            <a:r>
              <a:rPr sz="1300" b="1" i="0">
                <a:solidFill>
                  <a:srgbClr val="2F5BD3"/>
                </a:solidFill>
                <a:latin typeface="Arial"/>
                <a:ea typeface="Malgun Gothic"/>
                <a:cs typeface="Arial"/>
              </a:rPr>
              <a:t>B</a:t>
            </a:r>
            <a:r>
              <a:rPr sz="1300" b="0" i="0">
                <a:solidFill>
                  <a:srgbClr val="3D4450"/>
                </a:solidFill>
                <a:latin typeface="Arial"/>
                <a:ea typeface="Malgun Gothic"/>
                <a:cs typeface="Arial"/>
              </a:rPr>
              <a:t>  Invoice matching</a:t>
            </a:r>
          </a:p>
        </p:txBody>
      </p:sp>
      <p:sp>
        <p:nvSpPr>
          <p:cNvPr id="16" name="Item C"/>
          <p:cNvSpPr txBox="1"/>
          <p:nvPr/>
        </p:nvSpPr>
        <p:spPr>
          <a:xfrm>
            <a:off x="4592743" y="2719832"/>
            <a:ext cx="3061123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81610" indent="-181610">
              <a:lnSpc>
                <a:spcPct val="120000"/>
              </a:lnSpc>
              <a:buClr>
                <a:srgbClr val="2F5BD3"/>
              </a:buClr>
              <a:buChar char="•"/>
            </a:pPr>
            <a:r>
              <a:rPr sz="1300" b="1" i="0">
                <a:solidFill>
                  <a:srgbClr val="2F5BD3"/>
                </a:solidFill>
                <a:latin typeface="Arial"/>
                <a:ea typeface="Malgun Gothic"/>
                <a:cs typeface="Arial"/>
              </a:rPr>
              <a:t>C</a:t>
            </a:r>
            <a:r>
              <a:rPr sz="1300" b="0" i="0">
                <a:solidFill>
                  <a:srgbClr val="3D4450"/>
                </a:solidFill>
                <a:latin typeface="Arial"/>
                <a:ea typeface="Malgun Gothic"/>
                <a:cs typeface="Arial"/>
              </a:rPr>
              <a:t>  Expense approvals</a:t>
            </a:r>
          </a:p>
        </p:txBody>
      </p:sp>
      <p:sp>
        <p:nvSpPr>
          <p:cNvPr id="17" name="Cell 3"/>
          <p:cNvSpPr/>
          <p:nvPr/>
        </p:nvSpPr>
        <p:spPr>
          <a:xfrm>
            <a:off x="1112520" y="3717290"/>
            <a:ext cx="3315123" cy="1901189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18" name="Cell 3 name"/>
          <p:cNvSpPr txBox="1"/>
          <p:nvPr/>
        </p:nvSpPr>
        <p:spPr>
          <a:xfrm>
            <a:off x="1239520" y="3844290"/>
            <a:ext cx="3061123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Avoid for now</a:t>
            </a:r>
          </a:p>
        </p:txBody>
      </p:sp>
      <p:sp>
        <p:nvSpPr>
          <p:cNvPr id="19" name="Cell 3 body"/>
          <p:cNvSpPr txBox="1"/>
          <p:nvPr/>
        </p:nvSpPr>
        <p:spPr>
          <a:xfrm>
            <a:off x="1239520" y="4107433"/>
            <a:ext cx="3061123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3D4450"/>
                </a:solidFill>
                <a:latin typeface="Arial"/>
                <a:ea typeface="Malgun Gothic"/>
                <a:cs typeface="Arial"/>
              </a:rPr>
              <a:t>Little impact for a lot of effort</a:t>
            </a:r>
          </a:p>
        </p:txBody>
      </p:sp>
      <p:sp>
        <p:nvSpPr>
          <p:cNvPr id="20" name="Item D"/>
          <p:cNvSpPr txBox="1"/>
          <p:nvPr/>
        </p:nvSpPr>
        <p:spPr>
          <a:xfrm>
            <a:off x="1239520" y="4395978"/>
            <a:ext cx="3061123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81610" indent="-181610">
              <a:lnSpc>
                <a:spcPct val="120000"/>
              </a:lnSpc>
              <a:buClr>
                <a:srgbClr val="2F5BD3"/>
              </a:buClr>
              <a:buChar char="•"/>
            </a:pPr>
            <a:r>
              <a:rPr sz="1300" b="1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D</a:t>
            </a:r>
            <a:r>
              <a:rPr sz="1300" b="0" i="0">
                <a:solidFill>
                  <a:srgbClr val="3D4450"/>
                </a:solidFill>
                <a:latin typeface="Arial"/>
                <a:ea typeface="Malgun Gothic"/>
                <a:cs typeface="Arial"/>
              </a:rPr>
              <a:t>  Field audits</a:t>
            </a:r>
          </a:p>
        </p:txBody>
      </p:sp>
      <p:sp>
        <p:nvSpPr>
          <p:cNvPr id="21" name="Cell 4"/>
          <p:cNvSpPr/>
          <p:nvPr/>
        </p:nvSpPr>
        <p:spPr>
          <a:xfrm>
            <a:off x="4465743" y="3717290"/>
            <a:ext cx="3315123" cy="1901189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22" name="Cell 4 name"/>
          <p:cNvSpPr txBox="1"/>
          <p:nvPr/>
        </p:nvSpPr>
        <p:spPr>
          <a:xfrm>
            <a:off x="4592743" y="3844290"/>
            <a:ext cx="3061123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Quick fixes</a:t>
            </a:r>
          </a:p>
        </p:txBody>
      </p:sp>
      <p:sp>
        <p:nvSpPr>
          <p:cNvPr id="23" name="Cell 4 body"/>
          <p:cNvSpPr txBox="1"/>
          <p:nvPr/>
        </p:nvSpPr>
        <p:spPr>
          <a:xfrm>
            <a:off x="4592743" y="4107433"/>
            <a:ext cx="3061123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3D4450"/>
                </a:solidFill>
                <a:latin typeface="Arial"/>
                <a:ea typeface="Malgun Gothic"/>
                <a:cs typeface="Arial"/>
              </a:rPr>
              <a:t>Little effort, small gains</a:t>
            </a:r>
          </a:p>
        </p:txBody>
      </p:sp>
      <p:sp>
        <p:nvSpPr>
          <p:cNvPr id="24" name="Item E"/>
          <p:cNvSpPr txBox="1"/>
          <p:nvPr/>
        </p:nvSpPr>
        <p:spPr>
          <a:xfrm>
            <a:off x="4592743" y="4395978"/>
            <a:ext cx="3061123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81610" indent="-181610">
              <a:lnSpc>
                <a:spcPct val="120000"/>
              </a:lnSpc>
              <a:buClr>
                <a:srgbClr val="2F5BD3"/>
              </a:buClr>
              <a:buChar char="•"/>
            </a:pPr>
            <a:r>
              <a:rPr sz="1300" b="1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E</a:t>
            </a:r>
            <a:r>
              <a:rPr sz="1300" b="0" i="0">
                <a:solidFill>
                  <a:srgbClr val="3D4450"/>
                </a:solidFill>
                <a:latin typeface="Arial"/>
                <a:ea typeface="Malgun Gothic"/>
                <a:cs typeface="Arial"/>
              </a:rPr>
              <a:t>  Meeting notes</a:t>
            </a:r>
          </a:p>
        </p:txBody>
      </p:sp>
      <p:sp>
        <p:nvSpPr>
          <p:cNvPr id="25" name="Item F"/>
          <p:cNvSpPr txBox="1"/>
          <p:nvPr/>
        </p:nvSpPr>
        <p:spPr>
          <a:xfrm>
            <a:off x="4592743" y="4659122"/>
            <a:ext cx="3061123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81610" indent="-181610">
              <a:lnSpc>
                <a:spcPct val="120000"/>
              </a:lnSpc>
              <a:buClr>
                <a:srgbClr val="2F5BD3"/>
              </a:buClr>
              <a:buChar char="•"/>
            </a:pPr>
            <a:r>
              <a:rPr sz="1300" b="1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F</a:t>
            </a:r>
            <a:r>
              <a:rPr sz="1300" b="0" i="0">
                <a:solidFill>
                  <a:srgbClr val="3D4450"/>
                </a:solidFill>
                <a:latin typeface="Arial"/>
                <a:ea typeface="Malgun Gothic"/>
                <a:cs typeface="Arial"/>
              </a:rPr>
              <a:t>  Leave requests</a:t>
            </a:r>
          </a:p>
        </p:txBody>
      </p:sp>
      <p:cxnSp>
        <p:nvCxnSpPr>
          <p:cNvPr id="26" name="X axis"/>
          <p:cNvCxnSpPr/>
          <p:nvPr/>
        </p:nvCxnSpPr>
        <p:spPr>
          <a:xfrm>
            <a:off x="1112520" y="5669280"/>
            <a:ext cx="6668346" cy="0"/>
          </a:xfrm>
          <a:prstGeom prst="line">
            <a:avLst/>
          </a:prstGeom>
          <a:ln w="12700">
            <a:solidFill>
              <a:srgbClr val="5E6672"/>
            </a:solidFill>
            <a:tailEnd type="triangle" w="med" len="med"/>
          </a:ln>
        </p:spPr>
      </p:cxnSp>
      <p:cxnSp>
        <p:nvCxnSpPr>
          <p:cNvPr id="27" name="Y axis"/>
          <p:cNvCxnSpPr/>
          <p:nvPr/>
        </p:nvCxnSpPr>
        <p:spPr>
          <a:xfrm flipV="1">
            <a:off x="1061720" y="1778000"/>
            <a:ext cx="0" cy="3840480"/>
          </a:xfrm>
          <a:prstGeom prst="line">
            <a:avLst/>
          </a:prstGeom>
          <a:ln w="12700">
            <a:solidFill>
              <a:srgbClr val="5E6672"/>
            </a:solidFill>
            <a:tailEnd type="triangle" w="med" len="med"/>
          </a:ln>
        </p:spPr>
      </p:cxnSp>
      <p:sp>
        <p:nvSpPr>
          <p:cNvPr id="28" name="X axis left"/>
          <p:cNvSpPr txBox="1"/>
          <p:nvPr/>
        </p:nvSpPr>
        <p:spPr>
          <a:xfrm>
            <a:off x="1112520" y="5694680"/>
            <a:ext cx="423952" cy="2235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E6672"/>
                </a:solidFill>
                <a:latin typeface="Arial"/>
                <a:ea typeface="Malgun Gothic"/>
                <a:cs typeface="Arial"/>
              </a:rPr>
              <a:t>High</a:t>
            </a:r>
          </a:p>
        </p:txBody>
      </p:sp>
      <p:sp>
        <p:nvSpPr>
          <p:cNvPr id="29" name="X axis center"/>
          <p:cNvSpPr txBox="1"/>
          <p:nvPr/>
        </p:nvSpPr>
        <p:spPr>
          <a:xfrm>
            <a:off x="3739652" y="5694680"/>
            <a:ext cx="1414081" cy="2235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Effort to implement</a:t>
            </a:r>
          </a:p>
        </p:txBody>
      </p:sp>
      <p:sp>
        <p:nvSpPr>
          <p:cNvPr id="30" name="X axis right"/>
          <p:cNvSpPr txBox="1"/>
          <p:nvPr/>
        </p:nvSpPr>
        <p:spPr>
          <a:xfrm>
            <a:off x="7391740" y="5694680"/>
            <a:ext cx="389126" cy="2235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>
              <a:lnSpc>
                <a:spcPct val="120000"/>
              </a:lnSpc>
            </a:pPr>
            <a:r>
              <a:rPr sz="1100" b="0" i="0">
                <a:solidFill>
                  <a:srgbClr val="5E6672"/>
                </a:solidFill>
                <a:latin typeface="Arial"/>
                <a:ea typeface="Malgun Gothic"/>
                <a:cs typeface="Arial"/>
              </a:rPr>
              <a:t>Low</a:t>
            </a:r>
          </a:p>
        </p:txBody>
      </p:sp>
      <p:sp>
        <p:nvSpPr>
          <p:cNvPr id="31" name="Y axis left"/>
          <p:cNvSpPr txBox="1"/>
          <p:nvPr/>
        </p:nvSpPr>
        <p:spPr>
          <a:xfrm rot="16200000">
            <a:off x="729996" y="5312156"/>
            <a:ext cx="389126" cy="2235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5E6672"/>
                </a:solidFill>
                <a:latin typeface="Arial"/>
                <a:ea typeface="Malgun Gothic"/>
                <a:cs typeface="Arial"/>
              </a:rPr>
              <a:t>Low</a:t>
            </a:r>
          </a:p>
        </p:txBody>
      </p:sp>
      <p:sp>
        <p:nvSpPr>
          <p:cNvPr id="32" name="Y axis center"/>
          <p:cNvSpPr txBox="1"/>
          <p:nvPr/>
        </p:nvSpPr>
        <p:spPr>
          <a:xfrm rot="16200000">
            <a:off x="294421" y="3586479"/>
            <a:ext cx="1260276" cy="2235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Expected impact</a:t>
            </a:r>
          </a:p>
        </p:txBody>
      </p:sp>
      <p:sp>
        <p:nvSpPr>
          <p:cNvPr id="33" name="Y axis right"/>
          <p:cNvSpPr txBox="1"/>
          <p:nvPr/>
        </p:nvSpPr>
        <p:spPr>
          <a:xfrm rot="16200000">
            <a:off x="712583" y="1878216"/>
            <a:ext cx="423952" cy="2235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5E6672"/>
                </a:solidFill>
                <a:latin typeface="Arial"/>
                <a:ea typeface="Malgun Gothic"/>
                <a:cs typeface="Arial"/>
              </a:rPr>
              <a:t>High</a:t>
            </a:r>
          </a:p>
        </p:txBody>
      </p:sp>
      <p:cxnSp>
        <p:nvCxnSpPr>
          <p:cNvPr id="34" name="Footer rule"/>
          <p:cNvCxnSpPr/>
          <p:nvPr/>
        </p:nvCxnSpPr>
        <p:spPr>
          <a:xfrm>
            <a:off x="812800" y="6324600"/>
            <a:ext cx="10566400" cy="0"/>
          </a:xfrm>
          <a:prstGeom prst="line">
            <a:avLst/>
          </a:prstGeom>
          <a:ln w="6350">
            <a:solidFill>
              <a:srgbClr val="D9DDE3"/>
            </a:solidFill>
          </a:ln>
        </p:spPr>
      </p:cxnSp>
      <p:sp>
        <p:nvSpPr>
          <p:cNvPr id="35" name="Page number"/>
          <p:cNvSpPr txBox="1"/>
          <p:nvPr/>
        </p:nvSpPr>
        <p:spPr>
          <a:xfrm>
            <a:off x="10617200" y="6426200"/>
            <a:ext cx="7620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5E6672"/>
                </a:solidFill>
                <a:latin typeface="Consolas"/>
                <a:ea typeface="Malgun Gothic"/>
                <a:cs typeface="Consola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812800" y="431800"/>
            <a:ext cx="105664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F5BD3"/>
                </a:solidFill>
                <a:latin typeface="Consolas"/>
                <a:ea typeface="Malgun Gothic"/>
                <a:cs typeface="Consolas"/>
              </a:rPr>
              <a:t>SELECTION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812800" y="635000"/>
            <a:ext cx="10566400" cy="431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Measured scores confirm both workflows clear the thresholds</a:t>
            </a:r>
          </a:p>
        </p:txBody>
      </p:sp>
      <p:sp>
        <p:nvSpPr>
          <p:cNvPr id="4" name="Rule"/>
          <p:cNvSpPr/>
          <p:nvPr/>
        </p:nvSpPr>
        <p:spPr>
          <a:xfrm>
            <a:off x="812800" y="1143000"/>
            <a:ext cx="533400" cy="25400"/>
          </a:xfrm>
          <a:prstGeom prst="rect">
            <a:avLst/>
          </a:prstGeom>
          <a:solidFill>
            <a:srgbClr val="2F5BD3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5" name="Source"/>
          <p:cNvSpPr txBox="1"/>
          <p:nvPr/>
        </p:nvSpPr>
        <p:spPr>
          <a:xfrm>
            <a:off x="812800" y="5708650"/>
            <a:ext cx="10566400" cy="20955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E6672"/>
                </a:solidFill>
                <a:latin typeface="Arial"/>
                <a:ea typeface="Malgun Gothic"/>
                <a:cs typeface="Arial"/>
              </a:rPr>
              <a:t>Source: Illustrative scores, example deck</a:t>
            </a:r>
          </a:p>
        </p:txBody>
      </p:sp>
      <p:sp>
        <p:nvSpPr>
          <p:cNvPr id="6" name="Cell 1"/>
          <p:cNvSpPr/>
          <p:nvPr/>
        </p:nvSpPr>
        <p:spPr>
          <a:xfrm>
            <a:off x="1112520" y="1422400"/>
            <a:ext cx="6160008" cy="2323337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7" name="Cell 1 name"/>
          <p:cNvSpPr txBox="1"/>
          <p:nvPr/>
        </p:nvSpPr>
        <p:spPr>
          <a:xfrm>
            <a:off x="1239520" y="1549400"/>
            <a:ext cx="590600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Plan carefully</a:t>
            </a:r>
          </a:p>
        </p:txBody>
      </p:sp>
      <p:sp>
        <p:nvSpPr>
          <p:cNvPr id="8" name="Cell 2"/>
          <p:cNvSpPr/>
          <p:nvPr/>
        </p:nvSpPr>
        <p:spPr>
          <a:xfrm>
            <a:off x="7272528" y="1422400"/>
            <a:ext cx="4106672" cy="2323337"/>
          </a:xfrm>
          <a:prstGeom prst="rect">
            <a:avLst/>
          </a:prstGeom>
          <a:solidFill>
            <a:srgbClr val="EAEFFB"/>
          </a:solidFill>
          <a:ln w="12700">
            <a:solidFill>
              <a:srgbClr val="2F5BD3"/>
            </a:solidFill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9" name="Cell 2 name"/>
          <p:cNvSpPr txBox="1"/>
          <p:nvPr/>
        </p:nvSpPr>
        <p:spPr>
          <a:xfrm>
            <a:off x="7399528" y="1549400"/>
            <a:ext cx="3852672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2F5BD3"/>
                </a:solidFill>
                <a:latin typeface="Arial"/>
                <a:ea typeface="Malgun Gothic"/>
                <a:cs typeface="Arial"/>
              </a:rPr>
              <a:t>Start here</a:t>
            </a:r>
          </a:p>
        </p:txBody>
      </p:sp>
      <p:sp>
        <p:nvSpPr>
          <p:cNvPr id="10" name="Cell 3"/>
          <p:cNvSpPr/>
          <p:nvPr/>
        </p:nvSpPr>
        <p:spPr>
          <a:xfrm>
            <a:off x="1112520" y="3745737"/>
            <a:ext cx="6160008" cy="1548892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11" name="Cell 3 name"/>
          <p:cNvSpPr txBox="1"/>
          <p:nvPr/>
        </p:nvSpPr>
        <p:spPr>
          <a:xfrm>
            <a:off x="1239520" y="3872737"/>
            <a:ext cx="590600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Avoid for now</a:t>
            </a:r>
          </a:p>
        </p:txBody>
      </p:sp>
      <p:sp>
        <p:nvSpPr>
          <p:cNvPr id="12" name="Cell 4"/>
          <p:cNvSpPr/>
          <p:nvPr/>
        </p:nvSpPr>
        <p:spPr>
          <a:xfrm>
            <a:off x="7272528" y="3745737"/>
            <a:ext cx="4106672" cy="1548892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13" name="Cell 4 name"/>
          <p:cNvSpPr txBox="1"/>
          <p:nvPr/>
        </p:nvSpPr>
        <p:spPr>
          <a:xfrm>
            <a:off x="7399528" y="3872737"/>
            <a:ext cx="3852672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Quick fixes</a:t>
            </a:r>
          </a:p>
        </p:txBody>
      </p:sp>
      <p:cxnSp>
        <p:nvCxnSpPr>
          <p:cNvPr id="14" name="X axis"/>
          <p:cNvCxnSpPr/>
          <p:nvPr/>
        </p:nvCxnSpPr>
        <p:spPr>
          <a:xfrm>
            <a:off x="1112520" y="5345430"/>
            <a:ext cx="10266680" cy="0"/>
          </a:xfrm>
          <a:prstGeom prst="line">
            <a:avLst/>
          </a:prstGeom>
          <a:ln w="12700">
            <a:solidFill>
              <a:srgbClr val="5E6672"/>
            </a:solidFill>
            <a:tailEnd type="triangle" w="med" len="med"/>
          </a:ln>
        </p:spPr>
      </p:cxnSp>
      <p:cxnSp>
        <p:nvCxnSpPr>
          <p:cNvPr id="15" name="Y axis"/>
          <p:cNvCxnSpPr/>
          <p:nvPr/>
        </p:nvCxnSpPr>
        <p:spPr>
          <a:xfrm flipV="1">
            <a:off x="1061720" y="1422400"/>
            <a:ext cx="0" cy="3872230"/>
          </a:xfrm>
          <a:prstGeom prst="line">
            <a:avLst/>
          </a:prstGeom>
          <a:ln w="12700">
            <a:solidFill>
              <a:srgbClr val="5E6672"/>
            </a:solidFill>
            <a:tailEnd type="triangle" w="med" len="med"/>
          </a:ln>
        </p:spPr>
      </p:cxnSp>
      <p:sp>
        <p:nvSpPr>
          <p:cNvPr id="16" name="X axis left"/>
          <p:cNvSpPr txBox="1"/>
          <p:nvPr/>
        </p:nvSpPr>
        <p:spPr>
          <a:xfrm>
            <a:off x="1112520" y="5370830"/>
            <a:ext cx="615571" cy="2235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E6672"/>
                </a:solidFill>
                <a:latin typeface="Arial"/>
                <a:ea typeface="Malgun Gothic"/>
                <a:cs typeface="Arial"/>
              </a:rPr>
              <a:t>Low · 0</a:t>
            </a:r>
          </a:p>
        </p:txBody>
      </p:sp>
      <p:sp>
        <p:nvSpPr>
          <p:cNvPr id="17" name="X axis center"/>
          <p:cNvSpPr txBox="1"/>
          <p:nvPr/>
        </p:nvSpPr>
        <p:spPr>
          <a:xfrm>
            <a:off x="5084312" y="5370830"/>
            <a:ext cx="2323094" cy="2235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Implementation readiness score</a:t>
            </a:r>
          </a:p>
        </p:txBody>
      </p:sp>
      <p:sp>
        <p:nvSpPr>
          <p:cNvPr id="18" name="X axis right"/>
          <p:cNvSpPr txBox="1"/>
          <p:nvPr/>
        </p:nvSpPr>
        <p:spPr>
          <a:xfrm>
            <a:off x="10554474" y="5370830"/>
            <a:ext cx="824725" cy="2235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>
              <a:lnSpc>
                <a:spcPct val="120000"/>
              </a:lnSpc>
            </a:pPr>
            <a:r>
              <a:rPr sz="1100" b="0" i="0">
                <a:solidFill>
                  <a:srgbClr val="5E6672"/>
                </a:solidFill>
                <a:latin typeface="Arial"/>
                <a:ea typeface="Malgun Gothic"/>
                <a:cs typeface="Arial"/>
              </a:rPr>
              <a:t>High · 100</a:t>
            </a:r>
          </a:p>
        </p:txBody>
      </p:sp>
      <p:sp>
        <p:nvSpPr>
          <p:cNvPr id="19" name="Y axis left"/>
          <p:cNvSpPr txBox="1"/>
          <p:nvPr/>
        </p:nvSpPr>
        <p:spPr>
          <a:xfrm rot="16200000">
            <a:off x="573302" y="4831612"/>
            <a:ext cx="702515" cy="2235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5E6672"/>
                </a:solidFill>
                <a:latin typeface="Arial"/>
                <a:ea typeface="Malgun Gothic"/>
                <a:cs typeface="Arial"/>
              </a:rPr>
              <a:t>Few · 0k</a:t>
            </a:r>
          </a:p>
        </p:txBody>
      </p:sp>
      <p:sp>
        <p:nvSpPr>
          <p:cNvPr id="20" name="Y axis center"/>
          <p:cNvSpPr txBox="1"/>
          <p:nvPr/>
        </p:nvSpPr>
        <p:spPr>
          <a:xfrm rot="16200000">
            <a:off x="194252" y="3246754"/>
            <a:ext cx="1460614" cy="2235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Hours saved a year</a:t>
            </a:r>
          </a:p>
        </p:txBody>
      </p:sp>
      <p:sp>
        <p:nvSpPr>
          <p:cNvPr id="21" name="Y axis right"/>
          <p:cNvSpPr txBox="1"/>
          <p:nvPr/>
        </p:nvSpPr>
        <p:spPr>
          <a:xfrm rot="16200000">
            <a:off x="486138" y="1749061"/>
            <a:ext cx="876843" cy="2235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5E6672"/>
                </a:solidFill>
                <a:latin typeface="Arial"/>
                <a:ea typeface="Malgun Gothic"/>
                <a:cs typeface="Arial"/>
              </a:rPr>
              <a:t>Many · 20k</a:t>
            </a:r>
          </a:p>
        </p:txBody>
      </p:sp>
      <p:cxnSp>
        <p:nvCxnSpPr>
          <p:cNvPr id="22" name="Threshold x"/>
          <p:cNvCxnSpPr/>
          <p:nvPr/>
        </p:nvCxnSpPr>
        <p:spPr>
          <a:xfrm>
            <a:off x="7272528" y="1422400"/>
            <a:ext cx="0" cy="3872230"/>
          </a:xfrm>
          <a:prstGeom prst="line">
            <a:avLst/>
          </a:prstGeom>
          <a:ln w="9525">
            <a:solidFill>
              <a:srgbClr val="5E6672"/>
            </a:solidFill>
            <a:prstDash val="dash"/>
          </a:ln>
        </p:spPr>
      </p:cxnSp>
      <p:sp>
        <p:nvSpPr>
          <p:cNvPr id="23" name="Threshold x value"/>
          <p:cNvSpPr txBox="1"/>
          <p:nvPr/>
        </p:nvSpPr>
        <p:spPr>
          <a:xfrm>
            <a:off x="7310628" y="5059680"/>
            <a:ext cx="234680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E6672"/>
                </a:solidFill>
                <a:latin typeface="Arial"/>
                <a:ea typeface="Malgun Gothic"/>
                <a:cs typeface="Arial"/>
              </a:rPr>
              <a:t>60</a:t>
            </a:r>
          </a:p>
        </p:txBody>
      </p:sp>
      <p:cxnSp>
        <p:nvCxnSpPr>
          <p:cNvPr id="24" name="Threshold y"/>
          <p:cNvCxnSpPr/>
          <p:nvPr/>
        </p:nvCxnSpPr>
        <p:spPr>
          <a:xfrm>
            <a:off x="1112520" y="3745737"/>
            <a:ext cx="10266680" cy="0"/>
          </a:xfrm>
          <a:prstGeom prst="line">
            <a:avLst/>
          </a:prstGeom>
          <a:ln w="9525">
            <a:solidFill>
              <a:srgbClr val="5E6672"/>
            </a:solidFill>
            <a:prstDash val="dash"/>
          </a:ln>
        </p:spPr>
      </p:cxnSp>
      <p:sp>
        <p:nvSpPr>
          <p:cNvPr id="25" name="Threshold y value"/>
          <p:cNvSpPr txBox="1"/>
          <p:nvPr/>
        </p:nvSpPr>
        <p:spPr>
          <a:xfrm>
            <a:off x="11114412" y="3523487"/>
            <a:ext cx="226687" cy="2095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100" b="0" i="0">
                <a:solidFill>
                  <a:srgbClr val="5E6672"/>
                </a:solidFill>
                <a:latin typeface="Arial"/>
                <a:ea typeface="Malgun Gothic"/>
                <a:cs typeface="Arial"/>
              </a:rPr>
              <a:t>8k</a:t>
            </a:r>
          </a:p>
        </p:txBody>
      </p:sp>
      <p:sp>
        <p:nvSpPr>
          <p:cNvPr id="26" name="Dot A"/>
          <p:cNvSpPr/>
          <p:nvPr/>
        </p:nvSpPr>
        <p:spPr>
          <a:xfrm>
            <a:off x="4558741" y="2346007"/>
            <a:ext cx="88900" cy="88900"/>
          </a:xfrm>
          <a:prstGeom prst="ellipse">
            <a:avLst/>
          </a:prstGeom>
          <a:solidFill>
            <a:srgbClr val="1F2328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27" name="Dot label A"/>
          <p:cNvSpPr txBox="1"/>
          <p:nvPr/>
        </p:nvSpPr>
        <p:spPr>
          <a:xfrm>
            <a:off x="4685741" y="2292667"/>
            <a:ext cx="1167396" cy="19557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A Contract review</a:t>
            </a:r>
          </a:p>
        </p:txBody>
      </p:sp>
      <p:sp>
        <p:nvSpPr>
          <p:cNvPr id="28" name="Dot B"/>
          <p:cNvSpPr/>
          <p:nvPr/>
        </p:nvSpPr>
        <p:spPr>
          <a:xfrm>
            <a:off x="9076080" y="1958784"/>
            <a:ext cx="88900" cy="88900"/>
          </a:xfrm>
          <a:prstGeom prst="ellipse">
            <a:avLst/>
          </a:prstGeom>
          <a:solidFill>
            <a:srgbClr val="2F5BD3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29" name="Dot label B"/>
          <p:cNvSpPr txBox="1"/>
          <p:nvPr/>
        </p:nvSpPr>
        <p:spPr>
          <a:xfrm>
            <a:off x="9203080" y="1905444"/>
            <a:ext cx="1254629" cy="19557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2F5BD3"/>
                </a:solidFill>
                <a:latin typeface="Arial"/>
                <a:ea typeface="Malgun Gothic"/>
                <a:cs typeface="Arial"/>
              </a:rPr>
              <a:t>B Invoice matching</a:t>
            </a:r>
          </a:p>
        </p:txBody>
      </p:sp>
      <p:sp>
        <p:nvSpPr>
          <p:cNvPr id="30" name="Dot C"/>
          <p:cNvSpPr/>
          <p:nvPr/>
        </p:nvSpPr>
        <p:spPr>
          <a:xfrm>
            <a:off x="8254746" y="2926841"/>
            <a:ext cx="88900" cy="88900"/>
          </a:xfrm>
          <a:prstGeom prst="ellipse">
            <a:avLst/>
          </a:prstGeom>
          <a:solidFill>
            <a:srgbClr val="2F5BD3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31" name="Dot label C"/>
          <p:cNvSpPr txBox="1"/>
          <p:nvPr/>
        </p:nvSpPr>
        <p:spPr>
          <a:xfrm>
            <a:off x="8381746" y="2873502"/>
            <a:ext cx="1405183" cy="19557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2F5BD3"/>
                </a:solidFill>
                <a:latin typeface="Arial"/>
                <a:ea typeface="Malgun Gothic"/>
                <a:cs typeface="Arial"/>
              </a:rPr>
              <a:t>C Expense approvals</a:t>
            </a:r>
          </a:p>
        </p:txBody>
      </p:sp>
      <p:sp>
        <p:nvSpPr>
          <p:cNvPr id="32" name="Dot D"/>
          <p:cNvSpPr/>
          <p:nvPr/>
        </p:nvSpPr>
        <p:spPr>
          <a:xfrm>
            <a:off x="3326739" y="4475733"/>
            <a:ext cx="88900" cy="88900"/>
          </a:xfrm>
          <a:prstGeom prst="ellipse">
            <a:avLst/>
          </a:prstGeom>
          <a:solidFill>
            <a:srgbClr val="1F2328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33" name="Dot label D"/>
          <p:cNvSpPr txBox="1"/>
          <p:nvPr/>
        </p:nvSpPr>
        <p:spPr>
          <a:xfrm>
            <a:off x="3453739" y="4422394"/>
            <a:ext cx="921928" cy="19557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D Field audits</a:t>
            </a:r>
          </a:p>
        </p:txBody>
      </p:sp>
      <p:sp>
        <p:nvSpPr>
          <p:cNvPr id="34" name="Dot E"/>
          <p:cNvSpPr/>
          <p:nvPr/>
        </p:nvSpPr>
        <p:spPr>
          <a:xfrm>
            <a:off x="9794748" y="4669345"/>
            <a:ext cx="88900" cy="88900"/>
          </a:xfrm>
          <a:prstGeom prst="ellipse">
            <a:avLst/>
          </a:prstGeom>
          <a:solidFill>
            <a:srgbClr val="1F2328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35" name="Dot label E"/>
          <p:cNvSpPr txBox="1"/>
          <p:nvPr/>
        </p:nvSpPr>
        <p:spPr>
          <a:xfrm>
            <a:off x="9921748" y="4616005"/>
            <a:ext cx="1080475" cy="19557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E Meeting notes</a:t>
            </a:r>
          </a:p>
        </p:txBody>
      </p:sp>
      <p:sp>
        <p:nvSpPr>
          <p:cNvPr id="36" name="Dot F"/>
          <p:cNvSpPr/>
          <p:nvPr/>
        </p:nvSpPr>
        <p:spPr>
          <a:xfrm>
            <a:off x="7844078" y="4862957"/>
            <a:ext cx="88900" cy="88900"/>
          </a:xfrm>
          <a:prstGeom prst="ellipse">
            <a:avLst/>
          </a:prstGeom>
          <a:solidFill>
            <a:srgbClr val="1F2328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37" name="Dot label F"/>
          <p:cNvSpPr txBox="1"/>
          <p:nvPr/>
        </p:nvSpPr>
        <p:spPr>
          <a:xfrm>
            <a:off x="7971078" y="4809617"/>
            <a:ext cx="1151699" cy="19557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F Leave requests</a:t>
            </a:r>
          </a:p>
        </p:txBody>
      </p:sp>
      <p:cxnSp>
        <p:nvCxnSpPr>
          <p:cNvPr id="38" name="Footer rule"/>
          <p:cNvCxnSpPr/>
          <p:nvPr/>
        </p:nvCxnSpPr>
        <p:spPr>
          <a:xfrm>
            <a:off x="812800" y="6324600"/>
            <a:ext cx="10566400" cy="0"/>
          </a:xfrm>
          <a:prstGeom prst="line">
            <a:avLst/>
          </a:prstGeom>
          <a:ln w="6350">
            <a:solidFill>
              <a:srgbClr val="D9DDE3"/>
            </a:solidFill>
          </a:ln>
        </p:spPr>
      </p:cxnSp>
      <p:sp>
        <p:nvSpPr>
          <p:cNvPr id="39" name="Page number"/>
          <p:cNvSpPr txBox="1"/>
          <p:nvPr/>
        </p:nvSpPr>
        <p:spPr>
          <a:xfrm>
            <a:off x="10617200" y="6426200"/>
            <a:ext cx="7620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5E6672"/>
                </a:solidFill>
                <a:latin typeface="Consolas"/>
                <a:ea typeface="Malgun Gothic"/>
                <a:cs typeface="Consola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812800" y="431800"/>
            <a:ext cx="105664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F5BD3"/>
                </a:solidFill>
                <a:latin typeface="Consolas"/>
                <a:ea typeface="Malgun Gothic"/>
                <a:cs typeface="Consolas"/>
              </a:rPr>
              <a:t>SELECTION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812800" y="635000"/>
            <a:ext cx="10566400" cy="431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A three-level view shows which teams to involve first</a:t>
            </a:r>
          </a:p>
        </p:txBody>
      </p:sp>
      <p:sp>
        <p:nvSpPr>
          <p:cNvPr id="4" name="Rule"/>
          <p:cNvSpPr/>
          <p:nvPr/>
        </p:nvSpPr>
        <p:spPr>
          <a:xfrm>
            <a:off x="812800" y="1143000"/>
            <a:ext cx="533400" cy="25400"/>
          </a:xfrm>
          <a:prstGeom prst="rect">
            <a:avLst/>
          </a:prstGeom>
          <a:solidFill>
            <a:srgbClr val="2F5BD3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5" name="Bullets"/>
          <p:cNvSpPr txBox="1"/>
          <p:nvPr/>
        </p:nvSpPr>
        <p:spPr>
          <a:xfrm>
            <a:off x="965200" y="1422400"/>
            <a:ext cx="2317750" cy="162458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 marL="181610" indent="-181610">
              <a:lnSpc>
                <a:spcPct val="120000"/>
              </a:lnSpc>
              <a:buClr>
                <a:srgbClr val="2F5BD3"/>
              </a:buClr>
              <a:buChar char="•"/>
            </a:pPr>
            <a:r>
              <a:rPr sz="1300" b="0" i="0">
                <a:solidFill>
                  <a:srgbClr val="3D4450"/>
                </a:solidFill>
                <a:latin typeface="Arial"/>
                <a:ea typeface="Malgun Gothic"/>
                <a:cs typeface="Arial"/>
              </a:rPr>
              <a:t>Finance and the service desk lead the pilot</a:t>
            </a:r>
          </a:p>
          <a:p>
            <a:pPr algn="l" marL="181610" indent="-181610">
              <a:lnSpc>
                <a:spcPct val="120000"/>
              </a:lnSpc>
              <a:spcBef>
                <a:spcPts val="780"/>
              </a:spcBef>
              <a:buClr>
                <a:srgbClr val="2F5BD3"/>
              </a:buClr>
              <a:buChar char="•"/>
            </a:pPr>
            <a:r>
              <a:rPr sz="1300" b="0" i="0">
                <a:solidFill>
                  <a:srgbClr val="3D4450"/>
                </a:solidFill>
                <a:latin typeface="Arial"/>
                <a:ea typeface="Malgun Gothic"/>
                <a:cs typeface="Arial"/>
              </a:rPr>
              <a:t>Procurement joins as a partner</a:t>
            </a:r>
          </a:p>
          <a:p>
            <a:pPr algn="l" marL="181610" indent="-181610">
              <a:lnSpc>
                <a:spcPct val="120000"/>
              </a:lnSpc>
              <a:spcBef>
                <a:spcPts val="780"/>
              </a:spcBef>
              <a:buClr>
                <a:srgbClr val="2F5BD3"/>
              </a:buClr>
              <a:buChar char="•"/>
            </a:pPr>
            <a:r>
              <a:rPr sz="1300" b="0" i="0">
                <a:solidFill>
                  <a:srgbClr val="3D4450"/>
                </a:solidFill>
                <a:latin typeface="Arial"/>
                <a:ea typeface="Malgun Gothic"/>
                <a:cs typeface="Arial"/>
              </a:rPr>
              <a:t>Other teams follow in a second wave</a:t>
            </a:r>
          </a:p>
        </p:txBody>
      </p:sp>
      <p:sp>
        <p:nvSpPr>
          <p:cNvPr id="6" name="Commentary rule"/>
          <p:cNvSpPr/>
          <p:nvPr/>
        </p:nvSpPr>
        <p:spPr>
          <a:xfrm>
            <a:off x="812800" y="1422400"/>
            <a:ext cx="25400" cy="1624583"/>
          </a:xfrm>
          <a:prstGeom prst="rect">
            <a:avLst/>
          </a:prstGeom>
          <a:solidFill>
            <a:srgbClr val="2F5BD3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7" name="Tag"/>
          <p:cNvSpPr/>
          <p:nvPr/>
        </p:nvSpPr>
        <p:spPr>
          <a:xfrm>
            <a:off x="9955791" y="1422400"/>
            <a:ext cx="1423408" cy="241300"/>
          </a:xfrm>
          <a:prstGeom prst="rect">
            <a:avLst/>
          </a:prstGeom>
          <a:noFill/>
          <a:ln w="9525">
            <a:solidFill>
              <a:srgbClr val="5E6672"/>
            </a:solidFill>
          </a:ln>
        </p:spPr>
        <p:txBody>
          <a:bodyPr rtlCol="0" anchor="ctr" wrap="square" lIns="25400" tIns="25400" rIns="25400" bIns="25400"/>
          <a:lstStyle/>
          <a:p>
            <a:pPr algn="ctr">
              <a:lnSpc>
                <a:spcPct val="105000"/>
              </a:lnSpc>
            </a:pPr>
            <a:r>
              <a:rPr sz="1000" b="0" i="0">
                <a:solidFill>
                  <a:srgbClr val="5E6672"/>
                </a:solidFill>
                <a:latin typeface="Arial"/>
                <a:ea typeface="Malgun Gothic"/>
                <a:cs typeface="Arial"/>
              </a:rPr>
              <a:t>Qualitative placement</a:t>
            </a:r>
          </a:p>
        </p:txBody>
      </p:sp>
      <p:sp>
        <p:nvSpPr>
          <p:cNvPr id="8" name="Cell 1"/>
          <p:cNvSpPr/>
          <p:nvPr/>
        </p:nvSpPr>
        <p:spPr>
          <a:xfrm>
            <a:off x="3811270" y="1778000"/>
            <a:ext cx="2503593" cy="126111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9" name="Cell 1 name"/>
          <p:cNvSpPr txBox="1"/>
          <p:nvPr/>
        </p:nvSpPr>
        <p:spPr>
          <a:xfrm>
            <a:off x="3938270" y="1905000"/>
            <a:ext cx="2249593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Build data first</a:t>
            </a:r>
          </a:p>
        </p:txBody>
      </p:sp>
      <p:sp>
        <p:nvSpPr>
          <p:cNvPr id="10" name="Cell 2"/>
          <p:cNvSpPr/>
          <p:nvPr/>
        </p:nvSpPr>
        <p:spPr>
          <a:xfrm>
            <a:off x="6352963" y="1778000"/>
            <a:ext cx="2484543" cy="126111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11" name="Cell 2 name"/>
          <p:cNvSpPr txBox="1"/>
          <p:nvPr/>
        </p:nvSpPr>
        <p:spPr>
          <a:xfrm>
            <a:off x="6479963" y="1905000"/>
            <a:ext cx="2230543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Pilot partners</a:t>
            </a:r>
          </a:p>
        </p:txBody>
      </p:sp>
      <p:sp>
        <p:nvSpPr>
          <p:cNvPr id="12" name="Item Procurement"/>
          <p:cNvSpPr txBox="1"/>
          <p:nvPr/>
        </p:nvSpPr>
        <p:spPr>
          <a:xfrm>
            <a:off x="6479963" y="2168144"/>
            <a:ext cx="2230543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81610" indent="-181610">
              <a:lnSpc>
                <a:spcPct val="120000"/>
              </a:lnSpc>
              <a:buClr>
                <a:srgbClr val="2F5BD3"/>
              </a:buClr>
              <a:buChar char="•"/>
            </a:pPr>
            <a:r>
              <a:rPr sz="1300" b="0" i="0">
                <a:solidFill>
                  <a:srgbClr val="3D4450"/>
                </a:solidFill>
                <a:latin typeface="Arial"/>
                <a:ea typeface="Malgun Gothic"/>
                <a:cs typeface="Arial"/>
              </a:rPr>
              <a:t>Procurement</a:t>
            </a:r>
          </a:p>
        </p:txBody>
      </p:sp>
      <p:sp>
        <p:nvSpPr>
          <p:cNvPr id="13" name="Cell 3"/>
          <p:cNvSpPr/>
          <p:nvPr/>
        </p:nvSpPr>
        <p:spPr>
          <a:xfrm>
            <a:off x="8875606" y="1778000"/>
            <a:ext cx="2503593" cy="1261110"/>
          </a:xfrm>
          <a:prstGeom prst="rect">
            <a:avLst/>
          </a:prstGeom>
          <a:solidFill>
            <a:srgbClr val="EAEFFB"/>
          </a:solidFill>
          <a:ln w="12700">
            <a:solidFill>
              <a:srgbClr val="2F5BD3"/>
            </a:solidFill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14" name="Cell 3 name"/>
          <p:cNvSpPr txBox="1"/>
          <p:nvPr/>
        </p:nvSpPr>
        <p:spPr>
          <a:xfrm>
            <a:off x="9002606" y="1905000"/>
            <a:ext cx="2249593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2F5BD3"/>
                </a:solidFill>
                <a:latin typeface="Arial"/>
                <a:ea typeface="Malgun Gothic"/>
                <a:cs typeface="Arial"/>
              </a:rPr>
              <a:t>Lead the pilot</a:t>
            </a:r>
          </a:p>
        </p:txBody>
      </p:sp>
      <p:sp>
        <p:nvSpPr>
          <p:cNvPr id="15" name="Item Finance"/>
          <p:cNvSpPr txBox="1"/>
          <p:nvPr/>
        </p:nvSpPr>
        <p:spPr>
          <a:xfrm>
            <a:off x="9002606" y="2168144"/>
            <a:ext cx="2249593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81610" indent="-181610">
              <a:lnSpc>
                <a:spcPct val="120000"/>
              </a:lnSpc>
              <a:buClr>
                <a:srgbClr val="2F5BD3"/>
              </a:buClr>
              <a:buChar char="•"/>
            </a:pPr>
            <a:r>
              <a:rPr sz="1300" b="0" i="0">
                <a:solidFill>
                  <a:srgbClr val="3D4450"/>
                </a:solidFill>
                <a:latin typeface="Arial"/>
                <a:ea typeface="Malgun Gothic"/>
                <a:cs typeface="Arial"/>
              </a:rPr>
              <a:t>Finance</a:t>
            </a:r>
          </a:p>
        </p:txBody>
      </p:sp>
      <p:sp>
        <p:nvSpPr>
          <p:cNvPr id="16" name="Item Service desk"/>
          <p:cNvSpPr txBox="1"/>
          <p:nvPr/>
        </p:nvSpPr>
        <p:spPr>
          <a:xfrm>
            <a:off x="9002606" y="2431288"/>
            <a:ext cx="2249593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81610" indent="-181610">
              <a:lnSpc>
                <a:spcPct val="120000"/>
              </a:lnSpc>
              <a:buClr>
                <a:srgbClr val="2F5BD3"/>
              </a:buClr>
              <a:buChar char="•"/>
            </a:pPr>
            <a:r>
              <a:rPr sz="1300" b="0" i="0">
                <a:solidFill>
                  <a:srgbClr val="3D4450"/>
                </a:solidFill>
                <a:latin typeface="Arial"/>
                <a:ea typeface="Malgun Gothic"/>
                <a:cs typeface="Arial"/>
              </a:rPr>
              <a:t>Service desk</a:t>
            </a:r>
          </a:p>
        </p:txBody>
      </p:sp>
      <p:sp>
        <p:nvSpPr>
          <p:cNvPr id="17" name="Cell 4"/>
          <p:cNvSpPr/>
          <p:nvPr/>
        </p:nvSpPr>
        <p:spPr>
          <a:xfrm>
            <a:off x="3811270" y="3077210"/>
            <a:ext cx="2503593" cy="124206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18" name="Cell 4 name"/>
          <p:cNvSpPr txBox="1"/>
          <p:nvPr/>
        </p:nvSpPr>
        <p:spPr>
          <a:xfrm>
            <a:off x="3938270" y="3204210"/>
            <a:ext cx="2249593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Watch</a:t>
            </a:r>
          </a:p>
        </p:txBody>
      </p:sp>
      <p:sp>
        <p:nvSpPr>
          <p:cNvPr id="19" name="Item Legal"/>
          <p:cNvSpPr txBox="1"/>
          <p:nvPr/>
        </p:nvSpPr>
        <p:spPr>
          <a:xfrm>
            <a:off x="3938270" y="3467354"/>
            <a:ext cx="2249593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81610" indent="-181610">
              <a:lnSpc>
                <a:spcPct val="120000"/>
              </a:lnSpc>
              <a:buClr>
                <a:srgbClr val="2F5BD3"/>
              </a:buClr>
              <a:buChar char="•"/>
            </a:pPr>
            <a:r>
              <a:rPr sz="1300" b="0" i="0">
                <a:solidFill>
                  <a:srgbClr val="3D4450"/>
                </a:solidFill>
                <a:latin typeface="Arial"/>
                <a:ea typeface="Malgun Gothic"/>
                <a:cs typeface="Arial"/>
              </a:rPr>
              <a:t>Legal</a:t>
            </a:r>
          </a:p>
        </p:txBody>
      </p:sp>
      <p:sp>
        <p:nvSpPr>
          <p:cNvPr id="20" name="Cell 5"/>
          <p:cNvSpPr/>
          <p:nvPr/>
        </p:nvSpPr>
        <p:spPr>
          <a:xfrm>
            <a:off x="6352963" y="3077210"/>
            <a:ext cx="2484543" cy="124206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21" name="Cell 5 name"/>
          <p:cNvSpPr txBox="1"/>
          <p:nvPr/>
        </p:nvSpPr>
        <p:spPr>
          <a:xfrm>
            <a:off x="6479963" y="3204210"/>
            <a:ext cx="2230543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Prepare</a:t>
            </a:r>
          </a:p>
        </p:txBody>
      </p:sp>
      <p:sp>
        <p:nvSpPr>
          <p:cNvPr id="22" name="Cell 6"/>
          <p:cNvSpPr/>
          <p:nvPr/>
        </p:nvSpPr>
        <p:spPr>
          <a:xfrm>
            <a:off x="8875606" y="3077210"/>
            <a:ext cx="2503593" cy="124206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23" name="Cell 6 name"/>
          <p:cNvSpPr txBox="1"/>
          <p:nvPr/>
        </p:nvSpPr>
        <p:spPr>
          <a:xfrm>
            <a:off x="9002606" y="3204210"/>
            <a:ext cx="2249593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Second wave</a:t>
            </a:r>
          </a:p>
        </p:txBody>
      </p:sp>
      <p:sp>
        <p:nvSpPr>
          <p:cNvPr id="24" name="Cell 7"/>
          <p:cNvSpPr/>
          <p:nvPr/>
        </p:nvSpPr>
        <p:spPr>
          <a:xfrm>
            <a:off x="3811270" y="4357370"/>
            <a:ext cx="2503593" cy="1261109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25" name="Cell 7 name"/>
          <p:cNvSpPr txBox="1"/>
          <p:nvPr/>
        </p:nvSpPr>
        <p:spPr>
          <a:xfrm>
            <a:off x="3938270" y="4484370"/>
            <a:ext cx="2249593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Not yet</a:t>
            </a:r>
          </a:p>
        </p:txBody>
      </p:sp>
      <p:sp>
        <p:nvSpPr>
          <p:cNvPr id="26" name="Cell 8"/>
          <p:cNvSpPr/>
          <p:nvPr/>
        </p:nvSpPr>
        <p:spPr>
          <a:xfrm>
            <a:off x="6352963" y="4357370"/>
            <a:ext cx="2484543" cy="1261109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27" name="Cell 8 name"/>
          <p:cNvSpPr txBox="1"/>
          <p:nvPr/>
        </p:nvSpPr>
        <p:spPr>
          <a:xfrm>
            <a:off x="6479963" y="4484370"/>
            <a:ext cx="2230543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Inform</a:t>
            </a:r>
          </a:p>
        </p:txBody>
      </p:sp>
      <p:sp>
        <p:nvSpPr>
          <p:cNvPr id="28" name="Item Facilities"/>
          <p:cNvSpPr txBox="1"/>
          <p:nvPr/>
        </p:nvSpPr>
        <p:spPr>
          <a:xfrm>
            <a:off x="6479963" y="4747514"/>
            <a:ext cx="2230543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81610" indent="-181610">
              <a:lnSpc>
                <a:spcPct val="120000"/>
              </a:lnSpc>
              <a:buClr>
                <a:srgbClr val="2F5BD3"/>
              </a:buClr>
              <a:buChar char="•"/>
            </a:pPr>
            <a:r>
              <a:rPr sz="1300" b="0" i="0">
                <a:solidFill>
                  <a:srgbClr val="3D4450"/>
                </a:solidFill>
                <a:latin typeface="Arial"/>
                <a:ea typeface="Malgun Gothic"/>
                <a:cs typeface="Arial"/>
              </a:rPr>
              <a:t>Facilities</a:t>
            </a:r>
          </a:p>
        </p:txBody>
      </p:sp>
      <p:sp>
        <p:nvSpPr>
          <p:cNvPr id="29" name="Cell 9"/>
          <p:cNvSpPr/>
          <p:nvPr/>
        </p:nvSpPr>
        <p:spPr>
          <a:xfrm>
            <a:off x="8875606" y="4357370"/>
            <a:ext cx="2503593" cy="1261109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30" name="Cell 9 name"/>
          <p:cNvSpPr txBox="1"/>
          <p:nvPr/>
        </p:nvSpPr>
        <p:spPr>
          <a:xfrm>
            <a:off x="9002606" y="4484370"/>
            <a:ext cx="2249593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Offer tools</a:t>
            </a:r>
          </a:p>
        </p:txBody>
      </p:sp>
      <p:cxnSp>
        <p:nvCxnSpPr>
          <p:cNvPr id="31" name="X axis"/>
          <p:cNvCxnSpPr/>
          <p:nvPr/>
        </p:nvCxnSpPr>
        <p:spPr>
          <a:xfrm>
            <a:off x="3811270" y="5669280"/>
            <a:ext cx="7567930" cy="0"/>
          </a:xfrm>
          <a:prstGeom prst="line">
            <a:avLst/>
          </a:prstGeom>
          <a:ln w="12700">
            <a:solidFill>
              <a:srgbClr val="5E6672"/>
            </a:solidFill>
            <a:tailEnd type="triangle" w="med" len="med"/>
          </a:ln>
        </p:spPr>
      </p:cxnSp>
      <p:cxnSp>
        <p:nvCxnSpPr>
          <p:cNvPr id="32" name="Y axis"/>
          <p:cNvCxnSpPr/>
          <p:nvPr/>
        </p:nvCxnSpPr>
        <p:spPr>
          <a:xfrm flipV="1">
            <a:off x="3760470" y="1778000"/>
            <a:ext cx="0" cy="3840480"/>
          </a:xfrm>
          <a:prstGeom prst="line">
            <a:avLst/>
          </a:prstGeom>
          <a:ln w="12700">
            <a:solidFill>
              <a:srgbClr val="5E6672"/>
            </a:solidFill>
            <a:tailEnd type="triangle" w="med" len="med"/>
          </a:ln>
        </p:spPr>
      </p:cxnSp>
      <p:sp>
        <p:nvSpPr>
          <p:cNvPr id="33" name="X axis left"/>
          <p:cNvSpPr txBox="1"/>
          <p:nvPr/>
        </p:nvSpPr>
        <p:spPr>
          <a:xfrm>
            <a:off x="3811270" y="5694680"/>
            <a:ext cx="389126" cy="2235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E6672"/>
                </a:solidFill>
                <a:latin typeface="Arial"/>
                <a:ea typeface="Malgun Gothic"/>
                <a:cs typeface="Arial"/>
              </a:rPr>
              <a:t>Low</a:t>
            </a:r>
          </a:p>
        </p:txBody>
      </p:sp>
      <p:sp>
        <p:nvSpPr>
          <p:cNvPr id="34" name="X axis center"/>
          <p:cNvSpPr txBox="1"/>
          <p:nvPr/>
        </p:nvSpPr>
        <p:spPr>
          <a:xfrm>
            <a:off x="7017336" y="5694680"/>
            <a:ext cx="1155797" cy="2235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Data readiness</a:t>
            </a:r>
          </a:p>
        </p:txBody>
      </p:sp>
      <p:sp>
        <p:nvSpPr>
          <p:cNvPr id="35" name="X axis right"/>
          <p:cNvSpPr txBox="1"/>
          <p:nvPr/>
        </p:nvSpPr>
        <p:spPr>
          <a:xfrm>
            <a:off x="10955247" y="5694680"/>
            <a:ext cx="423952" cy="2235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>
              <a:lnSpc>
                <a:spcPct val="120000"/>
              </a:lnSpc>
            </a:pPr>
            <a:r>
              <a:rPr sz="1100" b="0" i="0">
                <a:solidFill>
                  <a:srgbClr val="5E6672"/>
                </a:solidFill>
                <a:latin typeface="Arial"/>
                <a:ea typeface="Malgun Gothic"/>
                <a:cs typeface="Arial"/>
              </a:rPr>
              <a:t>High</a:t>
            </a:r>
          </a:p>
        </p:txBody>
      </p:sp>
      <p:sp>
        <p:nvSpPr>
          <p:cNvPr id="36" name="Y axis left"/>
          <p:cNvSpPr txBox="1"/>
          <p:nvPr/>
        </p:nvSpPr>
        <p:spPr>
          <a:xfrm rot="16200000">
            <a:off x="3428746" y="5312156"/>
            <a:ext cx="389126" cy="2235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5E6672"/>
                </a:solidFill>
                <a:latin typeface="Arial"/>
                <a:ea typeface="Malgun Gothic"/>
                <a:cs typeface="Arial"/>
              </a:rPr>
              <a:t>Low</a:t>
            </a:r>
          </a:p>
        </p:txBody>
      </p:sp>
      <p:sp>
        <p:nvSpPr>
          <p:cNvPr id="37" name="Y axis center"/>
          <p:cNvSpPr txBox="1"/>
          <p:nvPr/>
        </p:nvSpPr>
        <p:spPr>
          <a:xfrm rot="16200000">
            <a:off x="3080237" y="3586479"/>
            <a:ext cx="1086144" cy="2235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Team appetite</a:t>
            </a:r>
          </a:p>
        </p:txBody>
      </p:sp>
      <p:sp>
        <p:nvSpPr>
          <p:cNvPr id="38" name="Y axis right"/>
          <p:cNvSpPr txBox="1"/>
          <p:nvPr/>
        </p:nvSpPr>
        <p:spPr>
          <a:xfrm rot="16200000">
            <a:off x="3411333" y="1878216"/>
            <a:ext cx="423952" cy="2235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5E6672"/>
                </a:solidFill>
                <a:latin typeface="Arial"/>
                <a:ea typeface="Malgun Gothic"/>
                <a:cs typeface="Arial"/>
              </a:rPr>
              <a:t>High</a:t>
            </a:r>
          </a:p>
        </p:txBody>
      </p:sp>
      <p:cxnSp>
        <p:nvCxnSpPr>
          <p:cNvPr id="39" name="Footer rule"/>
          <p:cNvCxnSpPr/>
          <p:nvPr/>
        </p:nvCxnSpPr>
        <p:spPr>
          <a:xfrm>
            <a:off x="812800" y="6324600"/>
            <a:ext cx="10566400" cy="0"/>
          </a:xfrm>
          <a:prstGeom prst="line">
            <a:avLst/>
          </a:prstGeom>
          <a:ln w="6350">
            <a:solidFill>
              <a:srgbClr val="D9DDE3"/>
            </a:solidFill>
          </a:ln>
        </p:spPr>
      </p:cxnSp>
      <p:sp>
        <p:nvSpPr>
          <p:cNvPr id="40" name="Page number"/>
          <p:cNvSpPr txBox="1"/>
          <p:nvPr/>
        </p:nvSpPr>
        <p:spPr>
          <a:xfrm>
            <a:off x="10617200" y="6426200"/>
            <a:ext cx="7620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5E6672"/>
                </a:solidFill>
                <a:latin typeface="Consolas"/>
                <a:ea typeface="Malgun Gothic"/>
                <a:cs typeface="Consola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Number"/>
          <p:cNvSpPr txBox="1"/>
          <p:nvPr/>
        </p:nvSpPr>
        <p:spPr>
          <a:xfrm>
            <a:off x="812800" y="2139188"/>
            <a:ext cx="8453120" cy="609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3200" b="0" i="0">
                <a:solidFill>
                  <a:srgbClr val="2F5BD3"/>
                </a:solidFill>
                <a:latin typeface="Consolas"/>
                <a:ea typeface="Malgun Gothic"/>
                <a:cs typeface="Consolas"/>
              </a:rPr>
              <a:t>02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812800" y="2522829"/>
            <a:ext cx="8453120" cy="819302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5000"/>
              </a:lnSpc>
            </a:pPr>
            <a:r>
              <a:rPr sz="32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How the options compare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812800" y="431800"/>
            <a:ext cx="105664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F5BD3"/>
                </a:solidFill>
                <a:latin typeface="Consolas"/>
                <a:ea typeface="Malgun Gothic"/>
                <a:cs typeface="Consolas"/>
              </a:rPr>
              <a:t>OPTIONS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812800" y="635000"/>
            <a:ext cx="10566400" cy="431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Buying a platform beats building on speed and on risk</a:t>
            </a:r>
          </a:p>
        </p:txBody>
      </p:sp>
      <p:sp>
        <p:nvSpPr>
          <p:cNvPr id="4" name="Rule"/>
          <p:cNvSpPr/>
          <p:nvPr/>
        </p:nvSpPr>
        <p:spPr>
          <a:xfrm>
            <a:off x="812800" y="1143000"/>
            <a:ext cx="533400" cy="25400"/>
          </a:xfrm>
          <a:prstGeom prst="rect">
            <a:avLst/>
          </a:prstGeom>
          <a:solidFill>
            <a:srgbClr val="2F5BD3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5" name="Source"/>
          <p:cNvSpPr txBox="1"/>
          <p:nvPr/>
        </p:nvSpPr>
        <p:spPr>
          <a:xfrm>
            <a:off x="812800" y="5708650"/>
            <a:ext cx="10566400" cy="20955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E6672"/>
                </a:solidFill>
                <a:latin typeface="Arial"/>
                <a:ea typeface="Malgun Gothic"/>
                <a:cs typeface="Arial"/>
              </a:rPr>
              <a:t>Source: Illustrative assessment, example deck</a:t>
            </a:r>
          </a:p>
        </p:txBody>
      </p:sp>
      <p:graphicFrame>
        <p:nvGraphicFramePr>
          <p:cNvPr id="6" name="Table"/>
          <p:cNvGraphicFramePr>
            <a:graphicFrameLocks noGrp="1"/>
          </p:cNvGraphicFramePr>
          <p:nvPr/>
        </p:nvGraphicFramePr>
        <p:xfrm>
          <a:off x="812800" y="1422400"/>
          <a:ext cx="10566395" cy="1719579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1999048"/>
                <a:gridCol w="1427891"/>
                <a:gridCol w="1427891"/>
                <a:gridCol w="1427891"/>
                <a:gridCol w="1427891"/>
                <a:gridCol w="2855783"/>
              </a:tblGrid>
              <a:tr h="42418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5E6672"/>
                          </a:solidFill>
                          <a:latin typeface="Arial"/>
                          <a:ea typeface="Malgun Gothic"/>
                          <a:cs typeface="Arial"/>
                        </a:rPr>
                        <a:t>Option</a:t>
                      </a:r>
                    </a:p>
                  </a:txBody>
                  <a:tcPr marL="63500" marR="63500" marT="63500" marB="63500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9DDE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5E6672"/>
                          </a:solidFill>
                          <a:latin typeface="Arial"/>
                          <a:ea typeface="Malgun Gothic"/>
                          <a:cs typeface="Arial"/>
                        </a:rPr>
                        <a:t>Cost</a:t>
                      </a:r>
                    </a:p>
                  </a:txBody>
                  <a:tcPr marL="63500" marR="63500" marT="63500" marB="63500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9DDE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5E6672"/>
                          </a:solidFill>
                          <a:latin typeface="Arial"/>
                          <a:ea typeface="Malgun Gothic"/>
                          <a:cs typeface="Arial"/>
                        </a:rPr>
                        <a:t>Speed</a:t>
                      </a:r>
                    </a:p>
                  </a:txBody>
                  <a:tcPr marL="63500" marR="63500" marT="63500" marB="63500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9DDE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5E6672"/>
                          </a:solidFill>
                          <a:latin typeface="Arial"/>
                          <a:ea typeface="Malgun Gothic"/>
                          <a:cs typeface="Arial"/>
                        </a:rPr>
                        <a:t>Risk control</a:t>
                      </a:r>
                    </a:p>
                  </a:txBody>
                  <a:tcPr marL="63500" marR="63500" marT="63500" marB="63500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9DDE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5E6672"/>
                          </a:solidFill>
                          <a:latin typeface="Arial"/>
                          <a:ea typeface="Malgun Gothic"/>
                          <a:cs typeface="Arial"/>
                        </a:rPr>
                        <a:t>Fit</a:t>
                      </a:r>
                    </a:p>
                  </a:txBody>
                  <a:tcPr marL="63500" marR="63500" marT="63500" marB="63500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9DDE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5E6672"/>
                          </a:solidFill>
                          <a:latin typeface="Arial"/>
                          <a:ea typeface="Malgun Gothic"/>
                          <a:cs typeface="Arial"/>
                        </a:rPr>
                        <a:t>Verdict</a:t>
                      </a:r>
                    </a:p>
                  </a:txBody>
                  <a:tcPr marL="63500" marR="63500" marT="63500" marB="63500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9DDE3"/>
                      </a:solidFill>
                    </a:lnB>
                    <a:noFill/>
                  </a:tcPr>
                </a:tc>
              </a:tr>
              <a:tr h="364744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328"/>
                          </a:solidFill>
                          <a:latin typeface="Arial"/>
                          <a:ea typeface="Malgun Gothic"/>
                          <a:cs typeface="Arial"/>
                        </a:rPr>
                        <a:t>Build in-house</a:t>
                      </a:r>
                    </a:p>
                  </a:txBody>
                  <a:tcPr marL="63500" marR="63500" marT="63500" marB="635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1300"/>
                    </a:p>
                  </a:txBody>
                  <a:tcPr marL="63500" marR="63500" marT="63500" marB="635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1300"/>
                    </a:p>
                  </a:txBody>
                  <a:tcPr marL="63500" marR="63500" marT="63500" marB="635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1300"/>
                    </a:p>
                  </a:txBody>
                  <a:tcPr marL="63500" marR="63500" marT="63500" marB="635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1300"/>
                    </a:p>
                  </a:txBody>
                  <a:tcPr marL="63500" marR="63500" marT="63500" marB="635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328"/>
                          </a:solidFill>
                          <a:latin typeface="Arial"/>
                          <a:ea typeface="Malgun Gothic"/>
                          <a:cs typeface="Arial"/>
                        </a:rPr>
                        <a:t>Not preferred</a:t>
                      </a:r>
                    </a:p>
                  </a:txBody>
                  <a:tcPr marL="63500" marR="63500" marT="63500" marB="635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noFill/>
                  </a:tcPr>
                </a:tc>
              </a:tr>
              <a:tr h="565911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328"/>
                          </a:solidFill>
                          <a:latin typeface="Arial"/>
                          <a:ea typeface="Malgun Gothic"/>
                          <a:cs typeface="Arial"/>
                        </a:rPr>
                        <a:t>Buy a platform</a:t>
                      </a:r>
                    </a:p>
                  </a:txBody>
                  <a:tcPr marL="63500" marR="63500" marT="63500" marB="635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1300"/>
                    </a:p>
                  </a:txBody>
                  <a:tcPr marL="63500" marR="63500" marT="63500" marB="635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1300"/>
                    </a:p>
                  </a:txBody>
                  <a:tcPr marL="63500" marR="63500" marT="63500" marB="635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1300"/>
                    </a:p>
                  </a:txBody>
                  <a:tcPr marL="63500" marR="63500" marT="63500" marB="635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1300"/>
                    </a:p>
                  </a:txBody>
                  <a:tcPr marL="63500" marR="63500" marT="63500" marB="635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 i="0">
                          <a:solidFill>
                            <a:srgbClr val="1F2328"/>
                          </a:solidFill>
                          <a:latin typeface="Arial"/>
                          <a:ea typeface="Malgun Gothic"/>
                          <a:cs typeface="Arial"/>
                        </a:rPr>
                        <a:t>Preferred</a:t>
                      </a:r>
                    </a:p>
                    <a:p>
                      <a:pPr algn="l"/>
                      <a:r>
                        <a:rPr sz="1100" b="0" i="0">
                          <a:solidFill>
                            <a:srgbClr val="5E6672"/>
                          </a:solidFill>
                          <a:latin typeface="Arial"/>
                          <a:ea typeface="Malgun Gothic"/>
                          <a:cs typeface="Arial"/>
                        </a:rPr>
                        <a:t>pending a security review</a:t>
                      </a:r>
                    </a:p>
                  </a:txBody>
                  <a:tcPr marL="63500" marR="63500" marT="63500" marB="635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noFill/>
                  </a:tcPr>
                </a:tc>
              </a:tr>
              <a:tr h="364744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328"/>
                          </a:solidFill>
                          <a:latin typeface="Arial"/>
                          <a:ea typeface="Malgun Gothic"/>
                          <a:cs typeface="Arial"/>
                        </a:rPr>
                        <a:t>Extend current tools</a:t>
                      </a:r>
                    </a:p>
                  </a:txBody>
                  <a:tcPr marL="63500" marR="63500" marT="63500" marB="635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9DDE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1300"/>
                    </a:p>
                  </a:txBody>
                  <a:tcPr marL="63500" marR="63500" marT="63500" marB="635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9DDE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1300"/>
                    </a:p>
                  </a:txBody>
                  <a:tcPr marL="63500" marR="63500" marT="63500" marB="635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9DDE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1300"/>
                    </a:p>
                  </a:txBody>
                  <a:tcPr marL="63500" marR="63500" marT="63500" marB="635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9DDE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1300"/>
                    </a:p>
                  </a:txBody>
                  <a:tcPr marL="63500" marR="63500" marT="63500" marB="635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9DDE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328"/>
                          </a:solidFill>
                          <a:latin typeface="Arial"/>
                          <a:ea typeface="Malgun Gothic"/>
                          <a:cs typeface="Arial"/>
                        </a:rPr>
                        <a:t>Fallback option</a:t>
                      </a:r>
                    </a:p>
                  </a:txBody>
                  <a:tcPr marL="63500" marR="63500" marT="63500" marB="635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9DDE3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Symbol harvey 1 fill"/>
          <p:cNvSpPr/>
          <p:nvPr/>
        </p:nvSpPr>
        <p:spPr>
          <a:xfrm>
            <a:off x="3434989" y="1938146"/>
            <a:ext cx="181610" cy="181610"/>
          </a:xfrm>
          <a:prstGeom prst="pie">
            <a:avLst>
              <a:gd name="adj1" fmla="val 16200000"/>
              <a:gd name="adj2" fmla="val 0"/>
            </a:avLst>
          </a:prstGeom>
          <a:solidFill>
            <a:srgbClr val="1F23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ymbol harvey 1"/>
          <p:cNvSpPr/>
          <p:nvPr/>
        </p:nvSpPr>
        <p:spPr>
          <a:xfrm>
            <a:off x="3434989" y="1938146"/>
            <a:ext cx="181610" cy="181610"/>
          </a:xfrm>
          <a:prstGeom prst="ellipse">
            <a:avLst/>
          </a:prstGeom>
          <a:noFill/>
          <a:ln w="12700">
            <a:solidFill>
              <a:srgbClr val="1F232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ymbol harvey 1 fill"/>
          <p:cNvSpPr/>
          <p:nvPr/>
        </p:nvSpPr>
        <p:spPr>
          <a:xfrm>
            <a:off x="4862881" y="1938146"/>
            <a:ext cx="181610" cy="181610"/>
          </a:xfrm>
          <a:prstGeom prst="pie">
            <a:avLst>
              <a:gd name="adj1" fmla="val 16200000"/>
              <a:gd name="adj2" fmla="val 0"/>
            </a:avLst>
          </a:prstGeom>
          <a:solidFill>
            <a:srgbClr val="1F23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ymbol harvey 1"/>
          <p:cNvSpPr/>
          <p:nvPr/>
        </p:nvSpPr>
        <p:spPr>
          <a:xfrm>
            <a:off x="4862881" y="1938146"/>
            <a:ext cx="181610" cy="181610"/>
          </a:xfrm>
          <a:prstGeom prst="ellipse">
            <a:avLst/>
          </a:prstGeom>
          <a:noFill/>
          <a:ln w="12700">
            <a:solidFill>
              <a:srgbClr val="1F232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ymbol harvey 2 fill"/>
          <p:cNvSpPr/>
          <p:nvPr/>
        </p:nvSpPr>
        <p:spPr>
          <a:xfrm>
            <a:off x="6290773" y="1938146"/>
            <a:ext cx="181610" cy="181610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1F23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Symbol harvey 2"/>
          <p:cNvSpPr/>
          <p:nvPr/>
        </p:nvSpPr>
        <p:spPr>
          <a:xfrm>
            <a:off x="6290773" y="1938146"/>
            <a:ext cx="181610" cy="181610"/>
          </a:xfrm>
          <a:prstGeom prst="ellipse">
            <a:avLst/>
          </a:prstGeom>
          <a:noFill/>
          <a:ln w="12700">
            <a:solidFill>
              <a:srgbClr val="1F232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Symbol harvey 4"/>
          <p:cNvSpPr/>
          <p:nvPr/>
        </p:nvSpPr>
        <p:spPr>
          <a:xfrm>
            <a:off x="7718665" y="1938146"/>
            <a:ext cx="181610" cy="181610"/>
          </a:xfrm>
          <a:prstGeom prst="ellipse">
            <a:avLst/>
          </a:prstGeom>
          <a:solidFill>
            <a:srgbClr val="1F23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Symbol harvey 3 fill"/>
          <p:cNvSpPr/>
          <p:nvPr/>
        </p:nvSpPr>
        <p:spPr>
          <a:xfrm>
            <a:off x="3434989" y="2302891"/>
            <a:ext cx="181610" cy="181610"/>
          </a:xfrm>
          <a:prstGeom prst="pie">
            <a:avLst>
              <a:gd name="adj1" fmla="val 16200000"/>
              <a:gd name="adj2" fmla="val 10800000"/>
            </a:avLst>
          </a:prstGeom>
          <a:solidFill>
            <a:srgbClr val="1F23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Symbol harvey 3"/>
          <p:cNvSpPr/>
          <p:nvPr/>
        </p:nvSpPr>
        <p:spPr>
          <a:xfrm>
            <a:off x="3434989" y="2302891"/>
            <a:ext cx="181610" cy="181610"/>
          </a:xfrm>
          <a:prstGeom prst="ellipse">
            <a:avLst/>
          </a:prstGeom>
          <a:noFill/>
          <a:ln w="12700">
            <a:solidFill>
              <a:srgbClr val="1F232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Symbol harvey 4"/>
          <p:cNvSpPr/>
          <p:nvPr/>
        </p:nvSpPr>
        <p:spPr>
          <a:xfrm>
            <a:off x="4862881" y="2302891"/>
            <a:ext cx="181610" cy="181610"/>
          </a:xfrm>
          <a:prstGeom prst="ellipse">
            <a:avLst/>
          </a:prstGeom>
          <a:solidFill>
            <a:srgbClr val="1F23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Symbol harvey 3 fill"/>
          <p:cNvSpPr/>
          <p:nvPr/>
        </p:nvSpPr>
        <p:spPr>
          <a:xfrm>
            <a:off x="6290773" y="2302891"/>
            <a:ext cx="181610" cy="181610"/>
          </a:xfrm>
          <a:prstGeom prst="pie">
            <a:avLst>
              <a:gd name="adj1" fmla="val 16200000"/>
              <a:gd name="adj2" fmla="val 10800000"/>
            </a:avLst>
          </a:prstGeom>
          <a:solidFill>
            <a:srgbClr val="1F23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Symbol harvey 3"/>
          <p:cNvSpPr/>
          <p:nvPr/>
        </p:nvSpPr>
        <p:spPr>
          <a:xfrm>
            <a:off x="6290773" y="2302891"/>
            <a:ext cx="181610" cy="181610"/>
          </a:xfrm>
          <a:prstGeom prst="ellipse">
            <a:avLst/>
          </a:prstGeom>
          <a:noFill/>
          <a:ln w="12700">
            <a:solidFill>
              <a:srgbClr val="1F232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Symbol harvey 3 fill"/>
          <p:cNvSpPr/>
          <p:nvPr/>
        </p:nvSpPr>
        <p:spPr>
          <a:xfrm>
            <a:off x="7718665" y="2302891"/>
            <a:ext cx="181610" cy="181610"/>
          </a:xfrm>
          <a:prstGeom prst="pie">
            <a:avLst>
              <a:gd name="adj1" fmla="val 16200000"/>
              <a:gd name="adj2" fmla="val 10800000"/>
            </a:avLst>
          </a:prstGeom>
          <a:solidFill>
            <a:srgbClr val="1F23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Symbol harvey 3"/>
          <p:cNvSpPr/>
          <p:nvPr/>
        </p:nvSpPr>
        <p:spPr>
          <a:xfrm>
            <a:off x="7718665" y="2302891"/>
            <a:ext cx="181610" cy="181610"/>
          </a:xfrm>
          <a:prstGeom prst="ellipse">
            <a:avLst/>
          </a:prstGeom>
          <a:noFill/>
          <a:ln w="12700">
            <a:solidFill>
              <a:srgbClr val="1F232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Symbol harvey 4"/>
          <p:cNvSpPr/>
          <p:nvPr/>
        </p:nvSpPr>
        <p:spPr>
          <a:xfrm>
            <a:off x="3434989" y="2868803"/>
            <a:ext cx="181610" cy="181610"/>
          </a:xfrm>
          <a:prstGeom prst="ellipse">
            <a:avLst/>
          </a:prstGeom>
          <a:solidFill>
            <a:srgbClr val="1F23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Symbol harvey 2 fill"/>
          <p:cNvSpPr/>
          <p:nvPr/>
        </p:nvSpPr>
        <p:spPr>
          <a:xfrm>
            <a:off x="4862881" y="2868803"/>
            <a:ext cx="181610" cy="181610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1F23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Symbol harvey 2"/>
          <p:cNvSpPr/>
          <p:nvPr/>
        </p:nvSpPr>
        <p:spPr>
          <a:xfrm>
            <a:off x="4862881" y="2868803"/>
            <a:ext cx="181610" cy="181610"/>
          </a:xfrm>
          <a:prstGeom prst="ellipse">
            <a:avLst/>
          </a:prstGeom>
          <a:noFill/>
          <a:ln w="12700">
            <a:solidFill>
              <a:srgbClr val="1F2328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4" name="Symbol harvey na"/>
          <p:cNvCxnSpPr/>
          <p:nvPr/>
        </p:nvCxnSpPr>
        <p:spPr>
          <a:xfrm>
            <a:off x="6327095" y="2959608"/>
            <a:ext cx="108966" cy="0"/>
          </a:xfrm>
          <a:prstGeom prst="line">
            <a:avLst/>
          </a:prstGeom>
          <a:ln w="19050">
            <a:solidFill>
              <a:srgbClr val="5E6672"/>
            </a:solidFill>
          </a:ln>
        </p:spPr>
      </p:cxnSp>
      <p:sp>
        <p:nvSpPr>
          <p:cNvPr id="25" name="Symbol harvey 2 fill"/>
          <p:cNvSpPr/>
          <p:nvPr/>
        </p:nvSpPr>
        <p:spPr>
          <a:xfrm>
            <a:off x="7718665" y="2868803"/>
            <a:ext cx="181610" cy="181610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1F23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Symbol harvey 2"/>
          <p:cNvSpPr/>
          <p:nvPr/>
        </p:nvSpPr>
        <p:spPr>
          <a:xfrm>
            <a:off x="7718665" y="2868803"/>
            <a:ext cx="181610" cy="181610"/>
          </a:xfrm>
          <a:prstGeom prst="ellipse">
            <a:avLst/>
          </a:prstGeom>
          <a:noFill/>
          <a:ln w="12700">
            <a:solidFill>
              <a:srgbClr val="1F232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Legend harvey 0"/>
          <p:cNvSpPr/>
          <p:nvPr/>
        </p:nvSpPr>
        <p:spPr>
          <a:xfrm>
            <a:off x="812800" y="3275012"/>
            <a:ext cx="146685" cy="146685"/>
          </a:xfrm>
          <a:prstGeom prst="ellipse">
            <a:avLst/>
          </a:prstGeom>
          <a:noFill/>
          <a:ln w="12700">
            <a:solidFill>
              <a:srgbClr val="1F232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Legend text 0"/>
          <p:cNvSpPr txBox="1"/>
          <p:nvPr/>
        </p:nvSpPr>
        <p:spPr>
          <a:xfrm>
            <a:off x="1022985" y="3243580"/>
            <a:ext cx="391427" cy="2095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E6672"/>
                </a:solidFill>
                <a:latin typeface="Arial"/>
                <a:ea typeface="Malgun Gothic"/>
                <a:cs typeface="Arial"/>
              </a:rPr>
              <a:t>None</a:t>
            </a:r>
          </a:p>
        </p:txBody>
      </p:sp>
      <p:sp>
        <p:nvSpPr>
          <p:cNvPr id="29" name="Legend harvey 1 fill"/>
          <p:cNvSpPr/>
          <p:nvPr/>
        </p:nvSpPr>
        <p:spPr>
          <a:xfrm>
            <a:off x="1643012" y="3275012"/>
            <a:ext cx="146685" cy="146685"/>
          </a:xfrm>
          <a:prstGeom prst="pie">
            <a:avLst>
              <a:gd name="adj1" fmla="val 16200000"/>
              <a:gd name="adj2" fmla="val 0"/>
            </a:avLst>
          </a:prstGeom>
          <a:solidFill>
            <a:srgbClr val="1F23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Legend harvey 1"/>
          <p:cNvSpPr/>
          <p:nvPr/>
        </p:nvSpPr>
        <p:spPr>
          <a:xfrm>
            <a:off x="1643012" y="3275012"/>
            <a:ext cx="146685" cy="146685"/>
          </a:xfrm>
          <a:prstGeom prst="ellipse">
            <a:avLst/>
          </a:prstGeom>
          <a:noFill/>
          <a:ln w="12700">
            <a:solidFill>
              <a:srgbClr val="1F232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Legend text 1"/>
          <p:cNvSpPr txBox="1"/>
          <p:nvPr/>
        </p:nvSpPr>
        <p:spPr>
          <a:xfrm>
            <a:off x="1853197" y="3243580"/>
            <a:ext cx="312187" cy="2095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E6672"/>
                </a:solidFill>
                <a:latin typeface="Arial"/>
                <a:ea typeface="Malgun Gothic"/>
                <a:cs typeface="Arial"/>
              </a:rPr>
              <a:t>Low</a:t>
            </a:r>
          </a:p>
        </p:txBody>
      </p:sp>
      <p:sp>
        <p:nvSpPr>
          <p:cNvPr id="32" name="Legend harvey 2 fill"/>
          <p:cNvSpPr/>
          <p:nvPr/>
        </p:nvSpPr>
        <p:spPr>
          <a:xfrm>
            <a:off x="2393984" y="3275012"/>
            <a:ext cx="146685" cy="146685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1F23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Legend harvey 2"/>
          <p:cNvSpPr/>
          <p:nvPr/>
        </p:nvSpPr>
        <p:spPr>
          <a:xfrm>
            <a:off x="2393984" y="3275012"/>
            <a:ext cx="146685" cy="146685"/>
          </a:xfrm>
          <a:prstGeom prst="ellipse">
            <a:avLst/>
          </a:prstGeom>
          <a:noFill/>
          <a:ln w="12700">
            <a:solidFill>
              <a:srgbClr val="1F232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Legend text 2"/>
          <p:cNvSpPr txBox="1"/>
          <p:nvPr/>
        </p:nvSpPr>
        <p:spPr>
          <a:xfrm>
            <a:off x="2604169" y="3243580"/>
            <a:ext cx="454681" cy="2095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E6672"/>
                </a:solidFill>
                <a:latin typeface="Arial"/>
                <a:ea typeface="Malgun Gothic"/>
                <a:cs typeface="Arial"/>
              </a:rPr>
              <a:t>Partial</a:t>
            </a:r>
          </a:p>
        </p:txBody>
      </p:sp>
      <p:sp>
        <p:nvSpPr>
          <p:cNvPr id="35" name="Legend harvey 3 fill"/>
          <p:cNvSpPr/>
          <p:nvPr/>
        </p:nvSpPr>
        <p:spPr>
          <a:xfrm>
            <a:off x="3287451" y="3275012"/>
            <a:ext cx="146685" cy="146685"/>
          </a:xfrm>
          <a:prstGeom prst="pie">
            <a:avLst>
              <a:gd name="adj1" fmla="val 16200000"/>
              <a:gd name="adj2" fmla="val 10800000"/>
            </a:avLst>
          </a:prstGeom>
          <a:solidFill>
            <a:srgbClr val="1F23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Legend harvey 3"/>
          <p:cNvSpPr/>
          <p:nvPr/>
        </p:nvSpPr>
        <p:spPr>
          <a:xfrm>
            <a:off x="3287451" y="3275012"/>
            <a:ext cx="146685" cy="146685"/>
          </a:xfrm>
          <a:prstGeom prst="ellipse">
            <a:avLst/>
          </a:prstGeom>
          <a:noFill/>
          <a:ln w="12700">
            <a:solidFill>
              <a:srgbClr val="1F232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Legend text 3"/>
          <p:cNvSpPr txBox="1"/>
          <p:nvPr/>
        </p:nvSpPr>
        <p:spPr>
          <a:xfrm>
            <a:off x="3497636" y="3243580"/>
            <a:ext cx="343847" cy="2095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E6672"/>
                </a:solidFill>
                <a:latin typeface="Arial"/>
                <a:ea typeface="Malgun Gothic"/>
                <a:cs typeface="Arial"/>
              </a:rPr>
              <a:t>High</a:t>
            </a:r>
          </a:p>
        </p:txBody>
      </p:sp>
      <p:sp>
        <p:nvSpPr>
          <p:cNvPr id="38" name="Legend harvey 4"/>
          <p:cNvSpPr/>
          <p:nvPr/>
        </p:nvSpPr>
        <p:spPr>
          <a:xfrm>
            <a:off x="4070084" y="3275012"/>
            <a:ext cx="146685" cy="146685"/>
          </a:xfrm>
          <a:prstGeom prst="ellipse">
            <a:avLst/>
          </a:prstGeom>
          <a:solidFill>
            <a:srgbClr val="1F23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Legend text 4"/>
          <p:cNvSpPr txBox="1"/>
          <p:nvPr/>
        </p:nvSpPr>
        <p:spPr>
          <a:xfrm>
            <a:off x="4280269" y="3243580"/>
            <a:ext cx="280393" cy="2095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E6672"/>
                </a:solidFill>
                <a:latin typeface="Arial"/>
                <a:ea typeface="Malgun Gothic"/>
                <a:cs typeface="Arial"/>
              </a:rPr>
              <a:t>Full</a:t>
            </a:r>
          </a:p>
        </p:txBody>
      </p:sp>
      <p:cxnSp>
        <p:nvCxnSpPr>
          <p:cNvPr id="40" name="Legend harvey na"/>
          <p:cNvCxnSpPr/>
          <p:nvPr/>
        </p:nvCxnSpPr>
        <p:spPr>
          <a:xfrm>
            <a:off x="4818599" y="3348354"/>
            <a:ext cx="88011" cy="0"/>
          </a:xfrm>
          <a:prstGeom prst="line">
            <a:avLst/>
          </a:prstGeom>
          <a:ln w="19050">
            <a:solidFill>
              <a:srgbClr val="5E6672"/>
            </a:solidFill>
          </a:ln>
        </p:spPr>
      </p:cxnSp>
      <p:sp>
        <p:nvSpPr>
          <p:cNvPr id="41" name="Legend text na"/>
          <p:cNvSpPr txBox="1"/>
          <p:nvPr/>
        </p:nvSpPr>
        <p:spPr>
          <a:xfrm>
            <a:off x="4999447" y="3243580"/>
            <a:ext cx="914068" cy="2095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E6672"/>
                </a:solidFill>
                <a:latin typeface="Arial"/>
                <a:ea typeface="Malgun Gothic"/>
                <a:cs typeface="Arial"/>
              </a:rPr>
              <a:t>Not assessed</a:t>
            </a:r>
          </a:p>
        </p:txBody>
      </p:sp>
      <p:cxnSp>
        <p:nvCxnSpPr>
          <p:cNvPr id="42" name="Footer rule"/>
          <p:cNvCxnSpPr/>
          <p:nvPr/>
        </p:nvCxnSpPr>
        <p:spPr>
          <a:xfrm>
            <a:off x="812800" y="6324600"/>
            <a:ext cx="10566400" cy="0"/>
          </a:xfrm>
          <a:prstGeom prst="line">
            <a:avLst/>
          </a:prstGeom>
          <a:ln w="6350">
            <a:solidFill>
              <a:srgbClr val="D9DDE3"/>
            </a:solidFill>
          </a:ln>
        </p:spPr>
      </p:cxnSp>
      <p:sp>
        <p:nvSpPr>
          <p:cNvPr id="43" name="Page number"/>
          <p:cNvSpPr txBox="1"/>
          <p:nvPr/>
        </p:nvSpPr>
        <p:spPr>
          <a:xfrm>
            <a:off x="10617200" y="6426200"/>
            <a:ext cx="7620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5E6672"/>
                </a:solidFill>
                <a:latin typeface="Consolas"/>
                <a:ea typeface="Malgun Gothic"/>
                <a:cs typeface="Consola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812800" y="431800"/>
            <a:ext cx="105664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F5BD3"/>
                </a:solidFill>
                <a:latin typeface="Consolas"/>
                <a:ea typeface="Malgun Gothic"/>
                <a:cs typeface="Consolas"/>
              </a:rPr>
              <a:t>OPTIONS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812800" y="635000"/>
            <a:ext cx="10566400" cy="431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Only one vendor meets every mandatory requirement</a:t>
            </a:r>
          </a:p>
        </p:txBody>
      </p:sp>
      <p:sp>
        <p:nvSpPr>
          <p:cNvPr id="4" name="Rule"/>
          <p:cNvSpPr/>
          <p:nvPr/>
        </p:nvSpPr>
        <p:spPr>
          <a:xfrm>
            <a:off x="812800" y="1143000"/>
            <a:ext cx="533400" cy="25400"/>
          </a:xfrm>
          <a:prstGeom prst="rect">
            <a:avLst/>
          </a:prstGeom>
          <a:solidFill>
            <a:srgbClr val="2F5BD3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5" name="Source"/>
          <p:cNvSpPr txBox="1"/>
          <p:nvPr/>
        </p:nvSpPr>
        <p:spPr>
          <a:xfrm>
            <a:off x="812800" y="5708650"/>
            <a:ext cx="10566400" cy="20955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E6672"/>
                </a:solidFill>
                <a:latin typeface="Arial"/>
                <a:ea typeface="Malgun Gothic"/>
                <a:cs typeface="Arial"/>
              </a:rPr>
              <a:t>Source: Illustrative requirements check, example deck</a:t>
            </a:r>
          </a:p>
        </p:txBody>
      </p:sp>
      <p:graphicFrame>
        <p:nvGraphicFramePr>
          <p:cNvPr id="6" name="Table"/>
          <p:cNvGraphicFramePr>
            <a:graphicFrameLocks noGrp="1"/>
          </p:cNvGraphicFramePr>
          <p:nvPr/>
        </p:nvGraphicFramePr>
        <p:xfrm>
          <a:off x="812800" y="1473200"/>
          <a:ext cx="10566397" cy="1883156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4696177"/>
                <a:gridCol w="1956740"/>
                <a:gridCol w="1956740"/>
                <a:gridCol w="1956740"/>
              </a:tblGrid>
              <a:tr h="42418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5E6672"/>
                          </a:solidFill>
                          <a:latin typeface="Arial"/>
                          <a:ea typeface="Malgun Gothic"/>
                          <a:cs typeface="Arial"/>
                        </a:rPr>
                        <a:t>Requirement</a:t>
                      </a:r>
                    </a:p>
                  </a:txBody>
                  <a:tcPr marL="63500" marR="63500" marT="63500" marB="63500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9DDE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2F5BD3"/>
                          </a:solidFill>
                          <a:latin typeface="Arial"/>
                          <a:ea typeface="Malgun Gothic"/>
                          <a:cs typeface="Arial"/>
                        </a:rPr>
                        <a:t>Vendor A</a:t>
                      </a:r>
                    </a:p>
                  </a:txBody>
                  <a:tcPr marL="63500" marR="63500" marT="63500" marB="63500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9DDE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5E6672"/>
                          </a:solidFill>
                          <a:latin typeface="Arial"/>
                          <a:ea typeface="Malgun Gothic"/>
                          <a:cs typeface="Arial"/>
                        </a:rPr>
                        <a:t>Vendor B</a:t>
                      </a:r>
                    </a:p>
                  </a:txBody>
                  <a:tcPr marL="63500" marR="63500" marT="63500" marB="63500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9DDE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5E6672"/>
                          </a:solidFill>
                          <a:latin typeface="Arial"/>
                          <a:ea typeface="Malgun Gothic"/>
                          <a:cs typeface="Arial"/>
                        </a:rPr>
                        <a:t>Vendor C</a:t>
                      </a:r>
                    </a:p>
                  </a:txBody>
                  <a:tcPr marL="63500" marR="63500" marT="63500" marB="63500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9DDE3"/>
                      </a:solidFill>
                    </a:lnB>
                    <a:noFill/>
                  </a:tcPr>
                </a:tc>
              </a:tr>
              <a:tr h="364744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328"/>
                          </a:solidFill>
                          <a:latin typeface="Arial"/>
                          <a:ea typeface="Malgun Gothic"/>
                          <a:cs typeface="Arial"/>
                        </a:rPr>
                        <a:t>Single sign-on</a:t>
                      </a:r>
                    </a:p>
                  </a:txBody>
                  <a:tcPr marL="63500" marR="63500" marT="63500" marB="635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1300"/>
                    </a:p>
                  </a:txBody>
                  <a:tcPr marL="63500" marR="63500" marT="63500" marB="635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0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1300"/>
                    </a:p>
                  </a:txBody>
                  <a:tcPr marL="63500" marR="63500" marT="63500" marB="635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1300"/>
                    </a:p>
                  </a:txBody>
                  <a:tcPr marL="63500" marR="63500" marT="63500" marB="635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noFill/>
                  </a:tcPr>
                </a:tc>
              </a:tr>
              <a:tr h="364744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328"/>
                          </a:solidFill>
                          <a:latin typeface="Arial"/>
                          <a:ea typeface="Malgun Gothic"/>
                          <a:cs typeface="Arial"/>
                        </a:rPr>
                        <a:t>Data stays in region</a:t>
                      </a:r>
                    </a:p>
                  </a:txBody>
                  <a:tcPr marL="63500" marR="63500" marT="63500" marB="635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1300"/>
                    </a:p>
                  </a:txBody>
                  <a:tcPr marL="63500" marR="63500" marT="63500" marB="635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0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1300"/>
                    </a:p>
                  </a:txBody>
                  <a:tcPr marL="63500" marR="63500" marT="63500" marB="635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1300"/>
                    </a:p>
                  </a:txBody>
                  <a:tcPr marL="63500" marR="63500" marT="63500" marB="635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noFill/>
                  </a:tcPr>
                </a:tc>
              </a:tr>
              <a:tr h="364744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328"/>
                          </a:solidFill>
                          <a:latin typeface="Arial"/>
                          <a:ea typeface="Malgun Gothic"/>
                          <a:cs typeface="Arial"/>
                        </a:rPr>
                        <a:t>Audit log export</a:t>
                      </a:r>
                    </a:p>
                  </a:txBody>
                  <a:tcPr marL="63500" marR="63500" marT="63500" marB="635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1300"/>
                    </a:p>
                  </a:txBody>
                  <a:tcPr marL="63500" marR="63500" marT="63500" marB="635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solidFill>
                      <a:srgbClr val="F0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1300"/>
                    </a:p>
                  </a:txBody>
                  <a:tcPr marL="63500" marR="63500" marT="63500" marB="635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1300"/>
                    </a:p>
                  </a:txBody>
                  <a:tcPr marL="63500" marR="63500" marT="63500" marB="635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noFill/>
                  </a:tcPr>
                </a:tc>
              </a:tr>
              <a:tr h="364744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328"/>
                          </a:solidFill>
                          <a:latin typeface="Arial"/>
                          <a:ea typeface="Malgun Gothic"/>
                          <a:cs typeface="Arial"/>
                        </a:rPr>
                        <a:t>Works with the finance system</a:t>
                      </a:r>
                    </a:p>
                  </a:txBody>
                  <a:tcPr marL="63500" marR="63500" marT="63500" marB="635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9DDE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1300"/>
                    </a:p>
                  </a:txBody>
                  <a:tcPr marL="63500" marR="63500" marT="63500" marB="635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9DDE3"/>
                      </a:solidFill>
                    </a:lnB>
                    <a:solidFill>
                      <a:srgbClr val="F0F4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1300"/>
                    </a:p>
                  </a:txBody>
                  <a:tcPr marL="63500" marR="63500" marT="63500" marB="635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9DDE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1300"/>
                    </a:p>
                  </a:txBody>
                  <a:tcPr marL="63500" marR="63500" marT="63500" marB="635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9DDE3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508977" y="1447800"/>
            <a:ext cx="1956740" cy="25400"/>
          </a:xfrm>
          <a:prstGeom prst="rect">
            <a:avLst/>
          </a:prstGeom>
          <a:solidFill>
            <a:srgbClr val="2F5BD3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8" name="Symbol check yes"/>
          <p:cNvSpPr/>
          <p:nvPr/>
        </p:nvSpPr>
        <p:spPr>
          <a:xfrm>
            <a:off x="6421968" y="2032533"/>
            <a:ext cx="134391" cy="98069"/>
          </a:xfrm>
          <a:custGeom>
            <a:avLst/>
            <a:gdLst/>
            <a:ahLst/>
            <a:cxnLst/>
            <a:rect l="l" t="t" r="r" b="b"/>
            <a:pathLst>
              <a:path w="134391" h="98069">
                <a:moveTo>
                  <a:pt x="0" y="50851"/>
                </a:moveTo>
                <a:lnTo>
                  <a:pt x="47219" y="98069"/>
                </a:lnTo>
                <a:lnTo>
                  <a:pt x="134391" y="0"/>
                </a:lnTo>
              </a:path>
            </a:pathLst>
          </a:custGeom>
          <a:noFill/>
          <a:ln w="25400">
            <a:solidFill>
              <a:srgbClr val="1A7F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ymbol check yes"/>
          <p:cNvSpPr/>
          <p:nvPr/>
        </p:nvSpPr>
        <p:spPr>
          <a:xfrm>
            <a:off x="8378709" y="2032533"/>
            <a:ext cx="134391" cy="98069"/>
          </a:xfrm>
          <a:custGeom>
            <a:avLst/>
            <a:gdLst/>
            <a:ahLst/>
            <a:cxnLst/>
            <a:rect l="l" t="t" r="r" b="b"/>
            <a:pathLst>
              <a:path w="134391" h="98069">
                <a:moveTo>
                  <a:pt x="0" y="50851"/>
                </a:moveTo>
                <a:lnTo>
                  <a:pt x="47218" y="98069"/>
                </a:lnTo>
                <a:lnTo>
                  <a:pt x="134391" y="0"/>
                </a:lnTo>
              </a:path>
            </a:pathLst>
          </a:custGeom>
          <a:noFill/>
          <a:ln w="25400">
            <a:solidFill>
              <a:srgbClr val="1A7F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ymbol check yes"/>
          <p:cNvSpPr/>
          <p:nvPr/>
        </p:nvSpPr>
        <p:spPr>
          <a:xfrm>
            <a:off x="10335450" y="2032533"/>
            <a:ext cx="134391" cy="98069"/>
          </a:xfrm>
          <a:custGeom>
            <a:avLst/>
            <a:gdLst/>
            <a:ahLst/>
            <a:cxnLst/>
            <a:rect l="l" t="t" r="r" b="b"/>
            <a:pathLst>
              <a:path w="134391" h="98069">
                <a:moveTo>
                  <a:pt x="0" y="50851"/>
                </a:moveTo>
                <a:lnTo>
                  <a:pt x="47218" y="98069"/>
                </a:lnTo>
                <a:lnTo>
                  <a:pt x="134391" y="0"/>
                </a:lnTo>
              </a:path>
            </a:pathLst>
          </a:custGeom>
          <a:noFill/>
          <a:ln w="25400">
            <a:solidFill>
              <a:srgbClr val="1A7F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ymbol check yes"/>
          <p:cNvSpPr/>
          <p:nvPr/>
        </p:nvSpPr>
        <p:spPr>
          <a:xfrm>
            <a:off x="6421968" y="2397277"/>
            <a:ext cx="134391" cy="98069"/>
          </a:xfrm>
          <a:custGeom>
            <a:avLst/>
            <a:gdLst/>
            <a:ahLst/>
            <a:cxnLst/>
            <a:rect l="l" t="t" r="r" b="b"/>
            <a:pathLst>
              <a:path w="134391" h="98069">
                <a:moveTo>
                  <a:pt x="0" y="50851"/>
                </a:moveTo>
                <a:lnTo>
                  <a:pt x="47219" y="98069"/>
                </a:lnTo>
                <a:lnTo>
                  <a:pt x="134391" y="0"/>
                </a:lnTo>
              </a:path>
            </a:pathLst>
          </a:custGeom>
          <a:noFill/>
          <a:ln w="25400">
            <a:solidFill>
              <a:srgbClr val="1A7F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Symbol check partial fill"/>
          <p:cNvSpPr/>
          <p:nvPr/>
        </p:nvSpPr>
        <p:spPr>
          <a:xfrm>
            <a:off x="8365996" y="2366403"/>
            <a:ext cx="156184" cy="156184"/>
          </a:xfrm>
          <a:prstGeom prst="pie">
            <a:avLst>
              <a:gd name="adj1" fmla="val 5400000"/>
              <a:gd name="adj2" fmla="val 16200000"/>
            </a:avLst>
          </a:prstGeom>
          <a:solidFill>
            <a:srgbClr val="9A5B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Symbol check partial"/>
          <p:cNvSpPr/>
          <p:nvPr/>
        </p:nvSpPr>
        <p:spPr>
          <a:xfrm>
            <a:off x="8365996" y="2366403"/>
            <a:ext cx="156184" cy="156184"/>
          </a:xfrm>
          <a:prstGeom prst="ellipse">
            <a:avLst/>
          </a:prstGeom>
          <a:noFill/>
          <a:ln w="15875">
            <a:solidFill>
              <a:srgbClr val="9A5B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4" name="Symbol check no"/>
          <p:cNvCxnSpPr/>
          <p:nvPr/>
        </p:nvCxnSpPr>
        <p:spPr>
          <a:xfrm>
            <a:off x="10346346" y="2390013"/>
            <a:ext cx="108966" cy="108966"/>
          </a:xfrm>
          <a:prstGeom prst="line">
            <a:avLst/>
          </a:prstGeom>
          <a:ln w="25400">
            <a:solidFill>
              <a:srgbClr val="B3261E"/>
            </a:solidFill>
          </a:ln>
        </p:spPr>
      </p:cxnSp>
      <p:cxnSp>
        <p:nvCxnSpPr>
          <p:cNvPr id="15" name="Symbol check no"/>
          <p:cNvCxnSpPr/>
          <p:nvPr/>
        </p:nvCxnSpPr>
        <p:spPr>
          <a:xfrm flipH="1">
            <a:off x="10346346" y="2390013"/>
            <a:ext cx="108966" cy="108966"/>
          </a:xfrm>
          <a:prstGeom prst="line">
            <a:avLst/>
          </a:prstGeom>
          <a:ln w="25400">
            <a:solidFill>
              <a:srgbClr val="B3261E"/>
            </a:solidFill>
          </a:ln>
        </p:spPr>
      </p:cxnSp>
      <p:sp>
        <p:nvSpPr>
          <p:cNvPr id="16" name="Symbol check yes"/>
          <p:cNvSpPr/>
          <p:nvPr/>
        </p:nvSpPr>
        <p:spPr>
          <a:xfrm>
            <a:off x="6421968" y="2762021"/>
            <a:ext cx="134391" cy="98069"/>
          </a:xfrm>
          <a:custGeom>
            <a:avLst/>
            <a:gdLst/>
            <a:ahLst/>
            <a:cxnLst/>
            <a:rect l="l" t="t" r="r" b="b"/>
            <a:pathLst>
              <a:path w="134391" h="98069">
                <a:moveTo>
                  <a:pt x="0" y="50851"/>
                </a:moveTo>
                <a:lnTo>
                  <a:pt x="47219" y="98069"/>
                </a:lnTo>
                <a:lnTo>
                  <a:pt x="134391" y="0"/>
                </a:lnTo>
              </a:path>
            </a:pathLst>
          </a:custGeom>
          <a:noFill/>
          <a:ln w="25400">
            <a:solidFill>
              <a:srgbClr val="1A7F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Symbol check yes"/>
          <p:cNvSpPr/>
          <p:nvPr/>
        </p:nvSpPr>
        <p:spPr>
          <a:xfrm>
            <a:off x="8378709" y="2762021"/>
            <a:ext cx="134391" cy="98069"/>
          </a:xfrm>
          <a:custGeom>
            <a:avLst/>
            <a:gdLst/>
            <a:ahLst/>
            <a:cxnLst/>
            <a:rect l="l" t="t" r="r" b="b"/>
            <a:pathLst>
              <a:path w="134391" h="98069">
                <a:moveTo>
                  <a:pt x="0" y="50851"/>
                </a:moveTo>
                <a:lnTo>
                  <a:pt x="47218" y="98069"/>
                </a:lnTo>
                <a:lnTo>
                  <a:pt x="134391" y="0"/>
                </a:lnTo>
              </a:path>
            </a:pathLst>
          </a:custGeom>
          <a:noFill/>
          <a:ln w="25400">
            <a:solidFill>
              <a:srgbClr val="1A7F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Symbol check partial fill"/>
          <p:cNvSpPr/>
          <p:nvPr/>
        </p:nvSpPr>
        <p:spPr>
          <a:xfrm>
            <a:off x="10322737" y="2731147"/>
            <a:ext cx="156184" cy="156184"/>
          </a:xfrm>
          <a:prstGeom prst="pie">
            <a:avLst>
              <a:gd name="adj1" fmla="val 5400000"/>
              <a:gd name="adj2" fmla="val 16200000"/>
            </a:avLst>
          </a:prstGeom>
          <a:solidFill>
            <a:srgbClr val="9A5B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Symbol check partial"/>
          <p:cNvSpPr/>
          <p:nvPr/>
        </p:nvSpPr>
        <p:spPr>
          <a:xfrm>
            <a:off x="10322737" y="2731147"/>
            <a:ext cx="156184" cy="156184"/>
          </a:xfrm>
          <a:prstGeom prst="ellipse">
            <a:avLst/>
          </a:prstGeom>
          <a:noFill/>
          <a:ln w="15875">
            <a:solidFill>
              <a:srgbClr val="9A5B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Symbol check yes"/>
          <p:cNvSpPr/>
          <p:nvPr/>
        </p:nvSpPr>
        <p:spPr>
          <a:xfrm>
            <a:off x="6421968" y="3126765"/>
            <a:ext cx="134391" cy="98069"/>
          </a:xfrm>
          <a:custGeom>
            <a:avLst/>
            <a:gdLst/>
            <a:ahLst/>
            <a:cxnLst/>
            <a:rect l="l" t="t" r="r" b="b"/>
            <a:pathLst>
              <a:path w="134391" h="98069">
                <a:moveTo>
                  <a:pt x="0" y="50851"/>
                </a:moveTo>
                <a:lnTo>
                  <a:pt x="47219" y="98069"/>
                </a:lnTo>
                <a:lnTo>
                  <a:pt x="134391" y="0"/>
                </a:lnTo>
              </a:path>
            </a:pathLst>
          </a:custGeom>
          <a:noFill/>
          <a:ln w="25400">
            <a:solidFill>
              <a:srgbClr val="1A7F4B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1" name="Symbol check no"/>
          <p:cNvCxnSpPr/>
          <p:nvPr/>
        </p:nvCxnSpPr>
        <p:spPr>
          <a:xfrm>
            <a:off x="8389605" y="3119501"/>
            <a:ext cx="108966" cy="108966"/>
          </a:xfrm>
          <a:prstGeom prst="line">
            <a:avLst/>
          </a:prstGeom>
          <a:ln w="25400">
            <a:solidFill>
              <a:srgbClr val="B3261E"/>
            </a:solidFill>
          </a:ln>
        </p:spPr>
      </p:cxnSp>
      <p:cxnSp>
        <p:nvCxnSpPr>
          <p:cNvPr id="22" name="Symbol check no"/>
          <p:cNvCxnSpPr/>
          <p:nvPr/>
        </p:nvCxnSpPr>
        <p:spPr>
          <a:xfrm flipH="1">
            <a:off x="8389605" y="3119501"/>
            <a:ext cx="108966" cy="108966"/>
          </a:xfrm>
          <a:prstGeom prst="line">
            <a:avLst/>
          </a:prstGeom>
          <a:ln w="25400">
            <a:solidFill>
              <a:srgbClr val="B3261E"/>
            </a:solidFill>
          </a:ln>
        </p:spPr>
      </p:cxnSp>
      <p:cxnSp>
        <p:nvCxnSpPr>
          <p:cNvPr id="23" name="Symbol check na"/>
          <p:cNvCxnSpPr/>
          <p:nvPr/>
        </p:nvCxnSpPr>
        <p:spPr>
          <a:xfrm>
            <a:off x="10346346" y="3173984"/>
            <a:ext cx="108966" cy="0"/>
          </a:xfrm>
          <a:prstGeom prst="line">
            <a:avLst/>
          </a:prstGeom>
          <a:ln w="19050">
            <a:solidFill>
              <a:srgbClr val="5E6672"/>
            </a:solidFill>
          </a:ln>
        </p:spPr>
      </p:cxnSp>
      <p:sp>
        <p:nvSpPr>
          <p:cNvPr id="24" name="Legend check yes"/>
          <p:cNvSpPr/>
          <p:nvPr/>
        </p:nvSpPr>
        <p:spPr>
          <a:xfrm>
            <a:off x="833335" y="3524592"/>
            <a:ext cx="108547" cy="79210"/>
          </a:xfrm>
          <a:custGeom>
            <a:avLst/>
            <a:gdLst/>
            <a:ahLst/>
            <a:cxnLst/>
            <a:rect l="l" t="t" r="r" b="b"/>
            <a:pathLst>
              <a:path w="108547" h="79210">
                <a:moveTo>
                  <a:pt x="0" y="41072"/>
                </a:moveTo>
                <a:lnTo>
                  <a:pt x="38139" y="79210"/>
                </a:lnTo>
                <a:lnTo>
                  <a:pt x="108547" y="0"/>
                </a:lnTo>
              </a:path>
            </a:pathLst>
          </a:custGeom>
          <a:noFill/>
          <a:ln w="25400">
            <a:solidFill>
              <a:srgbClr val="1A7F4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Legend text yes"/>
          <p:cNvSpPr txBox="1"/>
          <p:nvPr/>
        </p:nvSpPr>
        <p:spPr>
          <a:xfrm>
            <a:off x="1022985" y="3457955"/>
            <a:ext cx="288319" cy="2095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E6672"/>
                </a:solidFill>
                <a:latin typeface="Arial"/>
                <a:ea typeface="Malgun Gothic"/>
                <a:cs typeface="Arial"/>
              </a:rPr>
              <a:t>Met</a:t>
            </a:r>
          </a:p>
        </p:txBody>
      </p:sp>
      <p:sp>
        <p:nvSpPr>
          <p:cNvPr id="26" name="Legend check partial fill"/>
          <p:cNvSpPr/>
          <p:nvPr/>
        </p:nvSpPr>
        <p:spPr>
          <a:xfrm>
            <a:off x="1550172" y="3499656"/>
            <a:ext cx="126149" cy="126149"/>
          </a:xfrm>
          <a:prstGeom prst="pie">
            <a:avLst>
              <a:gd name="adj1" fmla="val 5400000"/>
              <a:gd name="adj2" fmla="val 16200000"/>
            </a:avLst>
          </a:prstGeom>
          <a:solidFill>
            <a:srgbClr val="9A5B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Legend check partial"/>
          <p:cNvSpPr/>
          <p:nvPr/>
        </p:nvSpPr>
        <p:spPr>
          <a:xfrm>
            <a:off x="1550172" y="3499656"/>
            <a:ext cx="126149" cy="126149"/>
          </a:xfrm>
          <a:prstGeom prst="ellipse">
            <a:avLst/>
          </a:prstGeom>
          <a:noFill/>
          <a:ln w="15875">
            <a:solidFill>
              <a:srgbClr val="9A5B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Legend text partial"/>
          <p:cNvSpPr txBox="1"/>
          <p:nvPr/>
        </p:nvSpPr>
        <p:spPr>
          <a:xfrm>
            <a:off x="1750089" y="3457955"/>
            <a:ext cx="692134" cy="2095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E6672"/>
                </a:solidFill>
                <a:latin typeface="Arial"/>
                <a:ea typeface="Malgun Gothic"/>
                <a:cs typeface="Arial"/>
              </a:rPr>
              <a:t>Partly met</a:t>
            </a:r>
          </a:p>
        </p:txBody>
      </p:sp>
      <p:cxnSp>
        <p:nvCxnSpPr>
          <p:cNvPr id="29" name="Legend check no"/>
          <p:cNvCxnSpPr/>
          <p:nvPr/>
        </p:nvCxnSpPr>
        <p:spPr>
          <a:xfrm>
            <a:off x="2700161" y="3518725"/>
            <a:ext cx="88011" cy="88011"/>
          </a:xfrm>
          <a:prstGeom prst="line">
            <a:avLst/>
          </a:prstGeom>
          <a:ln w="25400">
            <a:solidFill>
              <a:srgbClr val="B3261E"/>
            </a:solidFill>
          </a:ln>
        </p:spPr>
      </p:cxnSp>
      <p:cxnSp>
        <p:nvCxnSpPr>
          <p:cNvPr id="30" name="Legend check no"/>
          <p:cNvCxnSpPr/>
          <p:nvPr/>
        </p:nvCxnSpPr>
        <p:spPr>
          <a:xfrm flipH="1">
            <a:off x="2700161" y="3518725"/>
            <a:ext cx="88011" cy="88011"/>
          </a:xfrm>
          <a:prstGeom prst="line">
            <a:avLst/>
          </a:prstGeom>
          <a:ln w="25400">
            <a:solidFill>
              <a:srgbClr val="B3261E"/>
            </a:solidFill>
          </a:ln>
        </p:spPr>
      </p:cxnSp>
      <p:sp>
        <p:nvSpPr>
          <p:cNvPr id="31" name="Legend text no"/>
          <p:cNvSpPr txBox="1"/>
          <p:nvPr/>
        </p:nvSpPr>
        <p:spPr>
          <a:xfrm>
            <a:off x="2881009" y="3457955"/>
            <a:ext cx="549640" cy="2095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E6672"/>
                </a:solidFill>
                <a:latin typeface="Arial"/>
                <a:ea typeface="Malgun Gothic"/>
                <a:cs typeface="Arial"/>
              </a:rPr>
              <a:t>Not met</a:t>
            </a:r>
          </a:p>
        </p:txBody>
      </p:sp>
      <p:cxnSp>
        <p:nvCxnSpPr>
          <p:cNvPr id="32" name="Legend check na"/>
          <p:cNvCxnSpPr/>
          <p:nvPr/>
        </p:nvCxnSpPr>
        <p:spPr>
          <a:xfrm>
            <a:off x="3688586" y="3562730"/>
            <a:ext cx="88011" cy="0"/>
          </a:xfrm>
          <a:prstGeom prst="line">
            <a:avLst/>
          </a:prstGeom>
          <a:ln w="19050">
            <a:solidFill>
              <a:srgbClr val="5E6672"/>
            </a:solidFill>
          </a:ln>
        </p:spPr>
      </p:cxnSp>
      <p:sp>
        <p:nvSpPr>
          <p:cNvPr id="33" name="Legend text na"/>
          <p:cNvSpPr txBox="1"/>
          <p:nvPr/>
        </p:nvSpPr>
        <p:spPr>
          <a:xfrm>
            <a:off x="3869434" y="3457955"/>
            <a:ext cx="914068" cy="2095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E6672"/>
                </a:solidFill>
                <a:latin typeface="Arial"/>
                <a:ea typeface="Malgun Gothic"/>
                <a:cs typeface="Arial"/>
              </a:rPr>
              <a:t>Not assessed</a:t>
            </a:r>
          </a:p>
        </p:txBody>
      </p:sp>
      <p:cxnSp>
        <p:nvCxnSpPr>
          <p:cNvPr id="34" name="Footer rule"/>
          <p:cNvCxnSpPr/>
          <p:nvPr/>
        </p:nvCxnSpPr>
        <p:spPr>
          <a:xfrm>
            <a:off x="812800" y="6324600"/>
            <a:ext cx="10566400" cy="0"/>
          </a:xfrm>
          <a:prstGeom prst="line">
            <a:avLst/>
          </a:prstGeom>
          <a:ln w="6350">
            <a:solidFill>
              <a:srgbClr val="D9DDE3"/>
            </a:solidFill>
          </a:ln>
        </p:spPr>
      </p:cxnSp>
      <p:sp>
        <p:nvSpPr>
          <p:cNvPr id="35" name="Page number"/>
          <p:cNvSpPr txBox="1"/>
          <p:nvPr/>
        </p:nvSpPr>
        <p:spPr>
          <a:xfrm>
            <a:off x="10617200" y="6426200"/>
            <a:ext cx="7620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5E6672"/>
                </a:solidFill>
                <a:latin typeface="Consolas"/>
                <a:ea typeface="Malgun Gothic"/>
                <a:cs typeface="Consola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812800" y="431800"/>
            <a:ext cx="105664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F5BD3"/>
                </a:solidFill>
                <a:latin typeface="Consolas"/>
                <a:ea typeface="Malgun Gothic"/>
                <a:cs typeface="Consolas"/>
              </a:rPr>
              <a:t>READINESS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812800" y="635000"/>
            <a:ext cx="10566400" cy="431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Two of four preparation streams are on track</a:t>
            </a:r>
          </a:p>
        </p:txBody>
      </p:sp>
      <p:sp>
        <p:nvSpPr>
          <p:cNvPr id="4" name="Rule"/>
          <p:cNvSpPr/>
          <p:nvPr/>
        </p:nvSpPr>
        <p:spPr>
          <a:xfrm>
            <a:off x="812800" y="1143000"/>
            <a:ext cx="533400" cy="25400"/>
          </a:xfrm>
          <a:prstGeom prst="rect">
            <a:avLst/>
          </a:prstGeom>
          <a:solidFill>
            <a:srgbClr val="2F5BD3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5" name="Source"/>
          <p:cNvSpPr txBox="1"/>
          <p:nvPr/>
        </p:nvSpPr>
        <p:spPr>
          <a:xfrm>
            <a:off x="812800" y="5708650"/>
            <a:ext cx="10566400" cy="20955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E6672"/>
                </a:solidFill>
                <a:latin typeface="Arial"/>
                <a:ea typeface="Malgun Gothic"/>
                <a:cs typeface="Arial"/>
              </a:rPr>
              <a:t>Source: Illustrative status, example deck</a:t>
            </a:r>
          </a:p>
        </p:txBody>
      </p:sp>
      <p:graphicFrame>
        <p:nvGraphicFramePr>
          <p:cNvPr id="6" name="Table"/>
          <p:cNvGraphicFramePr>
            <a:graphicFrameLocks noGrp="1"/>
          </p:cNvGraphicFramePr>
          <p:nvPr/>
        </p:nvGraphicFramePr>
        <p:xfrm>
          <a:off x="812800" y="1422400"/>
          <a:ext cx="10566398" cy="1883156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2385961"/>
                <a:gridCol w="1704258"/>
                <a:gridCol w="2726812"/>
                <a:gridCol w="3749367"/>
              </a:tblGrid>
              <a:tr h="42418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5E6672"/>
                          </a:solidFill>
                          <a:latin typeface="Arial"/>
                          <a:ea typeface="Malgun Gothic"/>
                          <a:cs typeface="Arial"/>
                        </a:rPr>
                        <a:t>Stream</a:t>
                      </a:r>
                    </a:p>
                  </a:txBody>
                  <a:tcPr marL="63500" marR="63500" marT="63500" marB="63500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9DDE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5E6672"/>
                          </a:solidFill>
                          <a:latin typeface="Arial"/>
                          <a:ea typeface="Malgun Gothic"/>
                          <a:cs typeface="Arial"/>
                        </a:rPr>
                        <a:t>Owner</a:t>
                      </a:r>
                    </a:p>
                  </a:txBody>
                  <a:tcPr marL="63500" marR="63500" marT="63500" marB="63500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9DDE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5E6672"/>
                          </a:solidFill>
                          <a:latin typeface="Arial"/>
                          <a:ea typeface="Malgun Gothic"/>
                          <a:cs typeface="Arial"/>
                        </a:rPr>
                        <a:t>Status</a:t>
                      </a:r>
                    </a:p>
                  </a:txBody>
                  <a:tcPr marL="63500" marR="63500" marT="63500" marB="63500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9DDE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5E6672"/>
                          </a:solidFill>
                          <a:latin typeface="Arial"/>
                          <a:ea typeface="Malgun Gothic"/>
                          <a:cs typeface="Arial"/>
                        </a:rPr>
                        <a:t>Next step</a:t>
                      </a:r>
                    </a:p>
                  </a:txBody>
                  <a:tcPr marL="63500" marR="63500" marT="63500" marB="63500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9DDE3"/>
                      </a:solidFill>
                    </a:lnB>
                    <a:noFill/>
                  </a:tcPr>
                </a:tc>
              </a:tr>
              <a:tr h="364744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328"/>
                          </a:solidFill>
                          <a:latin typeface="Arial"/>
                          <a:ea typeface="Malgun Gothic"/>
                          <a:cs typeface="Arial"/>
                        </a:rPr>
                        <a:t>Data access</a:t>
                      </a:r>
                    </a:p>
                  </a:txBody>
                  <a:tcPr marL="63500" marR="63500" marT="63500" marB="635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328"/>
                          </a:solidFill>
                          <a:latin typeface="Arial"/>
                          <a:ea typeface="Malgun Gothic"/>
                          <a:cs typeface="Arial"/>
                        </a:rPr>
                        <a:t>Finance IT</a:t>
                      </a:r>
                    </a:p>
                  </a:txBody>
                  <a:tcPr marL="63500" marR="63500" marT="63500" marB="635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328"/>
                          </a:solidFill>
                          <a:latin typeface="Arial"/>
                          <a:ea typeface="Malgun Gothic"/>
                          <a:cs typeface="Arial"/>
                        </a:rPr>
                        <a:t>Approved</a:t>
                      </a:r>
                    </a:p>
                  </a:txBody>
                  <a:tcPr marL="321310" marR="63500" marT="63500" marB="635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328"/>
                          </a:solidFill>
                          <a:latin typeface="Arial"/>
                          <a:ea typeface="Malgun Gothic"/>
                          <a:cs typeface="Arial"/>
                        </a:rPr>
                        <a:t>Connect the test ledger</a:t>
                      </a:r>
                    </a:p>
                  </a:txBody>
                  <a:tcPr marL="63500" marR="63500" marT="63500" marB="635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noFill/>
                  </a:tcPr>
                </a:tc>
              </a:tr>
              <a:tr h="364744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328"/>
                          </a:solidFill>
                          <a:latin typeface="Arial"/>
                          <a:ea typeface="Malgun Gothic"/>
                          <a:cs typeface="Arial"/>
                        </a:rPr>
                        <a:t>Security review</a:t>
                      </a:r>
                    </a:p>
                  </a:txBody>
                  <a:tcPr marL="63500" marR="63500" marT="63500" marB="635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328"/>
                          </a:solidFill>
                          <a:latin typeface="Arial"/>
                          <a:ea typeface="Malgun Gothic"/>
                          <a:cs typeface="Arial"/>
                        </a:rPr>
                        <a:t>Security office</a:t>
                      </a:r>
                    </a:p>
                  </a:txBody>
                  <a:tcPr marL="63500" marR="63500" marT="63500" marB="635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328"/>
                          </a:solidFill>
                          <a:latin typeface="Arial"/>
                          <a:ea typeface="Malgun Gothic"/>
                          <a:cs typeface="Arial"/>
                        </a:rPr>
                        <a:t>Two findings open</a:t>
                      </a:r>
                    </a:p>
                  </a:txBody>
                  <a:tcPr marL="321310" marR="63500" marT="63500" marB="635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328"/>
                          </a:solidFill>
                          <a:latin typeface="Arial"/>
                          <a:ea typeface="Malgun Gothic"/>
                          <a:cs typeface="Arial"/>
                        </a:rPr>
                        <a:t>Close findings by week 6</a:t>
                      </a:r>
                    </a:p>
                  </a:txBody>
                  <a:tcPr marL="63500" marR="63500" marT="63500" marB="635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noFill/>
                  </a:tcPr>
                </a:tc>
              </a:tr>
              <a:tr h="364744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328"/>
                          </a:solidFill>
                          <a:latin typeface="Arial"/>
                          <a:ea typeface="Malgun Gothic"/>
                          <a:cs typeface="Arial"/>
                        </a:rPr>
                        <a:t>Process mapping</a:t>
                      </a:r>
                    </a:p>
                  </a:txBody>
                  <a:tcPr marL="63500" marR="63500" marT="63500" marB="635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328"/>
                          </a:solidFill>
                          <a:latin typeface="Arial"/>
                          <a:ea typeface="Malgun Gothic"/>
                          <a:cs typeface="Arial"/>
                        </a:rPr>
                        <a:t>Service desk</a:t>
                      </a:r>
                    </a:p>
                  </a:txBody>
                  <a:tcPr marL="63500" marR="63500" marT="63500" marB="635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328"/>
                          </a:solidFill>
                          <a:latin typeface="Arial"/>
                          <a:ea typeface="Malgun Gothic"/>
                          <a:cs typeface="Arial"/>
                        </a:rPr>
                        <a:t>Complete</a:t>
                      </a:r>
                    </a:p>
                  </a:txBody>
                  <a:tcPr marL="321310" marR="63500" marT="63500" marB="635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328"/>
                          </a:solidFill>
                          <a:latin typeface="Arial"/>
                          <a:ea typeface="Malgun Gothic"/>
                          <a:cs typeface="Arial"/>
                        </a:rPr>
                        <a:t>Agree success measures</a:t>
                      </a:r>
                    </a:p>
                  </a:txBody>
                  <a:tcPr marL="63500" marR="63500" marT="63500" marB="635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noFill/>
                  </a:tcPr>
                </a:tc>
              </a:tr>
              <a:tr h="364744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328"/>
                          </a:solidFill>
                          <a:latin typeface="Arial"/>
                          <a:ea typeface="Malgun Gothic"/>
                          <a:cs typeface="Arial"/>
                        </a:rPr>
                        <a:t>Change support</a:t>
                      </a:r>
                    </a:p>
                  </a:txBody>
                  <a:tcPr marL="63500" marR="63500" marT="63500" marB="635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9DDE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328"/>
                          </a:solidFill>
                          <a:latin typeface="Arial"/>
                          <a:ea typeface="Malgun Gothic"/>
                          <a:cs typeface="Arial"/>
                        </a:rPr>
                        <a:t>People team</a:t>
                      </a:r>
                    </a:p>
                  </a:txBody>
                  <a:tcPr marL="63500" marR="63500" marT="63500" marB="635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9DDE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328"/>
                          </a:solidFill>
                          <a:latin typeface="Arial"/>
                          <a:ea typeface="Malgun Gothic"/>
                          <a:cs typeface="Arial"/>
                        </a:rPr>
                        <a:t>No owner yet</a:t>
                      </a:r>
                    </a:p>
                  </a:txBody>
                  <a:tcPr marL="321310" marR="63500" marT="63500" marB="635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9DDE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328"/>
                          </a:solidFill>
                          <a:latin typeface="Arial"/>
                          <a:ea typeface="Malgun Gothic"/>
                          <a:cs typeface="Arial"/>
                        </a:rPr>
                        <a:t>Name an owner this month</a:t>
                      </a:r>
                    </a:p>
                  </a:txBody>
                  <a:tcPr marL="63500" marR="63500" marT="63500" marB="635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9DDE3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Symbol rag g"/>
          <p:cNvSpPr/>
          <p:nvPr/>
        </p:nvSpPr>
        <p:spPr>
          <a:xfrm>
            <a:off x="4986496" y="1958124"/>
            <a:ext cx="141655" cy="141655"/>
          </a:xfrm>
          <a:prstGeom prst="ellipse">
            <a:avLst/>
          </a:prstGeom>
          <a:solidFill>
            <a:srgbClr val="1A7F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ymbol rag a"/>
          <p:cNvSpPr/>
          <p:nvPr/>
        </p:nvSpPr>
        <p:spPr>
          <a:xfrm>
            <a:off x="4986496" y="2322868"/>
            <a:ext cx="141655" cy="141655"/>
          </a:xfrm>
          <a:prstGeom prst="ellipse">
            <a:avLst/>
          </a:prstGeom>
          <a:solidFill>
            <a:srgbClr val="9A5B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ymbol rag g"/>
          <p:cNvSpPr/>
          <p:nvPr/>
        </p:nvSpPr>
        <p:spPr>
          <a:xfrm>
            <a:off x="4986496" y="2687612"/>
            <a:ext cx="141655" cy="141655"/>
          </a:xfrm>
          <a:prstGeom prst="ellipse">
            <a:avLst/>
          </a:prstGeom>
          <a:solidFill>
            <a:srgbClr val="1A7F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ymbol rag r"/>
          <p:cNvSpPr/>
          <p:nvPr/>
        </p:nvSpPr>
        <p:spPr>
          <a:xfrm>
            <a:off x="4986496" y="3052356"/>
            <a:ext cx="141655" cy="141655"/>
          </a:xfrm>
          <a:prstGeom prst="ellipse">
            <a:avLst/>
          </a:prstGeom>
          <a:solidFill>
            <a:srgbClr val="B326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Legend rag g"/>
          <p:cNvSpPr/>
          <p:nvPr/>
        </p:nvSpPr>
        <p:spPr>
          <a:xfrm>
            <a:off x="828935" y="3454723"/>
            <a:ext cx="114414" cy="114414"/>
          </a:xfrm>
          <a:prstGeom prst="ellipse">
            <a:avLst/>
          </a:prstGeom>
          <a:solidFill>
            <a:srgbClr val="1A7F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Legend text g"/>
          <p:cNvSpPr txBox="1"/>
          <p:nvPr/>
        </p:nvSpPr>
        <p:spPr>
          <a:xfrm>
            <a:off x="1022985" y="3407155"/>
            <a:ext cx="589226" cy="2095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E6672"/>
                </a:solidFill>
                <a:latin typeface="Arial"/>
                <a:ea typeface="Malgun Gothic"/>
                <a:cs typeface="Arial"/>
              </a:rPr>
              <a:t>On track</a:t>
            </a:r>
          </a:p>
        </p:txBody>
      </p:sp>
      <p:sp>
        <p:nvSpPr>
          <p:cNvPr id="13" name="Legend rag a"/>
          <p:cNvSpPr/>
          <p:nvPr/>
        </p:nvSpPr>
        <p:spPr>
          <a:xfrm>
            <a:off x="1856947" y="3454723"/>
            <a:ext cx="114414" cy="114414"/>
          </a:xfrm>
          <a:prstGeom prst="ellipse">
            <a:avLst/>
          </a:prstGeom>
          <a:solidFill>
            <a:srgbClr val="9A5B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Legend text a"/>
          <p:cNvSpPr txBox="1"/>
          <p:nvPr/>
        </p:nvSpPr>
        <p:spPr>
          <a:xfrm>
            <a:off x="2050996" y="3407155"/>
            <a:ext cx="446621" cy="2095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E6672"/>
                </a:solidFill>
                <a:latin typeface="Arial"/>
                <a:ea typeface="Malgun Gothic"/>
                <a:cs typeface="Arial"/>
              </a:rPr>
              <a:t>At risk</a:t>
            </a:r>
          </a:p>
        </p:txBody>
      </p:sp>
      <p:sp>
        <p:nvSpPr>
          <p:cNvPr id="15" name="Legend rag r"/>
          <p:cNvSpPr/>
          <p:nvPr/>
        </p:nvSpPr>
        <p:spPr>
          <a:xfrm>
            <a:off x="2742353" y="3454723"/>
            <a:ext cx="114414" cy="114414"/>
          </a:xfrm>
          <a:prstGeom prst="ellipse">
            <a:avLst/>
          </a:prstGeom>
          <a:solidFill>
            <a:srgbClr val="B3261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Legend text r"/>
          <p:cNvSpPr txBox="1"/>
          <p:nvPr/>
        </p:nvSpPr>
        <p:spPr>
          <a:xfrm>
            <a:off x="2936403" y="3407155"/>
            <a:ext cx="586577" cy="2095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E6672"/>
                </a:solidFill>
                <a:latin typeface="Arial"/>
                <a:ea typeface="Malgun Gothic"/>
                <a:cs typeface="Arial"/>
              </a:rPr>
              <a:t>Off track</a:t>
            </a:r>
          </a:p>
        </p:txBody>
      </p:sp>
      <p:cxnSp>
        <p:nvCxnSpPr>
          <p:cNvPr id="17" name="Footer rule"/>
          <p:cNvCxnSpPr/>
          <p:nvPr/>
        </p:nvCxnSpPr>
        <p:spPr>
          <a:xfrm>
            <a:off x="812800" y="6324600"/>
            <a:ext cx="10566400" cy="0"/>
          </a:xfrm>
          <a:prstGeom prst="line">
            <a:avLst/>
          </a:prstGeom>
          <a:ln w="6350">
            <a:solidFill>
              <a:srgbClr val="D9DDE3"/>
            </a:solidFill>
          </a:ln>
        </p:spPr>
      </p:cxnSp>
      <p:sp>
        <p:nvSpPr>
          <p:cNvPr id="18" name="Page number"/>
          <p:cNvSpPr txBox="1"/>
          <p:nvPr/>
        </p:nvSpPr>
        <p:spPr>
          <a:xfrm>
            <a:off x="10617200" y="6426200"/>
            <a:ext cx="7620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5E6672"/>
                </a:solidFill>
                <a:latin typeface="Consolas"/>
                <a:ea typeface="Malgun Gothic"/>
                <a:cs typeface="Consola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812800" y="431800"/>
            <a:ext cx="105664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F5BD3"/>
                </a:solidFill>
                <a:latin typeface="Consolas"/>
                <a:ea typeface="Malgun Gothic"/>
                <a:cs typeface="Consolas"/>
              </a:rPr>
              <a:t>READINESS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812800" y="635000"/>
            <a:ext cx="10566400" cy="431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Finance leads on every capability the pilot needs</a:t>
            </a:r>
          </a:p>
        </p:txBody>
      </p:sp>
      <p:sp>
        <p:nvSpPr>
          <p:cNvPr id="4" name="Rule"/>
          <p:cNvSpPr/>
          <p:nvPr/>
        </p:nvSpPr>
        <p:spPr>
          <a:xfrm>
            <a:off x="812800" y="1143000"/>
            <a:ext cx="533400" cy="25400"/>
          </a:xfrm>
          <a:prstGeom prst="rect">
            <a:avLst/>
          </a:prstGeom>
          <a:solidFill>
            <a:srgbClr val="2F5BD3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5" name="Source"/>
          <p:cNvSpPr txBox="1"/>
          <p:nvPr/>
        </p:nvSpPr>
        <p:spPr>
          <a:xfrm>
            <a:off x="812800" y="5708650"/>
            <a:ext cx="10566400" cy="20955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E6672"/>
                </a:solidFill>
                <a:latin typeface="Arial"/>
                <a:ea typeface="Malgun Gothic"/>
                <a:cs typeface="Arial"/>
              </a:rPr>
              <a:t>Source: Illustrative assessment, example deck</a:t>
            </a:r>
          </a:p>
        </p:txBody>
      </p:sp>
      <p:graphicFrame>
        <p:nvGraphicFramePr>
          <p:cNvPr id="6" name="Table"/>
          <p:cNvGraphicFramePr>
            <a:graphicFrameLocks noGrp="1"/>
          </p:cNvGraphicFramePr>
          <p:nvPr/>
        </p:nvGraphicFramePr>
        <p:xfrm>
          <a:off x="812800" y="1422400"/>
          <a:ext cx="10566397" cy="1518412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3522133"/>
                <a:gridCol w="1761066"/>
                <a:gridCol w="1761066"/>
                <a:gridCol w="1761066"/>
                <a:gridCol w="1761066"/>
              </a:tblGrid>
              <a:tr h="42418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5E6672"/>
                          </a:solidFill>
                          <a:latin typeface="Arial"/>
                          <a:ea typeface="Malgun Gothic"/>
                          <a:cs typeface="Arial"/>
                        </a:rPr>
                        <a:t>Capability</a:t>
                      </a:r>
                    </a:p>
                  </a:txBody>
                  <a:tcPr marL="63500" marR="63500" marT="63500" marB="63500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9DDE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5E6672"/>
                          </a:solidFill>
                          <a:latin typeface="Arial"/>
                          <a:ea typeface="Malgun Gothic"/>
                          <a:cs typeface="Arial"/>
                        </a:rPr>
                        <a:t>Finance</a:t>
                      </a:r>
                    </a:p>
                  </a:txBody>
                  <a:tcPr marL="63500" marR="63500" marT="63500" marB="63500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9DDE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5E6672"/>
                          </a:solidFill>
                          <a:latin typeface="Arial"/>
                          <a:ea typeface="Malgun Gothic"/>
                          <a:cs typeface="Arial"/>
                        </a:rPr>
                        <a:t>Service desk</a:t>
                      </a:r>
                    </a:p>
                  </a:txBody>
                  <a:tcPr marL="63500" marR="63500" marT="63500" marB="63500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9DDE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5E6672"/>
                          </a:solidFill>
                          <a:latin typeface="Arial"/>
                          <a:ea typeface="Malgun Gothic"/>
                          <a:cs typeface="Arial"/>
                        </a:rPr>
                        <a:t>Procurement</a:t>
                      </a:r>
                    </a:p>
                  </a:txBody>
                  <a:tcPr marL="63500" marR="63500" marT="63500" marB="63500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9DDE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5E6672"/>
                          </a:solidFill>
                          <a:latin typeface="Arial"/>
                          <a:ea typeface="Malgun Gothic"/>
                          <a:cs typeface="Arial"/>
                        </a:rPr>
                        <a:t>Legal</a:t>
                      </a:r>
                    </a:p>
                  </a:txBody>
                  <a:tcPr marL="63500" marR="63500" marT="63500" marB="63500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9DDE3"/>
                      </a:solidFill>
                    </a:lnB>
                    <a:noFill/>
                  </a:tcPr>
                </a:tc>
              </a:tr>
              <a:tr h="364744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328"/>
                          </a:solidFill>
                          <a:latin typeface="Arial"/>
                          <a:ea typeface="Malgun Gothic"/>
                          <a:cs typeface="Arial"/>
                        </a:rPr>
                        <a:t>Clean source data</a:t>
                      </a:r>
                    </a:p>
                  </a:txBody>
                  <a:tcPr marL="63500" marR="63500" marT="63500" marB="635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1300"/>
                    </a:p>
                  </a:txBody>
                  <a:tcPr marL="63500" marR="63500" marT="63500" marB="635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1300"/>
                    </a:p>
                  </a:txBody>
                  <a:tcPr marL="63500" marR="63500" marT="63500" marB="635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1300"/>
                    </a:p>
                  </a:txBody>
                  <a:tcPr marL="63500" marR="63500" marT="63500" marB="635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1300"/>
                    </a:p>
                  </a:txBody>
                  <a:tcPr marL="63500" marR="63500" marT="63500" marB="635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noFill/>
                  </a:tcPr>
                </a:tc>
              </a:tr>
              <a:tr h="364744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328"/>
                          </a:solidFill>
                          <a:latin typeface="Arial"/>
                          <a:ea typeface="Malgun Gothic"/>
                          <a:cs typeface="Arial"/>
                        </a:rPr>
                        <a:t>Documented process</a:t>
                      </a:r>
                    </a:p>
                  </a:txBody>
                  <a:tcPr marL="63500" marR="63500" marT="63500" marB="635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1300"/>
                    </a:p>
                  </a:txBody>
                  <a:tcPr marL="63500" marR="63500" marT="63500" marB="635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1300"/>
                    </a:p>
                  </a:txBody>
                  <a:tcPr marL="63500" marR="63500" marT="63500" marB="635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1300"/>
                    </a:p>
                  </a:txBody>
                  <a:tcPr marL="63500" marR="63500" marT="63500" marB="635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1300"/>
                    </a:p>
                  </a:txBody>
                  <a:tcPr marL="63500" marR="63500" marT="63500" marB="635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DE3"/>
                      </a:solidFill>
                    </a:lnB>
                    <a:noFill/>
                  </a:tcPr>
                </a:tc>
              </a:tr>
              <a:tr h="364744">
                <a:tc>
                  <a:txBody>
                    <a:bodyPr wrap="square"/>
                    <a:lstStyle/>
                    <a:p>
                      <a:pPr algn="l"/>
                      <a:r>
                        <a:rPr sz="1300" b="0" i="0">
                          <a:solidFill>
                            <a:srgbClr val="1F2328"/>
                          </a:solidFill>
                          <a:latin typeface="Arial"/>
                          <a:ea typeface="Malgun Gothic"/>
                          <a:cs typeface="Arial"/>
                        </a:rPr>
                        <a:t>Named process owner</a:t>
                      </a:r>
                    </a:p>
                  </a:txBody>
                  <a:tcPr marL="63500" marR="63500" marT="63500" marB="635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9DDE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1300"/>
                    </a:p>
                  </a:txBody>
                  <a:tcPr marL="63500" marR="63500" marT="63500" marB="635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9DDE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1300"/>
                    </a:p>
                  </a:txBody>
                  <a:tcPr marL="63500" marR="63500" marT="63500" marB="635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9DDE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1300"/>
                    </a:p>
                  </a:txBody>
                  <a:tcPr marL="63500" marR="63500" marT="63500" marB="635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9DDE3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/>
                      <a:endParaRPr sz="1300"/>
                    </a:p>
                  </a:txBody>
                  <a:tcPr marL="63500" marR="63500" marT="63500" marB="63500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9DDE3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Symbol tier 1"/>
          <p:cNvSpPr/>
          <p:nvPr/>
        </p:nvSpPr>
        <p:spPr>
          <a:xfrm>
            <a:off x="5142822" y="1956308"/>
            <a:ext cx="145288" cy="145288"/>
          </a:xfrm>
          <a:prstGeom prst="rect">
            <a:avLst/>
          </a:prstGeom>
          <a:solidFill>
            <a:srgbClr val="2F5BD3"/>
          </a:solidFill>
          <a:ln w="12700">
            <a:solidFill>
              <a:srgbClr val="2F5B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ymbol tier 2 fill"/>
          <p:cNvSpPr/>
          <p:nvPr/>
        </p:nvSpPr>
        <p:spPr>
          <a:xfrm>
            <a:off x="6903889" y="2028952"/>
            <a:ext cx="145288" cy="72644"/>
          </a:xfrm>
          <a:prstGeom prst="rect">
            <a:avLst/>
          </a:prstGeom>
          <a:solidFill>
            <a:srgbClr val="2F5B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ymbol tier 2"/>
          <p:cNvSpPr/>
          <p:nvPr/>
        </p:nvSpPr>
        <p:spPr>
          <a:xfrm>
            <a:off x="6903889" y="1956308"/>
            <a:ext cx="145288" cy="145288"/>
          </a:xfrm>
          <a:prstGeom prst="rect">
            <a:avLst/>
          </a:prstGeom>
          <a:noFill/>
          <a:ln w="12700">
            <a:solidFill>
              <a:srgbClr val="2F5B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ymbol tier 2 fill"/>
          <p:cNvSpPr/>
          <p:nvPr/>
        </p:nvSpPr>
        <p:spPr>
          <a:xfrm>
            <a:off x="8664956" y="2028952"/>
            <a:ext cx="145288" cy="72644"/>
          </a:xfrm>
          <a:prstGeom prst="rect">
            <a:avLst/>
          </a:prstGeom>
          <a:solidFill>
            <a:srgbClr val="2F5B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ymbol tier 2"/>
          <p:cNvSpPr/>
          <p:nvPr/>
        </p:nvSpPr>
        <p:spPr>
          <a:xfrm>
            <a:off x="8664956" y="1956308"/>
            <a:ext cx="145288" cy="145288"/>
          </a:xfrm>
          <a:prstGeom prst="rect">
            <a:avLst/>
          </a:prstGeom>
          <a:noFill/>
          <a:ln w="12700">
            <a:solidFill>
              <a:srgbClr val="2F5B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Symbol tier 3"/>
          <p:cNvSpPr/>
          <p:nvPr/>
        </p:nvSpPr>
        <p:spPr>
          <a:xfrm>
            <a:off x="10426022" y="1956308"/>
            <a:ext cx="145288" cy="145288"/>
          </a:xfrm>
          <a:prstGeom prst="rect">
            <a:avLst/>
          </a:prstGeom>
          <a:noFill/>
          <a:ln w="12700">
            <a:solidFill>
              <a:srgbClr val="5E667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Symbol tier 1"/>
          <p:cNvSpPr/>
          <p:nvPr/>
        </p:nvSpPr>
        <p:spPr>
          <a:xfrm>
            <a:off x="5142822" y="2321052"/>
            <a:ext cx="145288" cy="145288"/>
          </a:xfrm>
          <a:prstGeom prst="rect">
            <a:avLst/>
          </a:prstGeom>
          <a:solidFill>
            <a:srgbClr val="2F5BD3"/>
          </a:solidFill>
          <a:ln w="12700">
            <a:solidFill>
              <a:srgbClr val="2F5B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Symbol tier 1"/>
          <p:cNvSpPr/>
          <p:nvPr/>
        </p:nvSpPr>
        <p:spPr>
          <a:xfrm>
            <a:off x="6903889" y="2321052"/>
            <a:ext cx="145288" cy="145288"/>
          </a:xfrm>
          <a:prstGeom prst="rect">
            <a:avLst/>
          </a:prstGeom>
          <a:solidFill>
            <a:srgbClr val="2F5BD3"/>
          </a:solidFill>
          <a:ln w="12700">
            <a:solidFill>
              <a:srgbClr val="2F5B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Symbol tier 3"/>
          <p:cNvSpPr/>
          <p:nvPr/>
        </p:nvSpPr>
        <p:spPr>
          <a:xfrm>
            <a:off x="8664956" y="2321052"/>
            <a:ext cx="145288" cy="145288"/>
          </a:xfrm>
          <a:prstGeom prst="rect">
            <a:avLst/>
          </a:prstGeom>
          <a:noFill/>
          <a:ln w="12700">
            <a:solidFill>
              <a:srgbClr val="5E667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Symbol tier 2 fill"/>
          <p:cNvSpPr/>
          <p:nvPr/>
        </p:nvSpPr>
        <p:spPr>
          <a:xfrm>
            <a:off x="10426022" y="2393696"/>
            <a:ext cx="145288" cy="72644"/>
          </a:xfrm>
          <a:prstGeom prst="rect">
            <a:avLst/>
          </a:prstGeom>
          <a:solidFill>
            <a:srgbClr val="2F5B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Symbol tier 2"/>
          <p:cNvSpPr/>
          <p:nvPr/>
        </p:nvSpPr>
        <p:spPr>
          <a:xfrm>
            <a:off x="10426022" y="2321052"/>
            <a:ext cx="145288" cy="145288"/>
          </a:xfrm>
          <a:prstGeom prst="rect">
            <a:avLst/>
          </a:prstGeom>
          <a:noFill/>
          <a:ln w="12700">
            <a:solidFill>
              <a:srgbClr val="2F5B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Symbol tier 1"/>
          <p:cNvSpPr/>
          <p:nvPr/>
        </p:nvSpPr>
        <p:spPr>
          <a:xfrm>
            <a:off x="5142822" y="2685796"/>
            <a:ext cx="145288" cy="145288"/>
          </a:xfrm>
          <a:prstGeom prst="rect">
            <a:avLst/>
          </a:prstGeom>
          <a:solidFill>
            <a:srgbClr val="2F5BD3"/>
          </a:solidFill>
          <a:ln w="12700">
            <a:solidFill>
              <a:srgbClr val="2F5B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Symbol tier 2 fill"/>
          <p:cNvSpPr/>
          <p:nvPr/>
        </p:nvSpPr>
        <p:spPr>
          <a:xfrm>
            <a:off x="6903889" y="2758440"/>
            <a:ext cx="145288" cy="72644"/>
          </a:xfrm>
          <a:prstGeom prst="rect">
            <a:avLst/>
          </a:prstGeom>
          <a:solidFill>
            <a:srgbClr val="2F5B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Symbol tier 2"/>
          <p:cNvSpPr/>
          <p:nvPr/>
        </p:nvSpPr>
        <p:spPr>
          <a:xfrm>
            <a:off x="6903889" y="2685796"/>
            <a:ext cx="145288" cy="145288"/>
          </a:xfrm>
          <a:prstGeom prst="rect">
            <a:avLst/>
          </a:prstGeom>
          <a:noFill/>
          <a:ln w="12700">
            <a:solidFill>
              <a:srgbClr val="2F5B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Symbol tier 2 fill"/>
          <p:cNvSpPr/>
          <p:nvPr/>
        </p:nvSpPr>
        <p:spPr>
          <a:xfrm>
            <a:off x="8664956" y="2758440"/>
            <a:ext cx="145288" cy="72644"/>
          </a:xfrm>
          <a:prstGeom prst="rect">
            <a:avLst/>
          </a:prstGeom>
          <a:solidFill>
            <a:srgbClr val="2F5B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Symbol tier 2"/>
          <p:cNvSpPr/>
          <p:nvPr/>
        </p:nvSpPr>
        <p:spPr>
          <a:xfrm>
            <a:off x="8664956" y="2685796"/>
            <a:ext cx="145288" cy="145288"/>
          </a:xfrm>
          <a:prstGeom prst="rect">
            <a:avLst/>
          </a:prstGeom>
          <a:noFill/>
          <a:ln w="12700">
            <a:solidFill>
              <a:srgbClr val="2F5BD3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3" name="Symbol tier na"/>
          <p:cNvCxnSpPr/>
          <p:nvPr/>
        </p:nvCxnSpPr>
        <p:spPr>
          <a:xfrm>
            <a:off x="10444183" y="2758440"/>
            <a:ext cx="108966" cy="0"/>
          </a:xfrm>
          <a:prstGeom prst="line">
            <a:avLst/>
          </a:prstGeom>
          <a:ln w="19050">
            <a:solidFill>
              <a:srgbClr val="5E6672"/>
            </a:solidFill>
          </a:ln>
        </p:spPr>
      </p:cxnSp>
      <p:sp>
        <p:nvSpPr>
          <p:cNvPr id="24" name="Legend tier 1"/>
          <p:cNvSpPr/>
          <p:nvPr/>
        </p:nvSpPr>
        <p:spPr>
          <a:xfrm>
            <a:off x="827468" y="3088513"/>
            <a:ext cx="117348" cy="117348"/>
          </a:xfrm>
          <a:prstGeom prst="rect">
            <a:avLst/>
          </a:prstGeom>
          <a:solidFill>
            <a:srgbClr val="2F5BD3"/>
          </a:solidFill>
          <a:ln w="12700">
            <a:solidFill>
              <a:srgbClr val="2F5B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Legend text 1"/>
          <p:cNvSpPr txBox="1"/>
          <p:nvPr/>
        </p:nvSpPr>
        <p:spPr>
          <a:xfrm>
            <a:off x="1022985" y="3042412"/>
            <a:ext cx="1130281" cy="2095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E6672"/>
                </a:solidFill>
                <a:latin typeface="Arial"/>
                <a:ea typeface="Malgun Gothic"/>
                <a:cs typeface="Arial"/>
              </a:rPr>
              <a:t>Tier 1 (strongest)</a:t>
            </a:r>
          </a:p>
        </p:txBody>
      </p:sp>
      <p:sp>
        <p:nvSpPr>
          <p:cNvPr id="26" name="Legend tier 2 fill"/>
          <p:cNvSpPr/>
          <p:nvPr/>
        </p:nvSpPr>
        <p:spPr>
          <a:xfrm>
            <a:off x="2396534" y="3147187"/>
            <a:ext cx="117348" cy="58674"/>
          </a:xfrm>
          <a:prstGeom prst="rect">
            <a:avLst/>
          </a:prstGeom>
          <a:solidFill>
            <a:srgbClr val="2F5B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Legend tier 2"/>
          <p:cNvSpPr/>
          <p:nvPr/>
        </p:nvSpPr>
        <p:spPr>
          <a:xfrm>
            <a:off x="2396534" y="3088513"/>
            <a:ext cx="117348" cy="117348"/>
          </a:xfrm>
          <a:prstGeom prst="rect">
            <a:avLst/>
          </a:prstGeom>
          <a:noFill/>
          <a:ln w="12700">
            <a:solidFill>
              <a:srgbClr val="2F5BD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Legend text 2"/>
          <p:cNvSpPr txBox="1"/>
          <p:nvPr/>
        </p:nvSpPr>
        <p:spPr>
          <a:xfrm>
            <a:off x="2592051" y="3042412"/>
            <a:ext cx="409729" cy="2095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E6672"/>
                </a:solidFill>
                <a:latin typeface="Arial"/>
                <a:ea typeface="Malgun Gothic"/>
                <a:cs typeface="Arial"/>
              </a:rPr>
              <a:t>Tier 2</a:t>
            </a:r>
          </a:p>
        </p:txBody>
      </p:sp>
      <p:sp>
        <p:nvSpPr>
          <p:cNvPr id="29" name="Legend tier 3"/>
          <p:cNvSpPr/>
          <p:nvPr/>
        </p:nvSpPr>
        <p:spPr>
          <a:xfrm>
            <a:off x="3245048" y="3088513"/>
            <a:ext cx="117348" cy="117348"/>
          </a:xfrm>
          <a:prstGeom prst="rect">
            <a:avLst/>
          </a:prstGeom>
          <a:noFill/>
          <a:ln w="12700">
            <a:solidFill>
              <a:srgbClr val="5E667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Legend text 3"/>
          <p:cNvSpPr txBox="1"/>
          <p:nvPr/>
        </p:nvSpPr>
        <p:spPr>
          <a:xfrm>
            <a:off x="3440565" y="3042412"/>
            <a:ext cx="409729" cy="2095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E6672"/>
                </a:solidFill>
                <a:latin typeface="Arial"/>
                <a:ea typeface="Malgun Gothic"/>
                <a:cs typeface="Arial"/>
              </a:rPr>
              <a:t>Tier 3</a:t>
            </a:r>
          </a:p>
        </p:txBody>
      </p:sp>
      <p:cxnSp>
        <p:nvCxnSpPr>
          <p:cNvPr id="31" name="Legend tier na"/>
          <p:cNvCxnSpPr/>
          <p:nvPr/>
        </p:nvCxnSpPr>
        <p:spPr>
          <a:xfrm>
            <a:off x="4108231" y="3147187"/>
            <a:ext cx="88011" cy="0"/>
          </a:xfrm>
          <a:prstGeom prst="line">
            <a:avLst/>
          </a:prstGeom>
          <a:ln w="19050">
            <a:solidFill>
              <a:srgbClr val="5E6672"/>
            </a:solidFill>
          </a:ln>
        </p:spPr>
      </p:cxnSp>
      <p:sp>
        <p:nvSpPr>
          <p:cNvPr id="32" name="Legend text na"/>
          <p:cNvSpPr txBox="1"/>
          <p:nvPr/>
        </p:nvSpPr>
        <p:spPr>
          <a:xfrm>
            <a:off x="4289079" y="3042412"/>
            <a:ext cx="914068" cy="2095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E6672"/>
                </a:solidFill>
                <a:latin typeface="Arial"/>
                <a:ea typeface="Malgun Gothic"/>
                <a:cs typeface="Arial"/>
              </a:rPr>
              <a:t>Not assessed</a:t>
            </a:r>
          </a:p>
        </p:txBody>
      </p:sp>
      <p:cxnSp>
        <p:nvCxnSpPr>
          <p:cNvPr id="33" name="Footer rule"/>
          <p:cNvCxnSpPr/>
          <p:nvPr/>
        </p:nvCxnSpPr>
        <p:spPr>
          <a:xfrm>
            <a:off x="812800" y="6324600"/>
            <a:ext cx="10566400" cy="0"/>
          </a:xfrm>
          <a:prstGeom prst="line">
            <a:avLst/>
          </a:prstGeom>
          <a:ln w="6350">
            <a:solidFill>
              <a:srgbClr val="D9DDE3"/>
            </a:solidFill>
          </a:ln>
        </p:spPr>
      </p:cxnSp>
      <p:sp>
        <p:nvSpPr>
          <p:cNvPr id="34" name="Page number"/>
          <p:cNvSpPr txBox="1"/>
          <p:nvPr/>
        </p:nvSpPr>
        <p:spPr>
          <a:xfrm>
            <a:off x="10617200" y="6426200"/>
            <a:ext cx="7620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5E6672"/>
                </a:solidFill>
                <a:latin typeface="Consolas"/>
                <a:ea typeface="Malgun Gothic"/>
                <a:cs typeface="Consola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812800" y="431800"/>
            <a:ext cx="105664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F5BD3"/>
                </a:solidFill>
                <a:latin typeface="Consolas"/>
                <a:ea typeface="Malgun Gothic"/>
                <a:cs typeface="Consolas"/>
              </a:rPr>
              <a:t>OPERATING MODEL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812800" y="635000"/>
            <a:ext cx="10566400" cy="431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Five changes move work from manual queues to assisted flow</a:t>
            </a:r>
          </a:p>
        </p:txBody>
      </p:sp>
      <p:sp>
        <p:nvSpPr>
          <p:cNvPr id="4" name="Rule"/>
          <p:cNvSpPr/>
          <p:nvPr/>
        </p:nvSpPr>
        <p:spPr>
          <a:xfrm>
            <a:off x="812800" y="1143000"/>
            <a:ext cx="533400" cy="25400"/>
          </a:xfrm>
          <a:prstGeom prst="rect">
            <a:avLst/>
          </a:prstGeom>
          <a:solidFill>
            <a:srgbClr val="2F5BD3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5" name="Shift header 1"/>
          <p:cNvSpPr txBox="1"/>
          <p:nvPr/>
        </p:nvSpPr>
        <p:spPr>
          <a:xfrm>
            <a:off x="3366007" y="1422400"/>
            <a:ext cx="346964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5E6672"/>
                </a:solidFill>
                <a:latin typeface="Consolas"/>
                <a:ea typeface="Malgun Gothic"/>
                <a:cs typeface="Consolas"/>
              </a:rPr>
              <a:t>TODAY</a:t>
            </a:r>
          </a:p>
        </p:txBody>
      </p:sp>
      <p:sp>
        <p:nvSpPr>
          <p:cNvPr id="6" name="Shift header 2"/>
          <p:cNvSpPr txBox="1"/>
          <p:nvPr/>
        </p:nvSpPr>
        <p:spPr>
          <a:xfrm>
            <a:off x="7469632" y="1422400"/>
            <a:ext cx="3909568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F5BD3"/>
                </a:solidFill>
                <a:latin typeface="Consolas"/>
                <a:ea typeface="Malgun Gothic"/>
                <a:cs typeface="Consolas"/>
              </a:rPr>
              <a:t>TARGET</a:t>
            </a:r>
          </a:p>
        </p:txBody>
      </p:sp>
      <p:cxnSp>
        <p:nvCxnSpPr>
          <p:cNvPr id="7" name="Shift header rule"/>
          <p:cNvCxnSpPr/>
          <p:nvPr/>
        </p:nvCxnSpPr>
        <p:spPr>
          <a:xfrm>
            <a:off x="812800" y="1676400"/>
            <a:ext cx="10566400" cy="0"/>
          </a:xfrm>
          <a:prstGeom prst="line">
            <a:avLst/>
          </a:prstGeom>
          <a:ln w="12700">
            <a:solidFill>
              <a:srgbClr val="D9DDE3"/>
            </a:solidFill>
          </a:ln>
        </p:spPr>
      </p:cxnSp>
      <p:sp>
        <p:nvSpPr>
          <p:cNvPr id="8" name="Dimension 1"/>
          <p:cNvSpPr/>
          <p:nvPr/>
        </p:nvSpPr>
        <p:spPr>
          <a:xfrm>
            <a:off x="812800" y="1765300"/>
            <a:ext cx="2324608" cy="415544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9" name="Dimension 1 label"/>
          <p:cNvSpPr txBox="1"/>
          <p:nvPr/>
        </p:nvSpPr>
        <p:spPr>
          <a:xfrm>
            <a:off x="939800" y="1765300"/>
            <a:ext cx="2070608" cy="4155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Intake</a:t>
            </a:r>
          </a:p>
        </p:txBody>
      </p:sp>
      <p:sp>
        <p:nvSpPr>
          <p:cNvPr id="10" name="From 1"/>
          <p:cNvSpPr txBox="1"/>
          <p:nvPr/>
        </p:nvSpPr>
        <p:spPr>
          <a:xfrm>
            <a:off x="3366007" y="1727200"/>
            <a:ext cx="3469640" cy="491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E6672"/>
                </a:solidFill>
                <a:latin typeface="Arial"/>
                <a:ea typeface="Malgun Gothic"/>
                <a:cs typeface="Arial"/>
              </a:rPr>
              <a:t>Requests arrive by </a:t>
            </a:r>
            <a:r>
              <a:rPr sz="1300" b="1" i="0">
                <a:solidFill>
                  <a:srgbClr val="3D4450"/>
                </a:solidFill>
                <a:latin typeface="Arial"/>
                <a:ea typeface="Malgun Gothic"/>
                <a:cs typeface="Arial"/>
              </a:rPr>
              <a:t>email</a:t>
            </a:r>
          </a:p>
        </p:txBody>
      </p:sp>
      <p:sp>
        <p:nvSpPr>
          <p:cNvPr id="11" name="Shift arrow 1"/>
          <p:cNvSpPr/>
          <p:nvPr/>
        </p:nvSpPr>
        <p:spPr>
          <a:xfrm>
            <a:off x="7076440" y="1858772"/>
            <a:ext cx="152400" cy="228600"/>
          </a:xfrm>
          <a:prstGeom prst="chevron">
            <a:avLst>
              <a:gd name="adj" fmla="val 50000"/>
            </a:avLst>
          </a:prstGeom>
          <a:solidFill>
            <a:srgbClr val="8C939E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12" name="To 1"/>
          <p:cNvSpPr txBox="1"/>
          <p:nvPr/>
        </p:nvSpPr>
        <p:spPr>
          <a:xfrm>
            <a:off x="7469632" y="1727200"/>
            <a:ext cx="3909568" cy="491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Requests arrive through </a:t>
            </a:r>
            <a:r>
              <a:rPr sz="1300" b="1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one form</a:t>
            </a:r>
          </a:p>
        </p:txBody>
      </p:sp>
      <p:cxnSp>
        <p:nvCxnSpPr>
          <p:cNvPr id="13" name="Shift rule 1"/>
          <p:cNvCxnSpPr/>
          <p:nvPr/>
        </p:nvCxnSpPr>
        <p:spPr>
          <a:xfrm>
            <a:off x="812800" y="2218944"/>
            <a:ext cx="10566400" cy="0"/>
          </a:xfrm>
          <a:prstGeom prst="line">
            <a:avLst/>
          </a:prstGeom>
          <a:ln w="6350">
            <a:solidFill>
              <a:srgbClr val="D9DDE3"/>
            </a:solidFill>
          </a:ln>
        </p:spPr>
      </p:cxnSp>
      <p:sp>
        <p:nvSpPr>
          <p:cNvPr id="14" name="Dimension 2"/>
          <p:cNvSpPr/>
          <p:nvPr/>
        </p:nvSpPr>
        <p:spPr>
          <a:xfrm>
            <a:off x="812800" y="2257044"/>
            <a:ext cx="2324608" cy="415544"/>
          </a:xfrm>
          <a:prstGeom prst="rect">
            <a:avLst/>
          </a:prstGeom>
          <a:solidFill>
            <a:srgbClr val="EAEFFB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15" name="Dimension 2 label"/>
          <p:cNvSpPr txBox="1"/>
          <p:nvPr/>
        </p:nvSpPr>
        <p:spPr>
          <a:xfrm>
            <a:off x="939800" y="2257044"/>
            <a:ext cx="2070608" cy="4155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2F5BD3"/>
                </a:solidFill>
                <a:latin typeface="Arial"/>
                <a:ea typeface="Malgun Gothic"/>
                <a:cs typeface="Arial"/>
              </a:rPr>
              <a:t>Approval</a:t>
            </a:r>
          </a:p>
        </p:txBody>
      </p:sp>
      <p:sp>
        <p:nvSpPr>
          <p:cNvPr id="16" name="From 2"/>
          <p:cNvSpPr txBox="1"/>
          <p:nvPr/>
        </p:nvSpPr>
        <p:spPr>
          <a:xfrm>
            <a:off x="3366007" y="2218944"/>
            <a:ext cx="3469640" cy="491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E6672"/>
                </a:solidFill>
                <a:latin typeface="Arial"/>
                <a:ea typeface="Malgun Gothic"/>
                <a:cs typeface="Arial"/>
              </a:rPr>
              <a:t>A person checks </a:t>
            </a:r>
            <a:r>
              <a:rPr sz="1300" b="1" i="0">
                <a:solidFill>
                  <a:srgbClr val="3D4450"/>
                </a:solidFill>
                <a:latin typeface="Arial"/>
                <a:ea typeface="Malgun Gothic"/>
                <a:cs typeface="Arial"/>
              </a:rPr>
              <a:t>every</a:t>
            </a:r>
            <a:r>
              <a:rPr sz="1300" b="0" i="0">
                <a:solidFill>
                  <a:srgbClr val="5E6672"/>
                </a:solidFill>
                <a:latin typeface="Arial"/>
                <a:ea typeface="Malgun Gothic"/>
                <a:cs typeface="Arial"/>
              </a:rPr>
              <a:t> claim</a:t>
            </a:r>
          </a:p>
        </p:txBody>
      </p:sp>
      <p:sp>
        <p:nvSpPr>
          <p:cNvPr id="17" name="Shift arrow 2"/>
          <p:cNvSpPr/>
          <p:nvPr/>
        </p:nvSpPr>
        <p:spPr>
          <a:xfrm>
            <a:off x="7076440" y="2350516"/>
            <a:ext cx="152400" cy="228600"/>
          </a:xfrm>
          <a:prstGeom prst="chevron">
            <a:avLst>
              <a:gd name="adj" fmla="val 50000"/>
            </a:avLst>
          </a:prstGeom>
          <a:solidFill>
            <a:srgbClr val="2F5BD3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18" name="To 2"/>
          <p:cNvSpPr txBox="1"/>
          <p:nvPr/>
        </p:nvSpPr>
        <p:spPr>
          <a:xfrm>
            <a:off x="7469632" y="2218944"/>
            <a:ext cx="3909568" cy="491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Software checks, a person </a:t>
            </a:r>
            <a:r>
              <a:rPr sz="1300" b="1" i="0">
                <a:solidFill>
                  <a:srgbClr val="2F5BD3"/>
                </a:solidFill>
                <a:latin typeface="Arial"/>
                <a:ea typeface="Malgun Gothic"/>
                <a:cs typeface="Arial"/>
              </a:rPr>
              <a:t>decides</a:t>
            </a:r>
            <a:r>
              <a:rPr sz="13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 exceptions</a:t>
            </a:r>
          </a:p>
        </p:txBody>
      </p:sp>
      <p:cxnSp>
        <p:nvCxnSpPr>
          <p:cNvPr id="19" name="Shift rule 2"/>
          <p:cNvCxnSpPr/>
          <p:nvPr/>
        </p:nvCxnSpPr>
        <p:spPr>
          <a:xfrm>
            <a:off x="812800" y="2710688"/>
            <a:ext cx="10566400" cy="0"/>
          </a:xfrm>
          <a:prstGeom prst="line">
            <a:avLst/>
          </a:prstGeom>
          <a:ln w="6350">
            <a:solidFill>
              <a:srgbClr val="D9DDE3"/>
            </a:solidFill>
          </a:ln>
        </p:spPr>
      </p:cxnSp>
      <p:sp>
        <p:nvSpPr>
          <p:cNvPr id="20" name="Dimension 3"/>
          <p:cNvSpPr/>
          <p:nvPr/>
        </p:nvSpPr>
        <p:spPr>
          <a:xfrm>
            <a:off x="812800" y="2748788"/>
            <a:ext cx="2324608" cy="415544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21" name="Dimension 3 label"/>
          <p:cNvSpPr txBox="1"/>
          <p:nvPr/>
        </p:nvSpPr>
        <p:spPr>
          <a:xfrm>
            <a:off x="939800" y="2748788"/>
            <a:ext cx="2070608" cy="4155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Matching</a:t>
            </a:r>
          </a:p>
        </p:txBody>
      </p:sp>
      <p:sp>
        <p:nvSpPr>
          <p:cNvPr id="22" name="From 3"/>
          <p:cNvSpPr txBox="1"/>
          <p:nvPr/>
        </p:nvSpPr>
        <p:spPr>
          <a:xfrm>
            <a:off x="3366007" y="2710688"/>
            <a:ext cx="3469640" cy="491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E6672"/>
                </a:solidFill>
                <a:latin typeface="Arial"/>
                <a:ea typeface="Malgun Gothic"/>
                <a:cs typeface="Arial"/>
              </a:rPr>
              <a:t>Invoices matched line by line</a:t>
            </a:r>
          </a:p>
        </p:txBody>
      </p:sp>
      <p:sp>
        <p:nvSpPr>
          <p:cNvPr id="23" name="Shift arrow 3"/>
          <p:cNvSpPr/>
          <p:nvPr/>
        </p:nvSpPr>
        <p:spPr>
          <a:xfrm>
            <a:off x="7076440" y="2842260"/>
            <a:ext cx="152400" cy="228600"/>
          </a:xfrm>
          <a:prstGeom prst="chevron">
            <a:avLst>
              <a:gd name="adj" fmla="val 50000"/>
            </a:avLst>
          </a:prstGeom>
          <a:solidFill>
            <a:srgbClr val="8C939E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24" name="To 3"/>
          <p:cNvSpPr txBox="1"/>
          <p:nvPr/>
        </p:nvSpPr>
        <p:spPr>
          <a:xfrm>
            <a:off x="7469632" y="2710688"/>
            <a:ext cx="3909568" cy="491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Exceptions matched by hand only</a:t>
            </a:r>
          </a:p>
        </p:txBody>
      </p:sp>
      <p:cxnSp>
        <p:nvCxnSpPr>
          <p:cNvPr id="25" name="Shift rule 3"/>
          <p:cNvCxnSpPr/>
          <p:nvPr/>
        </p:nvCxnSpPr>
        <p:spPr>
          <a:xfrm>
            <a:off x="812800" y="3202432"/>
            <a:ext cx="10566400" cy="0"/>
          </a:xfrm>
          <a:prstGeom prst="line">
            <a:avLst/>
          </a:prstGeom>
          <a:ln w="6350">
            <a:solidFill>
              <a:srgbClr val="D9DDE3"/>
            </a:solidFill>
          </a:ln>
        </p:spPr>
      </p:cxnSp>
      <p:sp>
        <p:nvSpPr>
          <p:cNvPr id="26" name="Dimension 4"/>
          <p:cNvSpPr/>
          <p:nvPr/>
        </p:nvSpPr>
        <p:spPr>
          <a:xfrm>
            <a:off x="812800" y="3240532"/>
            <a:ext cx="2324608" cy="415544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27" name="Dimension 4 label"/>
          <p:cNvSpPr txBox="1"/>
          <p:nvPr/>
        </p:nvSpPr>
        <p:spPr>
          <a:xfrm>
            <a:off x="939800" y="3240532"/>
            <a:ext cx="2070608" cy="4155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Reporting</a:t>
            </a:r>
          </a:p>
        </p:txBody>
      </p:sp>
      <p:sp>
        <p:nvSpPr>
          <p:cNvPr id="28" name="From 4"/>
          <p:cNvSpPr txBox="1"/>
          <p:nvPr/>
        </p:nvSpPr>
        <p:spPr>
          <a:xfrm>
            <a:off x="3366007" y="3202432"/>
            <a:ext cx="3469640" cy="491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E6672"/>
                </a:solidFill>
                <a:latin typeface="Arial"/>
                <a:ea typeface="Malgun Gothic"/>
                <a:cs typeface="Arial"/>
              </a:rPr>
              <a:t>Monthly spreadsheet</a:t>
            </a:r>
          </a:p>
        </p:txBody>
      </p:sp>
      <p:sp>
        <p:nvSpPr>
          <p:cNvPr id="29" name="Shift arrow 4"/>
          <p:cNvSpPr/>
          <p:nvPr/>
        </p:nvSpPr>
        <p:spPr>
          <a:xfrm>
            <a:off x="7076440" y="3334004"/>
            <a:ext cx="152400" cy="228600"/>
          </a:xfrm>
          <a:prstGeom prst="chevron">
            <a:avLst>
              <a:gd name="adj" fmla="val 50000"/>
            </a:avLst>
          </a:prstGeom>
          <a:solidFill>
            <a:srgbClr val="8C939E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30" name="To 4"/>
          <p:cNvSpPr txBox="1"/>
          <p:nvPr/>
        </p:nvSpPr>
        <p:spPr>
          <a:xfrm>
            <a:off x="7469632" y="3202432"/>
            <a:ext cx="3909568" cy="491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Live queue dashboard</a:t>
            </a:r>
          </a:p>
        </p:txBody>
      </p:sp>
      <p:cxnSp>
        <p:nvCxnSpPr>
          <p:cNvPr id="31" name="Shift rule 4"/>
          <p:cNvCxnSpPr/>
          <p:nvPr/>
        </p:nvCxnSpPr>
        <p:spPr>
          <a:xfrm>
            <a:off x="812800" y="3694176"/>
            <a:ext cx="10566400" cy="0"/>
          </a:xfrm>
          <a:prstGeom prst="line">
            <a:avLst/>
          </a:prstGeom>
          <a:ln w="6350">
            <a:solidFill>
              <a:srgbClr val="D9DDE3"/>
            </a:solidFill>
          </a:ln>
        </p:spPr>
      </p:cxnSp>
      <p:sp>
        <p:nvSpPr>
          <p:cNvPr id="32" name="Dimension 5"/>
          <p:cNvSpPr/>
          <p:nvPr/>
        </p:nvSpPr>
        <p:spPr>
          <a:xfrm>
            <a:off x="812800" y="3732276"/>
            <a:ext cx="2324608" cy="415544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33" name="Dimension 5 label"/>
          <p:cNvSpPr txBox="1"/>
          <p:nvPr/>
        </p:nvSpPr>
        <p:spPr>
          <a:xfrm>
            <a:off x="939800" y="3732276"/>
            <a:ext cx="2070608" cy="4155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Ownership</a:t>
            </a:r>
          </a:p>
        </p:txBody>
      </p:sp>
      <p:sp>
        <p:nvSpPr>
          <p:cNvPr id="34" name="From 5"/>
          <p:cNvSpPr txBox="1"/>
          <p:nvPr/>
        </p:nvSpPr>
        <p:spPr>
          <a:xfrm>
            <a:off x="3366007" y="3694176"/>
            <a:ext cx="3469640" cy="491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E6672"/>
                </a:solidFill>
                <a:latin typeface="Arial"/>
                <a:ea typeface="Malgun Gothic"/>
                <a:cs typeface="Arial"/>
              </a:rPr>
              <a:t>Shared by three teams</a:t>
            </a:r>
          </a:p>
        </p:txBody>
      </p:sp>
      <p:sp>
        <p:nvSpPr>
          <p:cNvPr id="35" name="Shift arrow 5"/>
          <p:cNvSpPr/>
          <p:nvPr/>
        </p:nvSpPr>
        <p:spPr>
          <a:xfrm>
            <a:off x="7076440" y="3825748"/>
            <a:ext cx="152400" cy="228600"/>
          </a:xfrm>
          <a:prstGeom prst="chevron">
            <a:avLst>
              <a:gd name="adj" fmla="val 50000"/>
            </a:avLst>
          </a:prstGeom>
          <a:solidFill>
            <a:srgbClr val="8C939E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36" name="To 5"/>
          <p:cNvSpPr txBox="1"/>
          <p:nvPr/>
        </p:nvSpPr>
        <p:spPr>
          <a:xfrm>
            <a:off x="7469632" y="3694176"/>
            <a:ext cx="3909568" cy="491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One owner per workflow</a:t>
            </a:r>
          </a:p>
        </p:txBody>
      </p:sp>
      <p:cxnSp>
        <p:nvCxnSpPr>
          <p:cNvPr id="37" name="Shift rule 5"/>
          <p:cNvCxnSpPr/>
          <p:nvPr/>
        </p:nvCxnSpPr>
        <p:spPr>
          <a:xfrm>
            <a:off x="812800" y="4185920"/>
            <a:ext cx="10566400" cy="0"/>
          </a:xfrm>
          <a:prstGeom prst="line">
            <a:avLst/>
          </a:prstGeom>
          <a:ln w="6350">
            <a:solidFill>
              <a:srgbClr val="D9DDE3"/>
            </a:solidFill>
          </a:ln>
        </p:spPr>
      </p:cxnSp>
      <p:cxnSp>
        <p:nvCxnSpPr>
          <p:cNvPr id="38" name="Footer rule"/>
          <p:cNvCxnSpPr/>
          <p:nvPr/>
        </p:nvCxnSpPr>
        <p:spPr>
          <a:xfrm>
            <a:off x="812800" y="6324600"/>
            <a:ext cx="10566400" cy="0"/>
          </a:xfrm>
          <a:prstGeom prst="line">
            <a:avLst/>
          </a:prstGeom>
          <a:ln w="6350">
            <a:solidFill>
              <a:srgbClr val="D9DDE3"/>
            </a:solidFill>
          </a:ln>
        </p:spPr>
      </p:cxnSp>
      <p:sp>
        <p:nvSpPr>
          <p:cNvPr id="39" name="Page number"/>
          <p:cNvSpPr txBox="1"/>
          <p:nvPr/>
        </p:nvSpPr>
        <p:spPr>
          <a:xfrm>
            <a:off x="10617200" y="6426200"/>
            <a:ext cx="7620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5E6672"/>
                </a:solidFill>
                <a:latin typeface="Consolas"/>
                <a:ea typeface="Malgun Gothic"/>
                <a:cs typeface="Consola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Number"/>
          <p:cNvSpPr txBox="1"/>
          <p:nvPr/>
        </p:nvSpPr>
        <p:spPr>
          <a:xfrm>
            <a:off x="812800" y="2139188"/>
            <a:ext cx="8453120" cy="609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3200" b="0" i="0">
                <a:solidFill>
                  <a:srgbClr val="2F5BD3"/>
                </a:solidFill>
                <a:latin typeface="Consolas"/>
                <a:ea typeface="Malgun Gothic"/>
                <a:cs typeface="Consolas"/>
              </a:rPr>
              <a:t>03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812800" y="2522829"/>
            <a:ext cx="8453120" cy="819302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5000"/>
              </a:lnSpc>
            </a:pPr>
            <a:r>
              <a:rPr sz="32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What the pilot looks like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812800" y="431800"/>
            <a:ext cx="105664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F5BD3"/>
                </a:solidFill>
                <a:latin typeface="Consolas"/>
                <a:ea typeface="Malgun Gothic"/>
                <a:cs typeface="Consolas"/>
              </a:rPr>
              <a:t>PILOT PLAN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812800" y="635000"/>
            <a:ext cx="10566400" cy="431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The pilot runs in three phases with one decision at the end</a:t>
            </a:r>
          </a:p>
        </p:txBody>
      </p:sp>
      <p:sp>
        <p:nvSpPr>
          <p:cNvPr id="4" name="Rule"/>
          <p:cNvSpPr/>
          <p:nvPr/>
        </p:nvSpPr>
        <p:spPr>
          <a:xfrm>
            <a:off x="812800" y="1143000"/>
            <a:ext cx="533400" cy="25400"/>
          </a:xfrm>
          <a:prstGeom prst="rect">
            <a:avLst/>
          </a:prstGeom>
          <a:solidFill>
            <a:srgbClr val="2F5BD3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5" name="Chevron 1"/>
          <p:cNvSpPr/>
          <p:nvPr/>
        </p:nvSpPr>
        <p:spPr>
          <a:xfrm>
            <a:off x="2611966" y="1676400"/>
            <a:ext cx="2988586" cy="429260"/>
          </a:xfrm>
          <a:prstGeom prst="homePlate">
            <a:avLst>
              <a:gd name="adj" fmla="val 32000"/>
            </a:avLst>
          </a:prstGeom>
          <a:solidFill>
            <a:srgbClr val="2F5BD3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6" name="Chevron 1 title"/>
          <p:cNvSpPr txBox="1"/>
          <p:nvPr/>
        </p:nvSpPr>
        <p:spPr>
          <a:xfrm>
            <a:off x="2738966" y="1676400"/>
            <a:ext cx="2711523" cy="4292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Prepare</a:t>
            </a:r>
          </a:p>
        </p:txBody>
      </p:sp>
      <p:sp>
        <p:nvSpPr>
          <p:cNvPr id="7" name="Period 1"/>
          <p:cNvSpPr txBox="1"/>
          <p:nvPr/>
        </p:nvSpPr>
        <p:spPr>
          <a:xfrm>
            <a:off x="2738966" y="1422400"/>
            <a:ext cx="2711523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F5BD3"/>
                </a:solidFill>
                <a:latin typeface="Consolas"/>
                <a:ea typeface="Malgun Gothic"/>
                <a:cs typeface="Consolas"/>
              </a:rPr>
              <a:t>Q1 · Now</a:t>
            </a:r>
          </a:p>
        </p:txBody>
      </p:sp>
      <p:sp>
        <p:nvSpPr>
          <p:cNvPr id="8" name="Chevron 2"/>
          <p:cNvSpPr/>
          <p:nvPr/>
        </p:nvSpPr>
        <p:spPr>
          <a:xfrm>
            <a:off x="5501290" y="1676400"/>
            <a:ext cx="2988586" cy="429260"/>
          </a:xfrm>
          <a:prstGeom prst="chevron">
            <a:avLst>
              <a:gd name="adj" fmla="val 32000"/>
            </a:avLst>
          </a:prstGeom>
          <a:solidFill>
            <a:srgbClr val="F4F5F7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9" name="Chevron 2 title"/>
          <p:cNvSpPr txBox="1"/>
          <p:nvPr/>
        </p:nvSpPr>
        <p:spPr>
          <a:xfrm>
            <a:off x="5714853" y="1676400"/>
            <a:ext cx="2624960" cy="4292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5E6672"/>
                </a:solidFill>
                <a:latin typeface="Arial"/>
                <a:ea typeface="Malgun Gothic"/>
                <a:cs typeface="Arial"/>
              </a:rPr>
              <a:t>Pilot</a:t>
            </a:r>
          </a:p>
        </p:txBody>
      </p:sp>
      <p:sp>
        <p:nvSpPr>
          <p:cNvPr id="10" name="Period 2"/>
          <p:cNvSpPr txBox="1"/>
          <p:nvPr/>
        </p:nvSpPr>
        <p:spPr>
          <a:xfrm>
            <a:off x="5714853" y="1422400"/>
            <a:ext cx="262496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5E6672"/>
                </a:solidFill>
                <a:latin typeface="Consolas"/>
                <a:ea typeface="Malgun Gothic"/>
                <a:cs typeface="Consolas"/>
              </a:rPr>
              <a:t>Q2</a:t>
            </a:r>
          </a:p>
        </p:txBody>
      </p:sp>
      <p:sp>
        <p:nvSpPr>
          <p:cNvPr id="11" name="Chevron 3"/>
          <p:cNvSpPr/>
          <p:nvPr/>
        </p:nvSpPr>
        <p:spPr>
          <a:xfrm>
            <a:off x="8390613" y="1676400"/>
            <a:ext cx="2988586" cy="429260"/>
          </a:xfrm>
          <a:prstGeom prst="chevron">
            <a:avLst>
              <a:gd name="adj" fmla="val 32000"/>
            </a:avLst>
          </a:prstGeom>
          <a:solidFill>
            <a:srgbClr val="F4F5F7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12" name="Chevron 3 title"/>
          <p:cNvSpPr txBox="1"/>
          <p:nvPr/>
        </p:nvSpPr>
        <p:spPr>
          <a:xfrm>
            <a:off x="8604176" y="1676400"/>
            <a:ext cx="2624960" cy="4292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5E6672"/>
                </a:solidFill>
                <a:latin typeface="Arial"/>
                <a:ea typeface="Malgun Gothic"/>
                <a:cs typeface="Arial"/>
              </a:rPr>
              <a:t>Decide</a:t>
            </a:r>
          </a:p>
        </p:txBody>
      </p:sp>
      <p:sp>
        <p:nvSpPr>
          <p:cNvPr id="13" name="Period 3"/>
          <p:cNvSpPr txBox="1"/>
          <p:nvPr/>
        </p:nvSpPr>
        <p:spPr>
          <a:xfrm>
            <a:off x="8604176" y="1422400"/>
            <a:ext cx="2624960" cy="203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5E6672"/>
                </a:solidFill>
                <a:latin typeface="Consolas"/>
                <a:ea typeface="Malgun Gothic"/>
                <a:cs typeface="Consolas"/>
              </a:rPr>
              <a:t>Q3</a:t>
            </a:r>
          </a:p>
        </p:txBody>
      </p:sp>
      <p:sp>
        <p:nvSpPr>
          <p:cNvPr id="14" name="Current column"/>
          <p:cNvSpPr/>
          <p:nvPr/>
        </p:nvSpPr>
        <p:spPr>
          <a:xfrm>
            <a:off x="2611966" y="2334260"/>
            <a:ext cx="2851223" cy="1322832"/>
          </a:xfrm>
          <a:prstGeom prst="rect">
            <a:avLst/>
          </a:prstGeom>
          <a:solidFill>
            <a:srgbClr val="F0F4FC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812800" y="2334260"/>
            <a:ext cx="10566400" cy="0"/>
          </a:xfrm>
          <a:prstGeom prst="line">
            <a:avLst/>
          </a:prstGeom>
          <a:ln w="6350">
            <a:solidFill>
              <a:srgbClr val="D9DDE3"/>
            </a:solidFill>
          </a:ln>
        </p:spPr>
      </p:cxnSp>
      <p:sp>
        <p:nvSpPr>
          <p:cNvPr id="16" name="Row label"/>
          <p:cNvSpPr txBox="1"/>
          <p:nvPr/>
        </p:nvSpPr>
        <p:spPr>
          <a:xfrm>
            <a:off x="812800" y="2435860"/>
            <a:ext cx="157056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Objective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38966" y="2435860"/>
            <a:ext cx="274728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3D4450"/>
                </a:solidFill>
                <a:latin typeface="Arial"/>
                <a:ea typeface="Malgun Gothic"/>
                <a:cs typeface="Arial"/>
              </a:rPr>
              <a:t>Data and owners in place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4853" y="2435860"/>
            <a:ext cx="2660723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3D4450"/>
                </a:solidFill>
                <a:latin typeface="Arial"/>
                <a:ea typeface="Malgun Gothic"/>
                <a:cs typeface="Arial"/>
              </a:rPr>
              <a:t>Two workflows live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04176" y="2435860"/>
            <a:ext cx="2660723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3D4450"/>
                </a:solidFill>
                <a:latin typeface="Arial"/>
                <a:ea typeface="Malgun Gothic"/>
                <a:cs typeface="Arial"/>
              </a:rPr>
              <a:t>Scale or stop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12800" y="2775204"/>
            <a:ext cx="10566400" cy="0"/>
          </a:xfrm>
          <a:prstGeom prst="line">
            <a:avLst/>
          </a:prstGeom>
          <a:ln w="6350">
            <a:solidFill>
              <a:srgbClr val="D9DDE3"/>
            </a:solidFill>
          </a:ln>
        </p:spPr>
      </p:cxnSp>
      <p:sp>
        <p:nvSpPr>
          <p:cNvPr id="21" name="Row label"/>
          <p:cNvSpPr txBox="1"/>
          <p:nvPr/>
        </p:nvSpPr>
        <p:spPr>
          <a:xfrm>
            <a:off x="812800" y="2876804"/>
            <a:ext cx="157056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Key 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38966" y="2876804"/>
            <a:ext cx="274728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3D4450"/>
                </a:solidFill>
                <a:latin typeface="Arial"/>
                <a:ea typeface="Malgun Gothic"/>
                <a:cs typeface="Arial"/>
              </a:rPr>
              <a:t>Signed-off process maps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14853" y="2876804"/>
            <a:ext cx="2660723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3D4450"/>
                </a:solidFill>
                <a:latin typeface="Arial"/>
                <a:ea typeface="Malgun Gothic"/>
                <a:cs typeface="Arial"/>
              </a:rPr>
              <a:t>Weekly measures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04176" y="2876804"/>
            <a:ext cx="2660723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3D4450"/>
                </a:solidFill>
                <a:latin typeface="Arial"/>
                <a:ea typeface="Malgun Gothic"/>
                <a:cs typeface="Arial"/>
              </a:rPr>
              <a:t>Recommendation paper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12800" y="3216148"/>
            <a:ext cx="10566400" cy="0"/>
          </a:xfrm>
          <a:prstGeom prst="line">
            <a:avLst/>
          </a:prstGeom>
          <a:ln w="6350">
            <a:solidFill>
              <a:srgbClr val="D9DDE3"/>
            </a:solidFill>
          </a:ln>
        </p:spPr>
      </p:cxnSp>
      <p:sp>
        <p:nvSpPr>
          <p:cNvPr id="26" name="Row label"/>
          <p:cNvSpPr txBox="1"/>
          <p:nvPr/>
        </p:nvSpPr>
        <p:spPr>
          <a:xfrm>
            <a:off x="812800" y="3317748"/>
            <a:ext cx="157056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Gate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38966" y="3317748"/>
            <a:ext cx="274728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3D4450"/>
                </a:solidFill>
                <a:latin typeface="Arial"/>
                <a:ea typeface="Malgun Gothic"/>
                <a:cs typeface="Arial"/>
              </a:rPr>
              <a:t>Security findings closed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14853" y="3317748"/>
            <a:ext cx="2660723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3D4450"/>
                </a:solidFill>
                <a:latin typeface="Arial"/>
                <a:ea typeface="Malgun Gothic"/>
                <a:cs typeface="Arial"/>
              </a:rPr>
              <a:t>Error rate below target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04176" y="3317748"/>
            <a:ext cx="2660723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3D4450"/>
                </a:solidFill>
                <a:latin typeface="Arial"/>
                <a:ea typeface="Malgun Gothic"/>
                <a:cs typeface="Arial"/>
              </a:rPr>
              <a:t>Leadership decision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12800" y="3657092"/>
            <a:ext cx="10566400" cy="0"/>
          </a:xfrm>
          <a:prstGeom prst="line">
            <a:avLst/>
          </a:prstGeom>
          <a:ln w="6350">
            <a:solidFill>
              <a:srgbClr val="D9DDE3"/>
            </a:solidFill>
          </a:ln>
        </p:spPr>
      </p:cxnSp>
      <p:cxnSp>
        <p:nvCxnSpPr>
          <p:cNvPr id="31" name="Footer rule"/>
          <p:cNvCxnSpPr/>
          <p:nvPr/>
        </p:nvCxnSpPr>
        <p:spPr>
          <a:xfrm>
            <a:off x="812800" y="6324600"/>
            <a:ext cx="10566400" cy="0"/>
          </a:xfrm>
          <a:prstGeom prst="line">
            <a:avLst/>
          </a:prstGeom>
          <a:ln w="6350">
            <a:solidFill>
              <a:srgbClr val="D9DDE3"/>
            </a:solidFill>
          </a:ln>
        </p:spPr>
      </p:cxnSp>
      <p:sp>
        <p:nvSpPr>
          <p:cNvPr id="32" name="Page number"/>
          <p:cNvSpPr txBox="1"/>
          <p:nvPr/>
        </p:nvSpPr>
        <p:spPr>
          <a:xfrm>
            <a:off x="10617200" y="6426200"/>
            <a:ext cx="7620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5E6672"/>
                </a:solidFill>
                <a:latin typeface="Consolas"/>
                <a:ea typeface="Malgun Gothic"/>
                <a:cs typeface="Consola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812800" y="431800"/>
            <a:ext cx="105664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F5BD3"/>
                </a:solidFill>
                <a:latin typeface="Consolas"/>
                <a:ea typeface="Malgun Gothic"/>
                <a:cs typeface="Consolas"/>
              </a:rPr>
              <a:t>PILOT PLAN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812800" y="635000"/>
            <a:ext cx="10566400" cy="431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Each workflow goes through the same four steps</a:t>
            </a:r>
          </a:p>
        </p:txBody>
      </p:sp>
      <p:sp>
        <p:nvSpPr>
          <p:cNvPr id="4" name="Rule"/>
          <p:cNvSpPr/>
          <p:nvPr/>
        </p:nvSpPr>
        <p:spPr>
          <a:xfrm>
            <a:off x="812800" y="1143000"/>
            <a:ext cx="533400" cy="25400"/>
          </a:xfrm>
          <a:prstGeom prst="rect">
            <a:avLst/>
          </a:prstGeom>
          <a:solidFill>
            <a:srgbClr val="2F5BD3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611966" y="1422400"/>
            <a:ext cx="1848908" cy="38100"/>
          </a:xfrm>
          <a:prstGeom prst="rect">
            <a:avLst/>
          </a:prstGeom>
          <a:solidFill>
            <a:srgbClr val="D9DDE3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611966" y="1600200"/>
            <a:ext cx="1848908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5E6672"/>
                </a:solidFill>
                <a:latin typeface="Consolas"/>
                <a:ea typeface="Malgun Gothic"/>
                <a:cs typeface="Consolas"/>
              </a:rPr>
              <a:t>01  ·  Weeks 1-2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11966" y="1866900"/>
            <a:ext cx="1848908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5E6672"/>
                </a:solidFill>
                <a:latin typeface="Arial"/>
                <a:ea typeface="Malgun Gothic"/>
                <a:cs typeface="Arial"/>
              </a:rPr>
              <a:t>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11966" y="2235708"/>
            <a:ext cx="1848908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E6672"/>
                </a:solidFill>
                <a:latin typeface="Arial"/>
                <a:ea typeface="Malgun Gothic"/>
                <a:cs typeface="Arial"/>
              </a:rPr>
              <a:t>Record the current steps and volumes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5175" y="1441450"/>
            <a:ext cx="228600" cy="0"/>
          </a:xfrm>
          <a:prstGeom prst="line">
            <a:avLst/>
          </a:prstGeom>
          <a:ln w="12700">
            <a:solidFill>
              <a:srgbClr val="5E6672"/>
            </a:solidFill>
            <a:tailEnd type="triangle" w="med" len="med"/>
          </a:ln>
        </p:spPr>
      </p:cxnSp>
      <p:sp>
        <p:nvSpPr>
          <p:cNvPr id="10" name="Rectangle 9"/>
          <p:cNvSpPr/>
          <p:nvPr/>
        </p:nvSpPr>
        <p:spPr>
          <a:xfrm>
            <a:off x="4918075" y="1422400"/>
            <a:ext cx="1848908" cy="38100"/>
          </a:xfrm>
          <a:prstGeom prst="rect">
            <a:avLst/>
          </a:prstGeom>
          <a:solidFill>
            <a:srgbClr val="2F5BD3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18075" y="1600200"/>
            <a:ext cx="1848908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F5BD3"/>
                </a:solidFill>
                <a:latin typeface="Consolas"/>
                <a:ea typeface="Malgun Gothic"/>
                <a:cs typeface="Consolas"/>
              </a:rPr>
              <a:t>02  ·  Weeks 3-6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18075" y="1866900"/>
            <a:ext cx="1848908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Configure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18075" y="2235708"/>
            <a:ext cx="1848908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3D4450"/>
                </a:solidFill>
                <a:latin typeface="Arial"/>
                <a:ea typeface="Malgun Gothic"/>
                <a:cs typeface="Arial"/>
              </a:rPr>
              <a:t>Set up rules and connect the data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881283" y="1441450"/>
            <a:ext cx="228600" cy="0"/>
          </a:xfrm>
          <a:prstGeom prst="line">
            <a:avLst/>
          </a:prstGeom>
          <a:ln w="12700">
            <a:solidFill>
              <a:srgbClr val="5E6672"/>
            </a:solidFill>
            <a:tailEnd type="triangle" w="med" len="med"/>
          </a:ln>
        </p:spPr>
      </p:cxnSp>
      <p:sp>
        <p:nvSpPr>
          <p:cNvPr id="15" name="Rectangle 14"/>
          <p:cNvSpPr/>
          <p:nvPr/>
        </p:nvSpPr>
        <p:spPr>
          <a:xfrm>
            <a:off x="7224183" y="1422400"/>
            <a:ext cx="1848908" cy="38100"/>
          </a:xfrm>
          <a:prstGeom prst="rect">
            <a:avLst/>
          </a:prstGeom>
          <a:solidFill>
            <a:srgbClr val="D9DDE3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4183" y="1600200"/>
            <a:ext cx="1848908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5E6672"/>
                </a:solidFill>
                <a:latin typeface="Consolas"/>
                <a:ea typeface="Malgun Gothic"/>
                <a:cs typeface="Consolas"/>
              </a:rPr>
              <a:t>03  ·  Weeks 7-9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4183" y="1866900"/>
            <a:ext cx="1848908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5E6672"/>
                </a:solidFill>
                <a:latin typeface="Arial"/>
                <a:ea typeface="Malgun Gothic"/>
                <a:cs typeface="Arial"/>
              </a:rPr>
              <a:t>Shadow run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4183" y="2235708"/>
            <a:ext cx="1848908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E6672"/>
                </a:solidFill>
                <a:latin typeface="Arial"/>
                <a:ea typeface="Malgun Gothic"/>
                <a:cs typeface="Arial"/>
              </a:rPr>
              <a:t>Run beside people and compare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187391" y="1441450"/>
            <a:ext cx="228600" cy="0"/>
          </a:xfrm>
          <a:prstGeom prst="line">
            <a:avLst/>
          </a:prstGeom>
          <a:ln w="12700">
            <a:solidFill>
              <a:srgbClr val="5E6672"/>
            </a:solidFill>
            <a:tailEnd type="triangle" w="med" len="med"/>
          </a:ln>
        </p:spPr>
      </p:cxnSp>
      <p:sp>
        <p:nvSpPr>
          <p:cNvPr id="20" name="Rectangle 19"/>
          <p:cNvSpPr/>
          <p:nvPr/>
        </p:nvSpPr>
        <p:spPr>
          <a:xfrm>
            <a:off x="9530291" y="1422400"/>
            <a:ext cx="1848908" cy="38100"/>
          </a:xfrm>
          <a:prstGeom prst="rect">
            <a:avLst/>
          </a:prstGeom>
          <a:solidFill>
            <a:srgbClr val="D9DDE3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30291" y="1600200"/>
            <a:ext cx="1848908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5E6672"/>
                </a:solidFill>
                <a:latin typeface="Consolas"/>
                <a:ea typeface="Malgun Gothic"/>
                <a:cs typeface="Consolas"/>
              </a:rPr>
              <a:t>04  ·  Week 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30291" y="1866900"/>
            <a:ext cx="1848908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5E6672"/>
                </a:solidFill>
                <a:latin typeface="Arial"/>
                <a:ea typeface="Malgun Gothic"/>
                <a:cs typeface="Arial"/>
              </a:rPr>
              <a:t>Switch over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30291" y="2235708"/>
            <a:ext cx="1848908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E6672"/>
                </a:solidFill>
                <a:latin typeface="Arial"/>
                <a:ea typeface="Malgun Gothic"/>
                <a:cs typeface="Arial"/>
              </a:rPr>
              <a:t>People handle exceptions only</a:t>
            </a:r>
          </a:p>
        </p:txBody>
      </p:sp>
      <p:sp>
        <p:nvSpPr>
          <p:cNvPr id="24" name="Current column"/>
          <p:cNvSpPr/>
          <p:nvPr/>
        </p:nvSpPr>
        <p:spPr>
          <a:xfrm>
            <a:off x="4841875" y="2939796"/>
            <a:ext cx="2001308" cy="881888"/>
          </a:xfrm>
          <a:prstGeom prst="rect">
            <a:avLst/>
          </a:prstGeom>
          <a:solidFill>
            <a:srgbClr val="F0F4FC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812800" y="2939796"/>
            <a:ext cx="10566400" cy="0"/>
          </a:xfrm>
          <a:prstGeom prst="line">
            <a:avLst/>
          </a:prstGeom>
          <a:ln w="6350">
            <a:solidFill>
              <a:srgbClr val="D9DDE3"/>
            </a:solidFill>
          </a:ln>
        </p:spPr>
      </p:cxnSp>
      <p:sp>
        <p:nvSpPr>
          <p:cNvPr id="26" name="Row label"/>
          <p:cNvSpPr txBox="1"/>
          <p:nvPr/>
        </p:nvSpPr>
        <p:spPr>
          <a:xfrm>
            <a:off x="812800" y="3041396"/>
            <a:ext cx="157056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Owner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11966" y="3041396"/>
            <a:ext cx="184890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3D4450"/>
                </a:solidFill>
                <a:latin typeface="Arial"/>
                <a:ea typeface="Malgun Gothic"/>
                <a:cs typeface="Arial"/>
              </a:rPr>
              <a:t>Process owner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18075" y="3041396"/>
            <a:ext cx="184890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3D4450"/>
                </a:solidFill>
                <a:latin typeface="Arial"/>
                <a:ea typeface="Malgun Gothic"/>
                <a:cs typeface="Arial"/>
              </a:rPr>
              <a:t>Platform team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4183" y="3041396"/>
            <a:ext cx="184890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3D4450"/>
                </a:solidFill>
                <a:latin typeface="Arial"/>
                <a:ea typeface="Malgun Gothic"/>
                <a:cs typeface="Arial"/>
              </a:rPr>
              <a:t>Process owner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30291" y="3041396"/>
            <a:ext cx="184890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3D4450"/>
                </a:solidFill>
                <a:latin typeface="Arial"/>
                <a:ea typeface="Malgun Gothic"/>
                <a:cs typeface="Arial"/>
              </a:rPr>
              <a:t>Process owner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12800" y="3380740"/>
            <a:ext cx="10566400" cy="0"/>
          </a:xfrm>
          <a:prstGeom prst="line">
            <a:avLst/>
          </a:prstGeom>
          <a:ln w="6350">
            <a:solidFill>
              <a:srgbClr val="D9DDE3"/>
            </a:solidFill>
          </a:ln>
        </p:spPr>
      </p:cxnSp>
      <p:sp>
        <p:nvSpPr>
          <p:cNvPr id="32" name="Row label"/>
          <p:cNvSpPr txBox="1"/>
          <p:nvPr/>
        </p:nvSpPr>
        <p:spPr>
          <a:xfrm>
            <a:off x="812800" y="3482340"/>
            <a:ext cx="157056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Done when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11966" y="3482340"/>
            <a:ext cx="184890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3D4450"/>
                </a:solidFill>
                <a:latin typeface="Arial"/>
                <a:ea typeface="Malgun Gothic"/>
                <a:cs typeface="Arial"/>
              </a:rPr>
              <a:t>Map signed off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18075" y="3482340"/>
            <a:ext cx="184890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3D4450"/>
                </a:solidFill>
                <a:latin typeface="Arial"/>
                <a:ea typeface="Malgun Gothic"/>
                <a:cs typeface="Arial"/>
              </a:rPr>
              <a:t>Rules tested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24183" y="3482340"/>
            <a:ext cx="184890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3D4450"/>
                </a:solidFill>
                <a:latin typeface="Arial"/>
                <a:ea typeface="Malgun Gothic"/>
                <a:cs typeface="Arial"/>
              </a:rPr>
              <a:t>Results within target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30291" y="3482340"/>
            <a:ext cx="184890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3D4450"/>
                </a:solidFill>
                <a:latin typeface="Arial"/>
                <a:ea typeface="Malgun Gothic"/>
                <a:cs typeface="Arial"/>
              </a:rPr>
              <a:t>Old queue closed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12800" y="3821683"/>
            <a:ext cx="10566400" cy="0"/>
          </a:xfrm>
          <a:prstGeom prst="line">
            <a:avLst/>
          </a:prstGeom>
          <a:ln w="6350">
            <a:solidFill>
              <a:srgbClr val="D9DDE3"/>
            </a:solidFill>
          </a:ln>
        </p:spPr>
      </p:cxnSp>
      <p:cxnSp>
        <p:nvCxnSpPr>
          <p:cNvPr id="38" name="Footer rule"/>
          <p:cNvCxnSpPr/>
          <p:nvPr/>
        </p:nvCxnSpPr>
        <p:spPr>
          <a:xfrm>
            <a:off x="812800" y="6324600"/>
            <a:ext cx="10566400" cy="0"/>
          </a:xfrm>
          <a:prstGeom prst="line">
            <a:avLst/>
          </a:prstGeom>
          <a:ln w="6350">
            <a:solidFill>
              <a:srgbClr val="D9DDE3"/>
            </a:solidFill>
          </a:ln>
        </p:spPr>
      </p:cxnSp>
      <p:sp>
        <p:nvSpPr>
          <p:cNvPr id="39" name="Page number"/>
          <p:cNvSpPr txBox="1"/>
          <p:nvPr/>
        </p:nvSpPr>
        <p:spPr>
          <a:xfrm>
            <a:off x="10617200" y="6426200"/>
            <a:ext cx="7620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5E6672"/>
                </a:solidFill>
                <a:latin typeface="Consolas"/>
                <a:ea typeface="Malgun Gothic"/>
                <a:cs typeface="Consola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812800" y="431800"/>
            <a:ext cx="105664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F5BD3"/>
                </a:solidFill>
                <a:latin typeface="Consolas"/>
                <a:ea typeface="Malgun Gothic"/>
                <a:cs typeface="Consolas"/>
              </a:rPr>
              <a:t>PILOT PLAN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812800" y="635000"/>
            <a:ext cx="10566400" cy="431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Six handoffs make up the invoice workflow end to end</a:t>
            </a:r>
          </a:p>
        </p:txBody>
      </p:sp>
      <p:sp>
        <p:nvSpPr>
          <p:cNvPr id="4" name="Rule"/>
          <p:cNvSpPr/>
          <p:nvPr/>
        </p:nvSpPr>
        <p:spPr>
          <a:xfrm>
            <a:off x="812800" y="1143000"/>
            <a:ext cx="533400" cy="25400"/>
          </a:xfrm>
          <a:prstGeom prst="rect">
            <a:avLst/>
          </a:prstGeom>
          <a:solidFill>
            <a:srgbClr val="2F5BD3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5" name="Chevron 1"/>
          <p:cNvSpPr/>
          <p:nvPr/>
        </p:nvSpPr>
        <p:spPr>
          <a:xfrm>
            <a:off x="812800" y="1422400"/>
            <a:ext cx="1843786" cy="429260"/>
          </a:xfrm>
          <a:prstGeom prst="homePlate">
            <a:avLst>
              <a:gd name="adj" fmla="val 32000"/>
            </a:avLst>
          </a:prstGeom>
          <a:solidFill>
            <a:srgbClr val="F4F5F7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6" name="Chevron 1 title"/>
          <p:cNvSpPr txBox="1"/>
          <p:nvPr/>
        </p:nvSpPr>
        <p:spPr>
          <a:xfrm>
            <a:off x="939800" y="1422400"/>
            <a:ext cx="1566722" cy="4292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Receive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9800" y="1978660"/>
            <a:ext cx="160248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3D4450"/>
                </a:solidFill>
                <a:latin typeface="Arial"/>
                <a:ea typeface="Malgun Gothic"/>
                <a:cs typeface="Arial"/>
              </a:rPr>
              <a:t>Invoice arrives</a:t>
            </a:r>
          </a:p>
        </p:txBody>
      </p:sp>
      <p:sp>
        <p:nvSpPr>
          <p:cNvPr id="8" name="Chevron 2"/>
          <p:cNvSpPr/>
          <p:nvPr/>
        </p:nvSpPr>
        <p:spPr>
          <a:xfrm>
            <a:off x="2557322" y="1422400"/>
            <a:ext cx="1843786" cy="429260"/>
          </a:xfrm>
          <a:prstGeom prst="chevron">
            <a:avLst>
              <a:gd name="adj" fmla="val 32000"/>
            </a:avLst>
          </a:prstGeom>
          <a:solidFill>
            <a:srgbClr val="F4F5F7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9" name="Chevron 2 title"/>
          <p:cNvSpPr txBox="1"/>
          <p:nvPr/>
        </p:nvSpPr>
        <p:spPr>
          <a:xfrm>
            <a:off x="2770886" y="1422400"/>
            <a:ext cx="1480159" cy="4292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Read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70886" y="1978660"/>
            <a:ext cx="1515922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3D4450"/>
                </a:solidFill>
                <a:latin typeface="Arial"/>
                <a:ea typeface="Malgun Gothic"/>
                <a:cs typeface="Arial"/>
              </a:rPr>
              <a:t>Fields extracted</a:t>
            </a:r>
          </a:p>
        </p:txBody>
      </p:sp>
      <p:sp>
        <p:nvSpPr>
          <p:cNvPr id="11" name="Chevron 3"/>
          <p:cNvSpPr/>
          <p:nvPr/>
        </p:nvSpPr>
        <p:spPr>
          <a:xfrm>
            <a:off x="4301845" y="1422400"/>
            <a:ext cx="1843786" cy="429260"/>
          </a:xfrm>
          <a:prstGeom prst="chevron">
            <a:avLst>
              <a:gd name="adj" fmla="val 32000"/>
            </a:avLst>
          </a:prstGeom>
          <a:solidFill>
            <a:srgbClr val="F4F5F7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12" name="Chevron 3 title"/>
          <p:cNvSpPr txBox="1"/>
          <p:nvPr/>
        </p:nvSpPr>
        <p:spPr>
          <a:xfrm>
            <a:off x="4515408" y="1422400"/>
            <a:ext cx="1480159" cy="4292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Match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5408" y="1978660"/>
            <a:ext cx="1515922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3D4450"/>
                </a:solidFill>
                <a:latin typeface="Arial"/>
                <a:ea typeface="Malgun Gothic"/>
                <a:cs typeface="Arial"/>
              </a:rPr>
              <a:t>Order and receipt</a:t>
            </a:r>
          </a:p>
        </p:txBody>
      </p:sp>
      <p:sp>
        <p:nvSpPr>
          <p:cNvPr id="14" name="Chevron 4"/>
          <p:cNvSpPr/>
          <p:nvPr/>
        </p:nvSpPr>
        <p:spPr>
          <a:xfrm>
            <a:off x="6046368" y="1422400"/>
            <a:ext cx="1843786" cy="429260"/>
          </a:xfrm>
          <a:prstGeom prst="chevron">
            <a:avLst>
              <a:gd name="adj" fmla="val 32000"/>
            </a:avLst>
          </a:prstGeom>
          <a:solidFill>
            <a:srgbClr val="F4F5F7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15" name="Chevron 4 title"/>
          <p:cNvSpPr txBox="1"/>
          <p:nvPr/>
        </p:nvSpPr>
        <p:spPr>
          <a:xfrm>
            <a:off x="6259931" y="1422400"/>
            <a:ext cx="1480159" cy="4292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Approve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59931" y="1978660"/>
            <a:ext cx="1515922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3D4450"/>
                </a:solidFill>
                <a:latin typeface="Arial"/>
                <a:ea typeface="Malgun Gothic"/>
                <a:cs typeface="Arial"/>
              </a:rPr>
              <a:t>Budget owner</a:t>
            </a:r>
          </a:p>
        </p:txBody>
      </p:sp>
      <p:sp>
        <p:nvSpPr>
          <p:cNvPr id="17" name="Chevron 5"/>
          <p:cNvSpPr/>
          <p:nvPr/>
        </p:nvSpPr>
        <p:spPr>
          <a:xfrm>
            <a:off x="7790891" y="1422400"/>
            <a:ext cx="1843786" cy="429260"/>
          </a:xfrm>
          <a:prstGeom prst="chevron">
            <a:avLst>
              <a:gd name="adj" fmla="val 32000"/>
            </a:avLst>
          </a:prstGeom>
          <a:solidFill>
            <a:srgbClr val="F4F5F7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18" name="Chevron 5 title"/>
          <p:cNvSpPr txBox="1"/>
          <p:nvPr/>
        </p:nvSpPr>
        <p:spPr>
          <a:xfrm>
            <a:off x="8004454" y="1422400"/>
            <a:ext cx="1480159" cy="4292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Pay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4454" y="1978660"/>
            <a:ext cx="1515922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3D4450"/>
                </a:solidFill>
                <a:latin typeface="Arial"/>
                <a:ea typeface="Malgun Gothic"/>
                <a:cs typeface="Arial"/>
              </a:rPr>
              <a:t>Payment run</a:t>
            </a:r>
          </a:p>
        </p:txBody>
      </p:sp>
      <p:sp>
        <p:nvSpPr>
          <p:cNvPr id="20" name="Chevron 6"/>
          <p:cNvSpPr/>
          <p:nvPr/>
        </p:nvSpPr>
        <p:spPr>
          <a:xfrm>
            <a:off x="9535414" y="1422400"/>
            <a:ext cx="1843786" cy="429260"/>
          </a:xfrm>
          <a:prstGeom prst="chevron">
            <a:avLst>
              <a:gd name="adj" fmla="val 32000"/>
            </a:avLst>
          </a:prstGeom>
          <a:solidFill>
            <a:srgbClr val="F4F5F7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21" name="Chevron 6 title"/>
          <p:cNvSpPr txBox="1"/>
          <p:nvPr/>
        </p:nvSpPr>
        <p:spPr>
          <a:xfrm>
            <a:off x="9748977" y="1422400"/>
            <a:ext cx="1480159" cy="4292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Archive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48977" y="1978660"/>
            <a:ext cx="1515922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3D4450"/>
                </a:solidFill>
                <a:latin typeface="Arial"/>
                <a:ea typeface="Malgun Gothic"/>
                <a:cs typeface="Arial"/>
              </a:rPr>
              <a:t>Kept for audit</a:t>
            </a:r>
          </a:p>
        </p:txBody>
      </p:sp>
      <p:cxnSp>
        <p:nvCxnSpPr>
          <p:cNvPr id="23" name="Footer rule"/>
          <p:cNvCxnSpPr/>
          <p:nvPr/>
        </p:nvCxnSpPr>
        <p:spPr>
          <a:xfrm>
            <a:off x="812800" y="6324600"/>
            <a:ext cx="10566400" cy="0"/>
          </a:xfrm>
          <a:prstGeom prst="line">
            <a:avLst/>
          </a:prstGeom>
          <a:ln w="6350">
            <a:solidFill>
              <a:srgbClr val="D9DDE3"/>
            </a:solidFill>
          </a:ln>
        </p:spPr>
      </p:cxnSp>
      <p:sp>
        <p:nvSpPr>
          <p:cNvPr id="24" name="Page number"/>
          <p:cNvSpPr txBox="1"/>
          <p:nvPr/>
        </p:nvSpPr>
        <p:spPr>
          <a:xfrm>
            <a:off x="10617200" y="6426200"/>
            <a:ext cx="7620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5E6672"/>
                </a:solidFill>
                <a:latin typeface="Consolas"/>
                <a:ea typeface="Malgun Gothic"/>
                <a:cs typeface="Consola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812800" y="431800"/>
            <a:ext cx="105664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F5BD3"/>
                </a:solidFill>
                <a:latin typeface="Consolas"/>
                <a:ea typeface="Malgun Gothic"/>
                <a:cs typeface="Consolas"/>
              </a:rPr>
              <a:t>RECOMMENDATIONS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812800" y="635000"/>
            <a:ext cx="10566400" cy="431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Five actions make the pilot decision-ready</a:t>
            </a:r>
          </a:p>
        </p:txBody>
      </p:sp>
      <p:sp>
        <p:nvSpPr>
          <p:cNvPr id="4" name="Rule"/>
          <p:cNvSpPr/>
          <p:nvPr/>
        </p:nvSpPr>
        <p:spPr>
          <a:xfrm>
            <a:off x="812800" y="1143000"/>
            <a:ext cx="533400" cy="25400"/>
          </a:xfrm>
          <a:prstGeom prst="rect">
            <a:avLst/>
          </a:prstGeom>
          <a:solidFill>
            <a:srgbClr val="2F5BD3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5" name="Card 1"/>
          <p:cNvSpPr/>
          <p:nvPr/>
        </p:nvSpPr>
        <p:spPr>
          <a:xfrm>
            <a:off x="812800" y="1409700"/>
            <a:ext cx="1930400" cy="25400"/>
          </a:xfrm>
          <a:prstGeom prst="rect">
            <a:avLst/>
          </a:prstGeom>
          <a:solidFill>
            <a:srgbClr val="2F5BD3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6" name="Card 1 number"/>
          <p:cNvSpPr txBox="1"/>
          <p:nvPr/>
        </p:nvSpPr>
        <p:spPr>
          <a:xfrm>
            <a:off x="812800" y="1600200"/>
            <a:ext cx="1930400" cy="5257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3600" b="0" i="0">
                <a:solidFill>
                  <a:srgbClr val="2F5BD3"/>
                </a:solidFill>
                <a:latin typeface="Arial"/>
                <a:ea typeface="Malgun Gothic"/>
                <a:cs typeface="Arial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800" y="2250440"/>
            <a:ext cx="1930400" cy="5852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Name one owner per workflow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800" y="2911855"/>
            <a:ext cx="1930400" cy="7132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3D4450"/>
                </a:solidFill>
                <a:latin typeface="Arial"/>
                <a:ea typeface="Malgun Gothic"/>
                <a:cs typeface="Arial"/>
              </a:rPr>
              <a:t>The owner signs off the process map and the measures</a:t>
            </a:r>
          </a:p>
        </p:txBody>
      </p:sp>
      <p:cxnSp>
        <p:nvCxnSpPr>
          <p:cNvPr id="9" name="Card 2"/>
          <p:cNvCxnSpPr/>
          <p:nvPr/>
        </p:nvCxnSpPr>
        <p:spPr>
          <a:xfrm>
            <a:off x="2971800" y="1422400"/>
            <a:ext cx="1930400" cy="0"/>
          </a:xfrm>
          <a:prstGeom prst="line">
            <a:avLst/>
          </a:prstGeom>
          <a:ln w="9525">
            <a:solidFill>
              <a:srgbClr val="D9DDE3"/>
            </a:solidFill>
          </a:ln>
        </p:spPr>
      </p:cxnSp>
      <p:sp>
        <p:nvSpPr>
          <p:cNvPr id="10" name="Card 2 number"/>
          <p:cNvSpPr txBox="1"/>
          <p:nvPr/>
        </p:nvSpPr>
        <p:spPr>
          <a:xfrm>
            <a:off x="2971800" y="1600200"/>
            <a:ext cx="1930400" cy="5257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3600" b="0" i="0">
                <a:solidFill>
                  <a:srgbClr val="2F5BD3"/>
                </a:solidFill>
                <a:latin typeface="Arial"/>
                <a:ea typeface="Malgun Gothic"/>
                <a:cs typeface="Arial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2250440"/>
            <a:ext cx="1930400" cy="5852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Close the security findings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800" y="2911855"/>
            <a:ext cx="1930400" cy="7132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3D4450"/>
                </a:solidFill>
                <a:latin typeface="Arial"/>
                <a:ea typeface="Malgun Gothic"/>
                <a:cs typeface="Arial"/>
              </a:rPr>
              <a:t>No live data reaches the platform before both are closed</a:t>
            </a:r>
          </a:p>
        </p:txBody>
      </p:sp>
      <p:cxnSp>
        <p:nvCxnSpPr>
          <p:cNvPr id="13" name="Card 3"/>
          <p:cNvCxnSpPr/>
          <p:nvPr/>
        </p:nvCxnSpPr>
        <p:spPr>
          <a:xfrm>
            <a:off x="5130800" y="1422400"/>
            <a:ext cx="1930400" cy="0"/>
          </a:xfrm>
          <a:prstGeom prst="line">
            <a:avLst/>
          </a:prstGeom>
          <a:ln w="9525">
            <a:solidFill>
              <a:srgbClr val="D9DDE3"/>
            </a:solidFill>
          </a:ln>
        </p:spPr>
      </p:cxnSp>
      <p:sp>
        <p:nvSpPr>
          <p:cNvPr id="14" name="Card 3 number"/>
          <p:cNvSpPr txBox="1"/>
          <p:nvPr/>
        </p:nvSpPr>
        <p:spPr>
          <a:xfrm>
            <a:off x="5130800" y="1600200"/>
            <a:ext cx="1930400" cy="5257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3600" b="0" i="0">
                <a:solidFill>
                  <a:srgbClr val="2F5BD3"/>
                </a:solidFill>
                <a:latin typeface="Arial"/>
                <a:ea typeface="Malgun Gothic"/>
                <a:cs typeface="Arial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30800" y="2250440"/>
            <a:ext cx="1930400" cy="5852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Agree the measures now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30800" y="2911855"/>
            <a:ext cx="1930400" cy="7132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3D4450"/>
                </a:solidFill>
                <a:latin typeface="Arial"/>
                <a:ea typeface="Malgun Gothic"/>
                <a:cs typeface="Arial"/>
              </a:rPr>
              <a:t>Hours saved and error rate, measured the same way before and after</a:t>
            </a:r>
          </a:p>
        </p:txBody>
      </p:sp>
      <p:cxnSp>
        <p:nvCxnSpPr>
          <p:cNvPr id="17" name="Card 4"/>
          <p:cNvCxnSpPr/>
          <p:nvPr/>
        </p:nvCxnSpPr>
        <p:spPr>
          <a:xfrm>
            <a:off x="7289800" y="1422400"/>
            <a:ext cx="1930400" cy="0"/>
          </a:xfrm>
          <a:prstGeom prst="line">
            <a:avLst/>
          </a:prstGeom>
          <a:ln w="9525">
            <a:solidFill>
              <a:srgbClr val="D9DDE3"/>
            </a:solidFill>
          </a:ln>
        </p:spPr>
      </p:cxnSp>
      <p:sp>
        <p:nvSpPr>
          <p:cNvPr id="18" name="Card 4 number"/>
          <p:cNvSpPr txBox="1"/>
          <p:nvPr/>
        </p:nvSpPr>
        <p:spPr>
          <a:xfrm>
            <a:off x="7289800" y="1600200"/>
            <a:ext cx="1930400" cy="5257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3600" b="0" i="0">
                <a:solidFill>
                  <a:srgbClr val="2F5BD3"/>
                </a:solidFill>
                <a:latin typeface="Arial"/>
                <a:ea typeface="Malgun Gothic"/>
                <a:cs typeface="Arial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89800" y="2250440"/>
            <a:ext cx="1930400" cy="5852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Keep people on exceptions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89800" y="2911855"/>
            <a:ext cx="1930400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3D4450"/>
                </a:solidFill>
                <a:latin typeface="Arial"/>
                <a:ea typeface="Malgun Gothic"/>
                <a:cs typeface="Arial"/>
              </a:rPr>
              <a:t>Staff handle what the software cannot match</a:t>
            </a:r>
          </a:p>
        </p:txBody>
      </p:sp>
      <p:cxnSp>
        <p:nvCxnSpPr>
          <p:cNvPr id="21" name="Card 5"/>
          <p:cNvCxnSpPr/>
          <p:nvPr/>
        </p:nvCxnSpPr>
        <p:spPr>
          <a:xfrm>
            <a:off x="9448800" y="1422400"/>
            <a:ext cx="1930400" cy="0"/>
          </a:xfrm>
          <a:prstGeom prst="line">
            <a:avLst/>
          </a:prstGeom>
          <a:ln w="9525">
            <a:solidFill>
              <a:srgbClr val="D9DDE3"/>
            </a:solidFill>
          </a:ln>
        </p:spPr>
      </p:cxnSp>
      <p:sp>
        <p:nvSpPr>
          <p:cNvPr id="22" name="Card 5 number"/>
          <p:cNvSpPr txBox="1"/>
          <p:nvPr/>
        </p:nvSpPr>
        <p:spPr>
          <a:xfrm>
            <a:off x="9448800" y="1600200"/>
            <a:ext cx="1930400" cy="5257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3600" b="0" i="0">
                <a:solidFill>
                  <a:srgbClr val="2F5BD3"/>
                </a:solidFill>
                <a:latin typeface="Arial"/>
                <a:ea typeface="Malgun Gothic"/>
                <a:cs typeface="Arial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48800" y="2250440"/>
            <a:ext cx="1930400" cy="5852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Decide at the end of Q3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48800" y="2911855"/>
            <a:ext cx="1930400" cy="7132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3D4450"/>
                </a:solidFill>
                <a:latin typeface="Arial"/>
                <a:ea typeface="Malgun Gothic"/>
                <a:cs typeface="Arial"/>
              </a:rPr>
              <a:t>Scale, adjust or stop, on the agreed measures only</a:t>
            </a:r>
          </a:p>
        </p:txBody>
      </p:sp>
      <p:cxnSp>
        <p:nvCxnSpPr>
          <p:cNvPr id="25" name="Footer rule"/>
          <p:cNvCxnSpPr/>
          <p:nvPr/>
        </p:nvCxnSpPr>
        <p:spPr>
          <a:xfrm>
            <a:off x="812800" y="6324600"/>
            <a:ext cx="10566400" cy="0"/>
          </a:xfrm>
          <a:prstGeom prst="line">
            <a:avLst/>
          </a:prstGeom>
          <a:ln w="6350">
            <a:solidFill>
              <a:srgbClr val="D9DDE3"/>
            </a:solidFill>
          </a:ln>
        </p:spPr>
      </p:cxnSp>
      <p:sp>
        <p:nvSpPr>
          <p:cNvPr id="26" name="Page number"/>
          <p:cNvSpPr txBox="1"/>
          <p:nvPr/>
        </p:nvSpPr>
        <p:spPr>
          <a:xfrm>
            <a:off x="10617200" y="6426200"/>
            <a:ext cx="7620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5E6672"/>
                </a:solidFill>
                <a:latin typeface="Consolas"/>
                <a:ea typeface="Malgun Gothic"/>
                <a:cs typeface="Consola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812800" y="431800"/>
            <a:ext cx="105664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F5BD3"/>
                </a:solidFill>
                <a:latin typeface="Consolas"/>
                <a:ea typeface="Malgun Gothic"/>
                <a:cs typeface="Consolas"/>
              </a:rPr>
              <a:t>RECOMMENDATIONS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812800" y="635000"/>
            <a:ext cx="10566400" cy="431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Three conditions must hold before we scale beyond the pilot</a:t>
            </a:r>
          </a:p>
        </p:txBody>
      </p:sp>
      <p:sp>
        <p:nvSpPr>
          <p:cNvPr id="4" name="Rule"/>
          <p:cNvSpPr/>
          <p:nvPr/>
        </p:nvSpPr>
        <p:spPr>
          <a:xfrm>
            <a:off x="812800" y="1143000"/>
            <a:ext cx="533400" cy="25400"/>
          </a:xfrm>
          <a:prstGeom prst="rect">
            <a:avLst/>
          </a:prstGeom>
          <a:solidFill>
            <a:srgbClr val="2F5BD3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5" name="Card 1"/>
          <p:cNvSpPr/>
          <p:nvPr/>
        </p:nvSpPr>
        <p:spPr>
          <a:xfrm>
            <a:off x="812800" y="1422400"/>
            <a:ext cx="3369733" cy="1850135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6" name="Card 1 number"/>
          <p:cNvSpPr txBox="1"/>
          <p:nvPr/>
        </p:nvSpPr>
        <p:spPr>
          <a:xfrm>
            <a:off x="990600" y="1600200"/>
            <a:ext cx="3014133" cy="5257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3600" b="0" i="0">
                <a:solidFill>
                  <a:srgbClr val="2F5BD3"/>
                </a:solidFill>
                <a:latin typeface="Arial"/>
                <a:ea typeface="Malgun Gothic"/>
                <a:cs typeface="Arial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600" y="2250440"/>
            <a:ext cx="3014133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Measured savings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600" y="2619247"/>
            <a:ext cx="3014133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3D4450"/>
                </a:solidFill>
                <a:latin typeface="Arial"/>
                <a:ea typeface="Malgun Gothic"/>
                <a:cs typeface="Arial"/>
              </a:rPr>
              <a:t>Hours saved meet the agreed target for two months in a row</a:t>
            </a:r>
          </a:p>
        </p:txBody>
      </p:sp>
      <p:sp>
        <p:nvSpPr>
          <p:cNvPr id="9" name="Card 2"/>
          <p:cNvSpPr/>
          <p:nvPr/>
        </p:nvSpPr>
        <p:spPr>
          <a:xfrm>
            <a:off x="4411133" y="1422400"/>
            <a:ext cx="3369733" cy="1850135"/>
          </a:xfrm>
          <a:prstGeom prst="rect">
            <a:avLst/>
          </a:prstGeom>
          <a:solidFill>
            <a:srgbClr val="EEF2FB"/>
          </a:solidFill>
          <a:ln w="12700">
            <a:solidFill>
              <a:srgbClr val="2F5BD3"/>
            </a:solidFill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10" name="Card 2 number"/>
          <p:cNvSpPr txBox="1"/>
          <p:nvPr/>
        </p:nvSpPr>
        <p:spPr>
          <a:xfrm>
            <a:off x="4588933" y="1600200"/>
            <a:ext cx="3014133" cy="5257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3600" b="0" i="0">
                <a:solidFill>
                  <a:srgbClr val="2F5BD3"/>
                </a:solidFill>
                <a:latin typeface="Arial"/>
                <a:ea typeface="Malgun Gothic"/>
                <a:cs typeface="Arial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8933" y="2250440"/>
            <a:ext cx="3014133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Stable error 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8933" y="2619247"/>
            <a:ext cx="3014133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3D4450"/>
                </a:solidFill>
                <a:latin typeface="Arial"/>
                <a:ea typeface="Malgun Gothic"/>
                <a:cs typeface="Arial"/>
              </a:rPr>
              <a:t>Errors stay at or below the manual baseline</a:t>
            </a:r>
          </a:p>
        </p:txBody>
      </p:sp>
      <p:sp>
        <p:nvSpPr>
          <p:cNvPr id="13" name="Card 3"/>
          <p:cNvSpPr/>
          <p:nvPr/>
        </p:nvSpPr>
        <p:spPr>
          <a:xfrm>
            <a:off x="8009466" y="1422400"/>
            <a:ext cx="3369733" cy="1850135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14" name="Card 3 number"/>
          <p:cNvSpPr txBox="1"/>
          <p:nvPr/>
        </p:nvSpPr>
        <p:spPr>
          <a:xfrm>
            <a:off x="8187266" y="1600200"/>
            <a:ext cx="3014133" cy="5257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3600" b="0" i="0">
                <a:solidFill>
                  <a:srgbClr val="2F5BD3"/>
                </a:solidFill>
                <a:latin typeface="Arial"/>
                <a:ea typeface="Malgun Gothic"/>
                <a:cs typeface="Arial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7266" y="2250440"/>
            <a:ext cx="3014133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Ready second wave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7266" y="2619247"/>
            <a:ext cx="3014133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3D4450"/>
                </a:solidFill>
                <a:latin typeface="Arial"/>
                <a:ea typeface="Malgun Gothic"/>
                <a:cs typeface="Arial"/>
              </a:rPr>
              <a:t>At least two more teams have clean data and an owner</a:t>
            </a:r>
          </a:p>
        </p:txBody>
      </p:sp>
      <p:cxnSp>
        <p:nvCxnSpPr>
          <p:cNvPr id="17" name="Footer rule"/>
          <p:cNvCxnSpPr/>
          <p:nvPr/>
        </p:nvCxnSpPr>
        <p:spPr>
          <a:xfrm>
            <a:off x="812800" y="6324600"/>
            <a:ext cx="10566400" cy="0"/>
          </a:xfrm>
          <a:prstGeom prst="line">
            <a:avLst/>
          </a:prstGeom>
          <a:ln w="6350">
            <a:solidFill>
              <a:srgbClr val="D9DDE3"/>
            </a:solidFill>
          </a:ln>
        </p:spPr>
      </p:cxnSp>
      <p:sp>
        <p:nvSpPr>
          <p:cNvPr id="18" name="Page number"/>
          <p:cNvSpPr txBox="1"/>
          <p:nvPr/>
        </p:nvSpPr>
        <p:spPr>
          <a:xfrm>
            <a:off x="10617200" y="6426200"/>
            <a:ext cx="7620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5E6672"/>
                </a:solidFill>
                <a:latin typeface="Consolas"/>
                <a:ea typeface="Malgun Gothic"/>
                <a:cs typeface="Consola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812800" y="431800"/>
            <a:ext cx="105664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F5BD3"/>
                </a:solidFill>
                <a:latin typeface="Consolas"/>
                <a:ea typeface="Malgun Gothic"/>
                <a:cs typeface="Consolas"/>
              </a:rPr>
              <a:t>PILOT AT A GLANCE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812800" y="635000"/>
            <a:ext cx="10566400" cy="431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Six numbers frame the size of the pilot</a:t>
            </a:r>
          </a:p>
        </p:txBody>
      </p:sp>
      <p:sp>
        <p:nvSpPr>
          <p:cNvPr id="4" name="Rule"/>
          <p:cNvSpPr/>
          <p:nvPr/>
        </p:nvSpPr>
        <p:spPr>
          <a:xfrm>
            <a:off x="812800" y="1143000"/>
            <a:ext cx="533400" cy="25400"/>
          </a:xfrm>
          <a:prstGeom prst="rect">
            <a:avLst/>
          </a:prstGeom>
          <a:solidFill>
            <a:srgbClr val="2F5BD3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5" name="Source"/>
          <p:cNvSpPr txBox="1"/>
          <p:nvPr/>
        </p:nvSpPr>
        <p:spPr>
          <a:xfrm>
            <a:off x="812800" y="5708650"/>
            <a:ext cx="10566400" cy="20955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E6672"/>
                </a:solidFill>
                <a:latin typeface="Arial"/>
                <a:ea typeface="Malgun Gothic"/>
                <a:cs typeface="Arial"/>
              </a:rPr>
              <a:t>Source: Illustrative figures, example deck</a:t>
            </a:r>
          </a:p>
        </p:txBody>
      </p:sp>
      <p:sp>
        <p:nvSpPr>
          <p:cNvPr id="6" name="Stat 1"/>
          <p:cNvSpPr txBox="1"/>
          <p:nvPr/>
        </p:nvSpPr>
        <p:spPr>
          <a:xfrm>
            <a:off x="812800" y="1422400"/>
            <a:ext cx="3369733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36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800" y="2044700"/>
            <a:ext cx="3369733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workflows in the pilot</a:t>
            </a:r>
          </a:p>
        </p:txBody>
      </p:sp>
      <p:sp>
        <p:nvSpPr>
          <p:cNvPr id="8" name="Stat 2"/>
          <p:cNvSpPr txBox="1"/>
          <p:nvPr/>
        </p:nvSpPr>
        <p:spPr>
          <a:xfrm>
            <a:off x="4411133" y="1422400"/>
            <a:ext cx="3369733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36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11133" y="2044700"/>
            <a:ext cx="3369733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teams involved</a:t>
            </a:r>
          </a:p>
        </p:txBody>
      </p:sp>
      <p:sp>
        <p:nvSpPr>
          <p:cNvPr id="10" name="Stat 3"/>
          <p:cNvSpPr txBox="1"/>
          <p:nvPr/>
        </p:nvSpPr>
        <p:spPr>
          <a:xfrm>
            <a:off x="8009466" y="1422400"/>
            <a:ext cx="3369733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36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6 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9466" y="2044700"/>
            <a:ext cx="3369733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pilot length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12800" y="2460244"/>
            <a:ext cx="10566400" cy="0"/>
          </a:xfrm>
          <a:prstGeom prst="line">
            <a:avLst/>
          </a:prstGeom>
          <a:ln w="9525">
            <a:solidFill>
              <a:srgbClr val="D9DDE3"/>
            </a:solidFill>
          </a:ln>
        </p:spPr>
      </p:cxnSp>
      <p:sp>
        <p:nvSpPr>
          <p:cNvPr id="13" name="Stat 4"/>
          <p:cNvSpPr txBox="1"/>
          <p:nvPr/>
        </p:nvSpPr>
        <p:spPr>
          <a:xfrm>
            <a:off x="812800" y="2612644"/>
            <a:ext cx="3369733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36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1,800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2800" y="3234944"/>
            <a:ext cx="3369733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invoices per month in scope</a:t>
            </a:r>
          </a:p>
        </p:txBody>
      </p:sp>
      <p:sp>
        <p:nvSpPr>
          <p:cNvPr id="15" name="Stat 5"/>
          <p:cNvSpPr txBox="1"/>
          <p:nvPr/>
        </p:nvSpPr>
        <p:spPr>
          <a:xfrm>
            <a:off x="4411133" y="2612644"/>
            <a:ext cx="3369733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3600" b="0" i="0">
                <a:solidFill>
                  <a:srgbClr val="2F5BD3"/>
                </a:solidFill>
                <a:latin typeface="Arial"/>
                <a:ea typeface="Malgun Gothic"/>
                <a:cs typeface="Arial"/>
              </a:rPr>
              <a:t>35%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11133" y="3234944"/>
            <a:ext cx="3369733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target share handled without a person</a:t>
            </a:r>
          </a:p>
        </p:txBody>
      </p:sp>
      <p:sp>
        <p:nvSpPr>
          <p:cNvPr id="17" name="Stat 6"/>
          <p:cNvSpPr txBox="1"/>
          <p:nvPr/>
        </p:nvSpPr>
        <p:spPr>
          <a:xfrm>
            <a:off x="8009466" y="2612644"/>
            <a:ext cx="3369733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36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9466" y="3234944"/>
            <a:ext cx="3369733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decision point at the end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296833" y="1422400"/>
            <a:ext cx="0" cy="2075688"/>
          </a:xfrm>
          <a:prstGeom prst="line">
            <a:avLst/>
          </a:prstGeom>
          <a:ln w="9525">
            <a:solidFill>
              <a:srgbClr val="D9DDE3"/>
            </a:solidFill>
          </a:ln>
        </p:spPr>
      </p:cxnSp>
      <p:cxnSp>
        <p:nvCxnSpPr>
          <p:cNvPr id="20" name="Connector 19"/>
          <p:cNvCxnSpPr/>
          <p:nvPr/>
        </p:nvCxnSpPr>
        <p:spPr>
          <a:xfrm>
            <a:off x="7895166" y="1422400"/>
            <a:ext cx="0" cy="2075688"/>
          </a:xfrm>
          <a:prstGeom prst="line">
            <a:avLst/>
          </a:prstGeom>
          <a:ln w="9525">
            <a:solidFill>
              <a:srgbClr val="D9DDE3"/>
            </a:solidFill>
          </a:ln>
        </p:spPr>
      </p:cxnSp>
      <p:cxnSp>
        <p:nvCxnSpPr>
          <p:cNvPr id="21" name="Footer rule"/>
          <p:cNvCxnSpPr/>
          <p:nvPr/>
        </p:nvCxnSpPr>
        <p:spPr>
          <a:xfrm>
            <a:off x="812800" y="6324600"/>
            <a:ext cx="10566400" cy="0"/>
          </a:xfrm>
          <a:prstGeom prst="line">
            <a:avLst/>
          </a:prstGeom>
          <a:ln w="6350">
            <a:solidFill>
              <a:srgbClr val="D9DDE3"/>
            </a:solidFill>
          </a:ln>
        </p:spPr>
      </p:cxnSp>
      <p:sp>
        <p:nvSpPr>
          <p:cNvPr id="22" name="Page number"/>
          <p:cNvSpPr txBox="1"/>
          <p:nvPr/>
        </p:nvSpPr>
        <p:spPr>
          <a:xfrm>
            <a:off x="10617200" y="6426200"/>
            <a:ext cx="7620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5E6672"/>
                </a:solidFill>
                <a:latin typeface="Consolas"/>
                <a:ea typeface="Malgun Gothic"/>
                <a:cs typeface="Consolas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812800" y="431800"/>
            <a:ext cx="105664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F5BD3"/>
                </a:solidFill>
                <a:latin typeface="Consolas"/>
                <a:ea typeface="Malgun Gothic"/>
                <a:cs typeface="Consolas"/>
              </a:rPr>
              <a:t>PILOT AT A GLANCE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812800" y="635000"/>
            <a:ext cx="10566400" cy="431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Nine measures will be tracked every week of the pilot</a:t>
            </a:r>
          </a:p>
        </p:txBody>
      </p:sp>
      <p:sp>
        <p:nvSpPr>
          <p:cNvPr id="4" name="Rule"/>
          <p:cNvSpPr/>
          <p:nvPr/>
        </p:nvSpPr>
        <p:spPr>
          <a:xfrm>
            <a:off x="812800" y="1143000"/>
            <a:ext cx="533400" cy="25400"/>
          </a:xfrm>
          <a:prstGeom prst="rect">
            <a:avLst/>
          </a:prstGeom>
          <a:solidFill>
            <a:srgbClr val="2F5BD3"/>
          </a:solidFill>
          <a:ln>
            <a:noFill/>
          </a:ln>
        </p:spPr>
        <p:txBody>
          <a:bodyPr rtlCol="0" anchor="ctr" wrap="square" lIns="76200" tIns="76200" rIns="76200" bIns="76200"/>
          <a:lstStyle/>
          <a:p>
            <a:pPr algn="ctr"/>
          </a:p>
        </p:txBody>
      </p:sp>
      <p:sp>
        <p:nvSpPr>
          <p:cNvPr id="5" name="Source"/>
          <p:cNvSpPr txBox="1"/>
          <p:nvPr/>
        </p:nvSpPr>
        <p:spPr>
          <a:xfrm>
            <a:off x="812800" y="5708650"/>
            <a:ext cx="10566400" cy="20955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E6672"/>
                </a:solidFill>
                <a:latin typeface="Arial"/>
                <a:ea typeface="Malgun Gothic"/>
                <a:cs typeface="Arial"/>
              </a:rPr>
              <a:t>Source: Illustrative baseline values, example deck</a:t>
            </a:r>
          </a:p>
        </p:txBody>
      </p:sp>
      <p:sp>
        <p:nvSpPr>
          <p:cNvPr id="6" name="Stat 1"/>
          <p:cNvSpPr txBox="1"/>
          <p:nvPr/>
        </p:nvSpPr>
        <p:spPr>
          <a:xfrm>
            <a:off x="812800" y="1422400"/>
            <a:ext cx="3369733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32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12 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800" y="1981200"/>
            <a:ext cx="3369733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median time to match an invoice</a:t>
            </a:r>
          </a:p>
        </p:txBody>
      </p:sp>
      <p:sp>
        <p:nvSpPr>
          <p:cNvPr id="8" name="Stat 2"/>
          <p:cNvSpPr txBox="1"/>
          <p:nvPr/>
        </p:nvSpPr>
        <p:spPr>
          <a:xfrm>
            <a:off x="4411133" y="1422400"/>
            <a:ext cx="3369733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3200" b="0" i="0">
                <a:solidFill>
                  <a:srgbClr val="2F5BD3"/>
                </a:solidFill>
                <a:latin typeface="Arial"/>
                <a:ea typeface="Malgun Gothic"/>
                <a:cs typeface="Arial"/>
              </a:rPr>
              <a:t>3.1%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11133" y="1981200"/>
            <a:ext cx="3369733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invoice error rate</a:t>
            </a:r>
          </a:p>
        </p:txBody>
      </p:sp>
      <p:sp>
        <p:nvSpPr>
          <p:cNvPr id="10" name="Stat 3"/>
          <p:cNvSpPr txBox="1"/>
          <p:nvPr/>
        </p:nvSpPr>
        <p:spPr>
          <a:xfrm>
            <a:off x="8009466" y="1422400"/>
            <a:ext cx="3369733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32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640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9466" y="1981200"/>
            <a:ext cx="3369733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expense claims per week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12800" y="2396744"/>
            <a:ext cx="10566400" cy="0"/>
          </a:xfrm>
          <a:prstGeom prst="line">
            <a:avLst/>
          </a:prstGeom>
          <a:ln w="9525">
            <a:solidFill>
              <a:srgbClr val="D9DDE3"/>
            </a:solidFill>
          </a:ln>
        </p:spPr>
      </p:cxnSp>
      <p:sp>
        <p:nvSpPr>
          <p:cNvPr id="13" name="Stat 4"/>
          <p:cNvSpPr txBox="1"/>
          <p:nvPr/>
        </p:nvSpPr>
        <p:spPr>
          <a:xfrm>
            <a:off x="812800" y="2549144"/>
            <a:ext cx="3369733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32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18 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2800" y="3107944"/>
            <a:ext cx="3369733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median approval time</a:t>
            </a:r>
          </a:p>
        </p:txBody>
      </p:sp>
      <p:sp>
        <p:nvSpPr>
          <p:cNvPr id="15" name="Stat 5"/>
          <p:cNvSpPr txBox="1"/>
          <p:nvPr/>
        </p:nvSpPr>
        <p:spPr>
          <a:xfrm>
            <a:off x="4411133" y="2549144"/>
            <a:ext cx="3369733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32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92%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11133" y="3107944"/>
            <a:ext cx="3369733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claims passing automatic checks</a:t>
            </a:r>
          </a:p>
        </p:txBody>
      </p:sp>
      <p:sp>
        <p:nvSpPr>
          <p:cNvPr id="17" name="Stat 6"/>
          <p:cNvSpPr txBox="1"/>
          <p:nvPr/>
        </p:nvSpPr>
        <p:spPr>
          <a:xfrm>
            <a:off x="8009466" y="2549144"/>
            <a:ext cx="3369733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32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41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9466" y="3107944"/>
            <a:ext cx="3369733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exceptions per week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12800" y="3523488"/>
            <a:ext cx="10566400" cy="0"/>
          </a:xfrm>
          <a:prstGeom prst="line">
            <a:avLst/>
          </a:prstGeom>
          <a:ln w="9525">
            <a:solidFill>
              <a:srgbClr val="D9DDE3"/>
            </a:solidFill>
          </a:ln>
        </p:spPr>
      </p:cxnSp>
      <p:sp>
        <p:nvSpPr>
          <p:cNvPr id="20" name="Stat 7"/>
          <p:cNvSpPr txBox="1"/>
          <p:nvPr/>
        </p:nvSpPr>
        <p:spPr>
          <a:xfrm>
            <a:off x="812800" y="3675888"/>
            <a:ext cx="3369733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32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2800" y="4234688"/>
            <a:ext cx="3369733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open security findings</a:t>
            </a:r>
          </a:p>
        </p:txBody>
      </p:sp>
      <p:sp>
        <p:nvSpPr>
          <p:cNvPr id="22" name="Stat 8"/>
          <p:cNvSpPr txBox="1"/>
          <p:nvPr/>
        </p:nvSpPr>
        <p:spPr>
          <a:xfrm>
            <a:off x="4411133" y="3675888"/>
            <a:ext cx="3369733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32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4.2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11133" y="4234688"/>
            <a:ext cx="3369733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staff satisfaction (of 5)</a:t>
            </a:r>
          </a:p>
        </p:txBody>
      </p:sp>
      <p:sp>
        <p:nvSpPr>
          <p:cNvPr id="24" name="Stat 9"/>
          <p:cNvSpPr txBox="1"/>
          <p:nvPr/>
        </p:nvSpPr>
        <p:spPr>
          <a:xfrm>
            <a:off x="8009466" y="3675888"/>
            <a:ext cx="3369733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32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09466" y="4234688"/>
            <a:ext cx="3369733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F2328"/>
                </a:solidFill>
                <a:latin typeface="Arial"/>
                <a:ea typeface="Malgun Gothic"/>
                <a:cs typeface="Arial"/>
              </a:rPr>
              <a:t>data incidents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296833" y="1422400"/>
            <a:ext cx="0" cy="3075432"/>
          </a:xfrm>
          <a:prstGeom prst="line">
            <a:avLst/>
          </a:prstGeom>
          <a:ln w="9525">
            <a:solidFill>
              <a:srgbClr val="D9DDE3"/>
            </a:solidFill>
          </a:ln>
        </p:spPr>
      </p:cxnSp>
      <p:cxnSp>
        <p:nvCxnSpPr>
          <p:cNvPr id="27" name="Connector 26"/>
          <p:cNvCxnSpPr/>
          <p:nvPr/>
        </p:nvCxnSpPr>
        <p:spPr>
          <a:xfrm>
            <a:off x="7895166" y="1422400"/>
            <a:ext cx="0" cy="3075432"/>
          </a:xfrm>
          <a:prstGeom prst="line">
            <a:avLst/>
          </a:prstGeom>
          <a:ln w="9525">
            <a:solidFill>
              <a:srgbClr val="D9DDE3"/>
            </a:solidFill>
          </a:ln>
        </p:spPr>
      </p:cxnSp>
      <p:cxnSp>
        <p:nvCxnSpPr>
          <p:cNvPr id="28" name="Footer rule"/>
          <p:cNvCxnSpPr/>
          <p:nvPr/>
        </p:nvCxnSpPr>
        <p:spPr>
          <a:xfrm>
            <a:off x="812800" y="6324600"/>
            <a:ext cx="10566400" cy="0"/>
          </a:xfrm>
          <a:prstGeom prst="line">
            <a:avLst/>
          </a:prstGeom>
          <a:ln w="6350">
            <a:solidFill>
              <a:srgbClr val="D9DDE3"/>
            </a:solidFill>
          </a:ln>
        </p:spPr>
      </p:cxnSp>
      <p:sp>
        <p:nvSpPr>
          <p:cNvPr id="29" name="Page number"/>
          <p:cNvSpPr txBox="1"/>
          <p:nvPr/>
        </p:nvSpPr>
        <p:spPr>
          <a:xfrm>
            <a:off x="10617200" y="6426200"/>
            <a:ext cx="762000" cy="190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000" b="0" i="0">
                <a:solidFill>
                  <a:srgbClr val="5E6672"/>
                </a:solidFill>
                <a:latin typeface="Consolas"/>
                <a:ea typeface="Malgun Gothic"/>
                <a:cs typeface="Consolas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A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812800" y="1914753"/>
            <a:ext cx="10566400" cy="1404518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20000"/>
              </a:lnSpc>
            </a:pPr>
            <a:r>
              <a:rPr sz="4800" b="0" i="0">
                <a:solidFill>
                  <a:srgbClr val="FFFFFF"/>
                </a:solidFill>
                <a:latin typeface="Arial"/>
                <a:ea typeface="Malgun Gothic"/>
                <a:cs typeface="Arial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3547871"/>
            <a:ext cx="762000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C9D0DA"/>
                </a:solidFill>
                <a:latin typeface="Arial"/>
                <a:ea typeface="Malgun Gothic"/>
                <a:cs typeface="Arial"/>
              </a:rPr>
              <a:t>Questions and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deckkit (python-pptx)</Application>
  <PresentationFormat>On-screen Show (16:9)</PresentationFormat>
  <Slides>22</Slides>
  <Notes>22</Not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Where to start with workflow automation</dc:title>
  <dc:subject>Agree which two workflows to automate first and how to judge the pilot</dc:subject>
  <dc:creator>Presenter Name</dc:creator>
  <cp:keywords/>
  <dc:description/>
  <cp:lastModifiedBy>Presenter Name</cp:lastModifiedBy>
  <cp:revision>1</cp:revision>
  <dcterms:created xsi:type="dcterms:W3CDTF">2026-10-19T03:14:09Z</dcterms:created>
  <dcterms:modified xsi:type="dcterms:W3CDTF">2026-10-19T03:14:09Z</dcterms:modified>
  <cp:category/>
</cp:coreProperties>
</file>