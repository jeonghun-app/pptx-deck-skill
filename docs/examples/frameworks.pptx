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in this deck is invented to show the framework layouts. The story: pick two workflows to automate first, then run a two-quarter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steps,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recommendation on one page; the sections follow in the same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which workflows to start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Placement here is a judgement by the working group, which is why the tag says qualitative placement. Two workflows sit in the top-right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six workflows, now placed by measured scores. The dashed lines are the thresholds the group agreed before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three-level grid separates who leads, who partners and who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how the options 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More filled means better. Risk control for extending current tools was not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 A meets every mandatory requirement; the others fail at least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status column always carries words, so it reads without colour.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Darker means stronger. Legal has not named an owner yet, so it is not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change. Triage is the change that frees the most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the pilot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are conceptual, not proportional to time. We are in the preparation phase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rail style keeps the existing look; periods and rows are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steps fit in the chevron style when each title is one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actions, each one owned. The first one unblocks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condition is the one most pilots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number to remember is the 35 percent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baseline values we will compare against each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807464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0DA"/>
                </a:solidFill>
                <a:latin typeface="Consolas"/>
                <a:ea typeface="Malgun Gothic"/>
                <a:cs typeface="Consolas"/>
              </a:rPr>
              <a:t>ILLUSTRATIVE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Start automation where value is high and adoption is easy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A worked example of the framework layouts, with invented content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Presenter Name · Operations office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steps lead from candidates to a pilot decision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4224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2400" y="14224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Which workflows to start with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19812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19812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19812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How the options compare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2800" y="25400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12800" y="25400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2400" y="25400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looks like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2800" y="30988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Automate invoice matching and ticket triage first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 what"/>
          <p:cNvSpPr/>
          <p:nvPr/>
        </p:nvSpPr>
        <p:spPr>
          <a:xfrm>
            <a:off x="812800" y="5320792"/>
            <a:ext cx="10566400" cy="59740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So what rule"/>
          <p:cNvSpPr/>
          <p:nvPr/>
        </p:nvSpPr>
        <p:spPr>
          <a:xfrm>
            <a:off x="812800" y="5320792"/>
            <a:ext cx="25400" cy="5974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So what text"/>
          <p:cNvSpPr txBox="1"/>
          <p:nvPr/>
        </p:nvSpPr>
        <p:spPr>
          <a:xfrm>
            <a:off x="990600" y="547319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 a two-quarter pilot for the two selected workflows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9" name="Summary 01"/>
          <p:cNvSpPr txBox="1"/>
          <p:nvPr/>
        </p:nvSpPr>
        <p:spPr>
          <a:xfrm>
            <a:off x="812800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Which workflows to start with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812800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Two workflows combine high value with easy adoption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Measured scores confirm both clear the thresholds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11133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ummary 02"/>
          <p:cNvSpPr txBox="1"/>
          <p:nvPr/>
        </p:nvSpPr>
        <p:spPr>
          <a:xfrm>
            <a:off x="4411133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133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How the options compare</a:t>
            </a:r>
          </a:p>
        </p:txBody>
      </p:sp>
      <p:sp>
        <p:nvSpPr>
          <p:cNvPr id="15" name="Bullets"/>
          <p:cNvSpPr txBox="1"/>
          <p:nvPr/>
        </p:nvSpPr>
        <p:spPr>
          <a:xfrm>
            <a:off x="4411133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Buying a platform beats building on speed and risk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Only one vendor meets every mandatory requirement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9466" y="142240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7" name="Summary 03"/>
          <p:cNvSpPr txBox="1"/>
          <p:nvPr/>
        </p:nvSpPr>
        <p:spPr>
          <a:xfrm>
            <a:off x="8009466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looks like</a:t>
            </a:r>
          </a:p>
        </p:txBody>
      </p:sp>
      <p:sp>
        <p:nvSpPr>
          <p:cNvPr id="19" name="Bullets"/>
          <p:cNvSpPr txBox="1"/>
          <p:nvPr/>
        </p:nvSpPr>
        <p:spPr>
          <a:xfrm>
            <a:off x="8009466" y="2159508"/>
            <a:ext cx="3369733" cy="57454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Three phases with one decision at the end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Nine measures tracked every week</a:t>
            </a:r>
          </a:p>
        </p:txBody>
      </p:sp>
      <p:cxnSp>
        <p:nvCxnSpPr>
          <p:cNvPr id="2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Which workflows to start with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SELECTION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workflows combine high value with easy adoption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mmentary rule"/>
          <p:cNvSpPr/>
          <p:nvPr/>
        </p:nvSpPr>
        <p:spPr>
          <a:xfrm>
            <a:off x="8009466" y="1422400"/>
            <a:ext cx="25400" cy="877823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Invoice matching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and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ticket triage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are the only candidates that are both valuable and ready.</a:t>
            </a:r>
          </a:p>
        </p:txBody>
      </p:sp>
      <p:sp>
        <p:nvSpPr>
          <p:cNvPr id="7" name="Tag"/>
          <p:cNvSpPr/>
          <p:nvPr/>
        </p:nvSpPr>
        <p:spPr>
          <a:xfrm>
            <a:off x="6357458" y="1422400"/>
            <a:ext cx="1423408" cy="241300"/>
          </a:xfrm>
          <a:prstGeom prst="rect">
            <a:avLst/>
          </a:prstGeom>
          <a:noFill/>
          <a:ln w="9525">
            <a:solidFill>
              <a:srgbClr val="5E6672"/>
            </a:solidFill>
          </a:ln>
        </p:spPr>
        <p:txBody>
          <a:bodyPr rtlCol="0" anchor="ctr" wrap="square" lIns="25400" tIns="25400" rIns="25400" bIns="25400"/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Qualitative placement</a:t>
            </a:r>
          </a:p>
        </p:txBody>
      </p:sp>
      <p:sp>
        <p:nvSpPr>
          <p:cNvPr id="8" name="Cell 1"/>
          <p:cNvSpPr/>
          <p:nvPr/>
        </p:nvSpPr>
        <p:spPr>
          <a:xfrm>
            <a:off x="1112520" y="1778000"/>
            <a:ext cx="3315123" cy="190118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Cell 1 name"/>
          <p:cNvSpPr txBox="1"/>
          <p:nvPr/>
        </p:nvSpPr>
        <p:spPr>
          <a:xfrm>
            <a:off x="1239520" y="1905000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Plan carefully</a:t>
            </a:r>
          </a:p>
        </p:txBody>
      </p:sp>
      <p:sp>
        <p:nvSpPr>
          <p:cNvPr id="10" name="Cell 1 body"/>
          <p:cNvSpPr txBox="1"/>
          <p:nvPr/>
        </p:nvSpPr>
        <p:spPr>
          <a:xfrm>
            <a:off x="1239520" y="2168144"/>
            <a:ext cx="306112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High value but needs process change first</a:t>
            </a:r>
          </a:p>
        </p:txBody>
      </p:sp>
      <p:sp>
        <p:nvSpPr>
          <p:cNvPr id="11" name="Item A"/>
          <p:cNvSpPr txBox="1"/>
          <p:nvPr/>
        </p:nvSpPr>
        <p:spPr>
          <a:xfrm>
            <a:off x="1239520" y="2694432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Contract review</a:t>
            </a:r>
          </a:p>
        </p:txBody>
      </p:sp>
      <p:sp>
        <p:nvSpPr>
          <p:cNvPr id="12" name="Cell 2"/>
          <p:cNvSpPr/>
          <p:nvPr/>
        </p:nvSpPr>
        <p:spPr>
          <a:xfrm>
            <a:off x="4465743" y="1778000"/>
            <a:ext cx="3315123" cy="1901189"/>
          </a:xfrm>
          <a:prstGeom prst="rect">
            <a:avLst/>
          </a:prstGeom>
          <a:solidFill>
            <a:srgbClr val="EAEF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3" name="Cell 2 name"/>
          <p:cNvSpPr txBox="1"/>
          <p:nvPr/>
        </p:nvSpPr>
        <p:spPr>
          <a:xfrm>
            <a:off x="4592743" y="1905000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Start here</a:t>
            </a:r>
          </a:p>
        </p:txBody>
      </p:sp>
      <p:sp>
        <p:nvSpPr>
          <p:cNvPr id="14" name="Cell 2 body"/>
          <p:cNvSpPr txBox="1"/>
          <p:nvPr/>
        </p:nvSpPr>
        <p:spPr>
          <a:xfrm>
            <a:off x="4592743" y="2168144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High value and ready to adopt</a:t>
            </a:r>
          </a:p>
        </p:txBody>
      </p:sp>
      <p:sp>
        <p:nvSpPr>
          <p:cNvPr id="15" name="Item B"/>
          <p:cNvSpPr txBox="1"/>
          <p:nvPr/>
        </p:nvSpPr>
        <p:spPr>
          <a:xfrm>
            <a:off x="4592743" y="2456688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B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Invoice matching</a:t>
            </a:r>
          </a:p>
        </p:txBody>
      </p:sp>
      <p:sp>
        <p:nvSpPr>
          <p:cNvPr id="16" name="Item C"/>
          <p:cNvSpPr txBox="1"/>
          <p:nvPr/>
        </p:nvSpPr>
        <p:spPr>
          <a:xfrm>
            <a:off x="4592743" y="2719832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C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Ticket triage</a:t>
            </a:r>
          </a:p>
        </p:txBody>
      </p:sp>
      <p:sp>
        <p:nvSpPr>
          <p:cNvPr id="17" name="Cell 3"/>
          <p:cNvSpPr/>
          <p:nvPr/>
        </p:nvSpPr>
        <p:spPr>
          <a:xfrm>
            <a:off x="1112520" y="3717290"/>
            <a:ext cx="3315123" cy="190118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8" name="Cell 3 name"/>
          <p:cNvSpPr txBox="1"/>
          <p:nvPr/>
        </p:nvSpPr>
        <p:spPr>
          <a:xfrm>
            <a:off x="1239520" y="3844290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Avoid for now</a:t>
            </a:r>
          </a:p>
        </p:txBody>
      </p:sp>
      <p:sp>
        <p:nvSpPr>
          <p:cNvPr id="19" name="Cell 3 body"/>
          <p:cNvSpPr txBox="1"/>
          <p:nvPr/>
        </p:nvSpPr>
        <p:spPr>
          <a:xfrm>
            <a:off x="1239520" y="4107433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Little value and hard to adopt</a:t>
            </a:r>
          </a:p>
        </p:txBody>
      </p:sp>
      <p:sp>
        <p:nvSpPr>
          <p:cNvPr id="20" name="Item D"/>
          <p:cNvSpPr txBox="1"/>
          <p:nvPr/>
        </p:nvSpPr>
        <p:spPr>
          <a:xfrm>
            <a:off x="1239520" y="4395978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Field audits</a:t>
            </a:r>
          </a:p>
        </p:txBody>
      </p:sp>
      <p:sp>
        <p:nvSpPr>
          <p:cNvPr id="21" name="Cell 4"/>
          <p:cNvSpPr/>
          <p:nvPr/>
        </p:nvSpPr>
        <p:spPr>
          <a:xfrm>
            <a:off x="4465743" y="3717290"/>
            <a:ext cx="3315123" cy="190118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2" name="Cell 4 name"/>
          <p:cNvSpPr txBox="1"/>
          <p:nvPr/>
        </p:nvSpPr>
        <p:spPr>
          <a:xfrm>
            <a:off x="4592743" y="3844290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Quick fixes</a:t>
            </a:r>
          </a:p>
        </p:txBody>
      </p:sp>
      <p:sp>
        <p:nvSpPr>
          <p:cNvPr id="23" name="Cell 4 body"/>
          <p:cNvSpPr txBox="1"/>
          <p:nvPr/>
        </p:nvSpPr>
        <p:spPr>
          <a:xfrm>
            <a:off x="4592743" y="4107433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Easy, but small gains</a:t>
            </a:r>
          </a:p>
        </p:txBody>
      </p:sp>
      <p:sp>
        <p:nvSpPr>
          <p:cNvPr id="24" name="Item E"/>
          <p:cNvSpPr txBox="1"/>
          <p:nvPr/>
        </p:nvSpPr>
        <p:spPr>
          <a:xfrm>
            <a:off x="4592743" y="4395978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Meeting notes</a:t>
            </a:r>
          </a:p>
        </p:txBody>
      </p:sp>
      <p:sp>
        <p:nvSpPr>
          <p:cNvPr id="25" name="Item F"/>
          <p:cNvSpPr txBox="1"/>
          <p:nvPr/>
        </p:nvSpPr>
        <p:spPr>
          <a:xfrm>
            <a:off x="4592743" y="4659122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Leave requests</a:t>
            </a:r>
          </a:p>
        </p:txBody>
      </p:sp>
      <p:cxnSp>
        <p:nvCxnSpPr>
          <p:cNvPr id="26" name="X axis"/>
          <p:cNvCxnSpPr/>
          <p:nvPr/>
        </p:nvCxnSpPr>
        <p:spPr>
          <a:xfrm>
            <a:off x="1112520" y="5669280"/>
            <a:ext cx="6668346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cxnSp>
        <p:nvCxnSpPr>
          <p:cNvPr id="27" name="Y axis"/>
          <p:cNvCxnSpPr/>
          <p:nvPr/>
        </p:nvCxnSpPr>
        <p:spPr>
          <a:xfrm flipV="1">
            <a:off x="1061720" y="1778000"/>
            <a:ext cx="0" cy="384048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8" name="X axis left"/>
          <p:cNvSpPr txBox="1"/>
          <p:nvPr/>
        </p:nvSpPr>
        <p:spPr>
          <a:xfrm>
            <a:off x="1112520" y="5694680"/>
            <a:ext cx="441316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Hard</a:t>
            </a:r>
          </a:p>
        </p:txBody>
      </p:sp>
      <p:sp>
        <p:nvSpPr>
          <p:cNvPr id="29" name="X axis center"/>
          <p:cNvSpPr txBox="1"/>
          <p:nvPr/>
        </p:nvSpPr>
        <p:spPr>
          <a:xfrm>
            <a:off x="3807689" y="5694680"/>
            <a:ext cx="1278008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Ease of adoption</a:t>
            </a:r>
          </a:p>
        </p:txBody>
      </p:sp>
      <p:sp>
        <p:nvSpPr>
          <p:cNvPr id="30" name="X axis right"/>
          <p:cNvSpPr txBox="1"/>
          <p:nvPr/>
        </p:nvSpPr>
        <p:spPr>
          <a:xfrm>
            <a:off x="7330806" y="5694680"/>
            <a:ext cx="450060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Easy</a:t>
            </a:r>
          </a:p>
        </p:txBody>
      </p:sp>
      <p:sp>
        <p:nvSpPr>
          <p:cNvPr id="31" name="Y axis left"/>
          <p:cNvSpPr txBox="1"/>
          <p:nvPr/>
        </p:nvSpPr>
        <p:spPr>
          <a:xfrm rot="16200000">
            <a:off x="729996" y="5312156"/>
            <a:ext cx="389126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</a:t>
            </a:r>
          </a:p>
        </p:txBody>
      </p:sp>
      <p:sp>
        <p:nvSpPr>
          <p:cNvPr id="32" name="Y axis center"/>
          <p:cNvSpPr txBox="1"/>
          <p:nvPr/>
        </p:nvSpPr>
        <p:spPr>
          <a:xfrm rot="16200000">
            <a:off x="130232" y="3586479"/>
            <a:ext cx="1588654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Value to the business</a:t>
            </a:r>
          </a:p>
        </p:txBody>
      </p:sp>
      <p:sp>
        <p:nvSpPr>
          <p:cNvPr id="33" name="Y axis right"/>
          <p:cNvSpPr txBox="1"/>
          <p:nvPr/>
        </p:nvSpPr>
        <p:spPr>
          <a:xfrm rot="16200000">
            <a:off x="712583" y="1878216"/>
            <a:ext cx="423952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</a:t>
            </a:r>
          </a:p>
        </p:txBody>
      </p:sp>
      <p:cxnSp>
        <p:nvCxnSpPr>
          <p:cNvPr id="3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SELECTION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Measured scores confirm both workflows clear the thresholds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scores, example deck</a:t>
            </a:r>
          </a:p>
        </p:txBody>
      </p:sp>
      <p:sp>
        <p:nvSpPr>
          <p:cNvPr id="6" name="Cell 1"/>
          <p:cNvSpPr/>
          <p:nvPr/>
        </p:nvSpPr>
        <p:spPr>
          <a:xfrm>
            <a:off x="1112520" y="1422400"/>
            <a:ext cx="6160008" cy="2323337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Cell 1 name"/>
          <p:cNvSpPr txBox="1"/>
          <p:nvPr/>
        </p:nvSpPr>
        <p:spPr>
          <a:xfrm>
            <a:off x="1239520" y="1549400"/>
            <a:ext cx="59060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Plan carefully</a:t>
            </a:r>
          </a:p>
        </p:txBody>
      </p:sp>
      <p:sp>
        <p:nvSpPr>
          <p:cNvPr id="8" name="Cell 2"/>
          <p:cNvSpPr/>
          <p:nvPr/>
        </p:nvSpPr>
        <p:spPr>
          <a:xfrm>
            <a:off x="7272528" y="1422400"/>
            <a:ext cx="4106672" cy="2323337"/>
          </a:xfrm>
          <a:prstGeom prst="rect">
            <a:avLst/>
          </a:prstGeom>
          <a:solidFill>
            <a:srgbClr val="EAEF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Cell 2 name"/>
          <p:cNvSpPr txBox="1"/>
          <p:nvPr/>
        </p:nvSpPr>
        <p:spPr>
          <a:xfrm>
            <a:off x="7399528" y="1549400"/>
            <a:ext cx="38526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Start here</a:t>
            </a:r>
          </a:p>
        </p:txBody>
      </p:sp>
      <p:sp>
        <p:nvSpPr>
          <p:cNvPr id="10" name="Cell 3"/>
          <p:cNvSpPr/>
          <p:nvPr/>
        </p:nvSpPr>
        <p:spPr>
          <a:xfrm>
            <a:off x="1112520" y="3745737"/>
            <a:ext cx="6160008" cy="154889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Cell 3 name"/>
          <p:cNvSpPr txBox="1"/>
          <p:nvPr/>
        </p:nvSpPr>
        <p:spPr>
          <a:xfrm>
            <a:off x="1239520" y="3872737"/>
            <a:ext cx="59060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Avoid for now</a:t>
            </a:r>
          </a:p>
        </p:txBody>
      </p:sp>
      <p:sp>
        <p:nvSpPr>
          <p:cNvPr id="12" name="Cell 4"/>
          <p:cNvSpPr/>
          <p:nvPr/>
        </p:nvSpPr>
        <p:spPr>
          <a:xfrm>
            <a:off x="7272528" y="3745737"/>
            <a:ext cx="4106672" cy="154889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3" name="Cell 4 name"/>
          <p:cNvSpPr txBox="1"/>
          <p:nvPr/>
        </p:nvSpPr>
        <p:spPr>
          <a:xfrm>
            <a:off x="7399528" y="3872737"/>
            <a:ext cx="38526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Quick fixes</a:t>
            </a:r>
          </a:p>
        </p:txBody>
      </p:sp>
      <p:cxnSp>
        <p:nvCxnSpPr>
          <p:cNvPr id="14" name="X axis"/>
          <p:cNvCxnSpPr/>
          <p:nvPr/>
        </p:nvCxnSpPr>
        <p:spPr>
          <a:xfrm>
            <a:off x="1112520" y="5345430"/>
            <a:ext cx="1026668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cxnSp>
        <p:nvCxnSpPr>
          <p:cNvPr id="15" name="Y axis"/>
          <p:cNvCxnSpPr/>
          <p:nvPr/>
        </p:nvCxnSpPr>
        <p:spPr>
          <a:xfrm flipV="1">
            <a:off x="1061720" y="1422400"/>
            <a:ext cx="0" cy="387223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6" name="X axis left"/>
          <p:cNvSpPr txBox="1"/>
          <p:nvPr/>
        </p:nvSpPr>
        <p:spPr>
          <a:xfrm>
            <a:off x="1112520" y="5370830"/>
            <a:ext cx="615571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 · 0</a:t>
            </a:r>
          </a:p>
        </p:txBody>
      </p:sp>
      <p:sp>
        <p:nvSpPr>
          <p:cNvPr id="17" name="X axis center"/>
          <p:cNvSpPr txBox="1"/>
          <p:nvPr/>
        </p:nvSpPr>
        <p:spPr>
          <a:xfrm>
            <a:off x="5310721" y="5370830"/>
            <a:ext cx="1870277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Adoption readiness score</a:t>
            </a:r>
          </a:p>
        </p:txBody>
      </p:sp>
      <p:sp>
        <p:nvSpPr>
          <p:cNvPr id="18" name="X axis right"/>
          <p:cNvSpPr txBox="1"/>
          <p:nvPr/>
        </p:nvSpPr>
        <p:spPr>
          <a:xfrm>
            <a:off x="10554474" y="5370830"/>
            <a:ext cx="824725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 · 100</a:t>
            </a:r>
          </a:p>
        </p:txBody>
      </p:sp>
      <p:sp>
        <p:nvSpPr>
          <p:cNvPr id="19" name="Y axis left"/>
          <p:cNvSpPr txBox="1"/>
          <p:nvPr/>
        </p:nvSpPr>
        <p:spPr>
          <a:xfrm rot="16200000">
            <a:off x="573302" y="4831612"/>
            <a:ext cx="702515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Few · 0k</a:t>
            </a:r>
          </a:p>
        </p:txBody>
      </p:sp>
      <p:sp>
        <p:nvSpPr>
          <p:cNvPr id="20" name="Y axis center"/>
          <p:cNvSpPr txBox="1"/>
          <p:nvPr/>
        </p:nvSpPr>
        <p:spPr>
          <a:xfrm rot="16200000">
            <a:off x="194252" y="3246754"/>
            <a:ext cx="1460614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Hours saved a year</a:t>
            </a:r>
          </a:p>
        </p:txBody>
      </p:sp>
      <p:sp>
        <p:nvSpPr>
          <p:cNvPr id="21" name="Y axis right"/>
          <p:cNvSpPr txBox="1"/>
          <p:nvPr/>
        </p:nvSpPr>
        <p:spPr>
          <a:xfrm rot="16200000">
            <a:off x="486138" y="1749061"/>
            <a:ext cx="876843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Many · 20k</a:t>
            </a:r>
          </a:p>
        </p:txBody>
      </p:sp>
      <p:cxnSp>
        <p:nvCxnSpPr>
          <p:cNvPr id="22" name="Threshold x"/>
          <p:cNvCxnSpPr/>
          <p:nvPr/>
        </p:nvCxnSpPr>
        <p:spPr>
          <a:xfrm>
            <a:off x="7272528" y="1422400"/>
            <a:ext cx="0" cy="3872230"/>
          </a:xfrm>
          <a:prstGeom prst="line">
            <a:avLst/>
          </a:prstGeom>
          <a:ln w="9525">
            <a:solidFill>
              <a:srgbClr val="5E6672"/>
            </a:solidFill>
            <a:prstDash val="dash"/>
          </a:ln>
        </p:spPr>
      </p:cxnSp>
      <p:sp>
        <p:nvSpPr>
          <p:cNvPr id="23" name="Threshold x value"/>
          <p:cNvSpPr txBox="1"/>
          <p:nvPr/>
        </p:nvSpPr>
        <p:spPr>
          <a:xfrm>
            <a:off x="7310628" y="5059680"/>
            <a:ext cx="23468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60</a:t>
            </a:r>
          </a:p>
        </p:txBody>
      </p:sp>
      <p:cxnSp>
        <p:nvCxnSpPr>
          <p:cNvPr id="24" name="Threshold y"/>
          <p:cNvCxnSpPr/>
          <p:nvPr/>
        </p:nvCxnSpPr>
        <p:spPr>
          <a:xfrm>
            <a:off x="1112520" y="3745737"/>
            <a:ext cx="10266680" cy="0"/>
          </a:xfrm>
          <a:prstGeom prst="line">
            <a:avLst/>
          </a:prstGeom>
          <a:ln w="9525">
            <a:solidFill>
              <a:srgbClr val="5E6672"/>
            </a:solidFill>
            <a:prstDash val="dash"/>
          </a:ln>
        </p:spPr>
      </p:cxnSp>
      <p:sp>
        <p:nvSpPr>
          <p:cNvPr id="25" name="Threshold y value"/>
          <p:cNvSpPr txBox="1"/>
          <p:nvPr/>
        </p:nvSpPr>
        <p:spPr>
          <a:xfrm>
            <a:off x="11114412" y="3523487"/>
            <a:ext cx="226687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8k</a:t>
            </a:r>
          </a:p>
        </p:txBody>
      </p:sp>
      <p:sp>
        <p:nvSpPr>
          <p:cNvPr id="26" name="Dot A"/>
          <p:cNvSpPr/>
          <p:nvPr/>
        </p:nvSpPr>
        <p:spPr>
          <a:xfrm>
            <a:off x="4558741" y="2346007"/>
            <a:ext cx="88900" cy="8890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7" name="Dot label A"/>
          <p:cNvSpPr txBox="1"/>
          <p:nvPr/>
        </p:nvSpPr>
        <p:spPr>
          <a:xfrm>
            <a:off x="4685741" y="2292667"/>
            <a:ext cx="1167396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 Contract review</a:t>
            </a:r>
          </a:p>
        </p:txBody>
      </p:sp>
      <p:sp>
        <p:nvSpPr>
          <p:cNvPr id="28" name="Dot B"/>
          <p:cNvSpPr/>
          <p:nvPr/>
        </p:nvSpPr>
        <p:spPr>
          <a:xfrm>
            <a:off x="9076080" y="1958784"/>
            <a:ext cx="88900" cy="889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9" name="Dot label B"/>
          <p:cNvSpPr txBox="1"/>
          <p:nvPr/>
        </p:nvSpPr>
        <p:spPr>
          <a:xfrm>
            <a:off x="9203080" y="1905444"/>
            <a:ext cx="1254629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B Invoice matching</a:t>
            </a:r>
          </a:p>
        </p:txBody>
      </p:sp>
      <p:sp>
        <p:nvSpPr>
          <p:cNvPr id="30" name="Dot C"/>
          <p:cNvSpPr/>
          <p:nvPr/>
        </p:nvSpPr>
        <p:spPr>
          <a:xfrm>
            <a:off x="8254746" y="2926841"/>
            <a:ext cx="88900" cy="889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1" name="Dot label C"/>
          <p:cNvSpPr txBox="1"/>
          <p:nvPr/>
        </p:nvSpPr>
        <p:spPr>
          <a:xfrm>
            <a:off x="8381746" y="2873502"/>
            <a:ext cx="961447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C Ticket triage</a:t>
            </a:r>
          </a:p>
        </p:txBody>
      </p:sp>
      <p:sp>
        <p:nvSpPr>
          <p:cNvPr id="32" name="Dot D"/>
          <p:cNvSpPr/>
          <p:nvPr/>
        </p:nvSpPr>
        <p:spPr>
          <a:xfrm>
            <a:off x="3326739" y="4475733"/>
            <a:ext cx="88900" cy="8890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3" name="Dot label D"/>
          <p:cNvSpPr txBox="1"/>
          <p:nvPr/>
        </p:nvSpPr>
        <p:spPr>
          <a:xfrm>
            <a:off x="3453739" y="4422394"/>
            <a:ext cx="921928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 Field audits</a:t>
            </a:r>
          </a:p>
        </p:txBody>
      </p:sp>
      <p:sp>
        <p:nvSpPr>
          <p:cNvPr id="34" name="Dot E"/>
          <p:cNvSpPr/>
          <p:nvPr/>
        </p:nvSpPr>
        <p:spPr>
          <a:xfrm>
            <a:off x="9794748" y="4669345"/>
            <a:ext cx="88900" cy="8890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5" name="Dot label E"/>
          <p:cNvSpPr txBox="1"/>
          <p:nvPr/>
        </p:nvSpPr>
        <p:spPr>
          <a:xfrm>
            <a:off x="9921748" y="4616005"/>
            <a:ext cx="1080475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 Meeting notes</a:t>
            </a:r>
          </a:p>
        </p:txBody>
      </p:sp>
      <p:sp>
        <p:nvSpPr>
          <p:cNvPr id="36" name="Dot F"/>
          <p:cNvSpPr/>
          <p:nvPr/>
        </p:nvSpPr>
        <p:spPr>
          <a:xfrm>
            <a:off x="7844078" y="4862957"/>
            <a:ext cx="88900" cy="8890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7" name="Dot label F"/>
          <p:cNvSpPr txBox="1"/>
          <p:nvPr/>
        </p:nvSpPr>
        <p:spPr>
          <a:xfrm>
            <a:off x="7971078" y="4809617"/>
            <a:ext cx="1151699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 Leave requests</a:t>
            </a:r>
          </a:p>
        </p:txBody>
      </p:sp>
      <p:cxnSp>
        <p:nvCxnSpPr>
          <p:cNvPr id="3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SELECTION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 three-level view shows which teams to involve first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Bullets"/>
          <p:cNvSpPr txBox="1"/>
          <p:nvPr/>
        </p:nvSpPr>
        <p:spPr>
          <a:xfrm>
            <a:off x="812800" y="1422400"/>
            <a:ext cx="2470150" cy="16245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Finance and the service desk lead the pilot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Procurement joins as a partner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Other teams follow in a second wave</a:t>
            </a:r>
          </a:p>
        </p:txBody>
      </p:sp>
      <p:sp>
        <p:nvSpPr>
          <p:cNvPr id="6" name="Tag"/>
          <p:cNvSpPr/>
          <p:nvPr/>
        </p:nvSpPr>
        <p:spPr>
          <a:xfrm>
            <a:off x="9955791" y="1422400"/>
            <a:ext cx="1423408" cy="241300"/>
          </a:xfrm>
          <a:prstGeom prst="rect">
            <a:avLst/>
          </a:prstGeom>
          <a:noFill/>
          <a:ln w="9525">
            <a:solidFill>
              <a:srgbClr val="5E6672"/>
            </a:solidFill>
          </a:ln>
        </p:spPr>
        <p:txBody>
          <a:bodyPr rtlCol="0" anchor="ctr" wrap="square" lIns="25400" tIns="25400" rIns="25400" bIns="25400"/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Qualitative placement</a:t>
            </a:r>
          </a:p>
        </p:txBody>
      </p:sp>
      <p:sp>
        <p:nvSpPr>
          <p:cNvPr id="7" name="Cell 1"/>
          <p:cNvSpPr/>
          <p:nvPr/>
        </p:nvSpPr>
        <p:spPr>
          <a:xfrm>
            <a:off x="3811270" y="1778000"/>
            <a:ext cx="2503593" cy="126111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Cell 1 name"/>
          <p:cNvSpPr txBox="1"/>
          <p:nvPr/>
        </p:nvSpPr>
        <p:spPr>
          <a:xfrm>
            <a:off x="3938270" y="190500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Build data first</a:t>
            </a:r>
          </a:p>
        </p:txBody>
      </p:sp>
      <p:sp>
        <p:nvSpPr>
          <p:cNvPr id="9" name="Cell 2"/>
          <p:cNvSpPr/>
          <p:nvPr/>
        </p:nvSpPr>
        <p:spPr>
          <a:xfrm>
            <a:off x="6352963" y="1778000"/>
            <a:ext cx="2484543" cy="126111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Cell 2 name"/>
          <p:cNvSpPr txBox="1"/>
          <p:nvPr/>
        </p:nvSpPr>
        <p:spPr>
          <a:xfrm>
            <a:off x="6479963" y="1905000"/>
            <a:ext cx="223054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Pilot partners</a:t>
            </a:r>
          </a:p>
        </p:txBody>
      </p:sp>
      <p:sp>
        <p:nvSpPr>
          <p:cNvPr id="11" name="Item Procurement"/>
          <p:cNvSpPr txBox="1"/>
          <p:nvPr/>
        </p:nvSpPr>
        <p:spPr>
          <a:xfrm>
            <a:off x="6479963" y="2168144"/>
            <a:ext cx="223054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Procurement</a:t>
            </a:r>
          </a:p>
        </p:txBody>
      </p:sp>
      <p:sp>
        <p:nvSpPr>
          <p:cNvPr id="12" name="Cell 3"/>
          <p:cNvSpPr/>
          <p:nvPr/>
        </p:nvSpPr>
        <p:spPr>
          <a:xfrm>
            <a:off x="8875606" y="1778000"/>
            <a:ext cx="2503593" cy="1261110"/>
          </a:xfrm>
          <a:prstGeom prst="rect">
            <a:avLst/>
          </a:prstGeom>
          <a:solidFill>
            <a:srgbClr val="EAEF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3" name="Cell 3 name"/>
          <p:cNvSpPr txBox="1"/>
          <p:nvPr/>
        </p:nvSpPr>
        <p:spPr>
          <a:xfrm>
            <a:off x="9002606" y="190500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Lead the pilot</a:t>
            </a:r>
          </a:p>
        </p:txBody>
      </p:sp>
      <p:sp>
        <p:nvSpPr>
          <p:cNvPr id="14" name="Item Finance"/>
          <p:cNvSpPr txBox="1"/>
          <p:nvPr/>
        </p:nvSpPr>
        <p:spPr>
          <a:xfrm>
            <a:off x="9002606" y="2168144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Finance</a:t>
            </a:r>
          </a:p>
        </p:txBody>
      </p:sp>
      <p:sp>
        <p:nvSpPr>
          <p:cNvPr id="15" name="Item Service desk"/>
          <p:cNvSpPr txBox="1"/>
          <p:nvPr/>
        </p:nvSpPr>
        <p:spPr>
          <a:xfrm>
            <a:off x="9002606" y="2431288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Service desk</a:t>
            </a:r>
          </a:p>
        </p:txBody>
      </p:sp>
      <p:sp>
        <p:nvSpPr>
          <p:cNvPr id="16" name="Cell 4"/>
          <p:cNvSpPr/>
          <p:nvPr/>
        </p:nvSpPr>
        <p:spPr>
          <a:xfrm>
            <a:off x="3811270" y="3077210"/>
            <a:ext cx="2503593" cy="12420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7" name="Cell 4 name"/>
          <p:cNvSpPr txBox="1"/>
          <p:nvPr/>
        </p:nvSpPr>
        <p:spPr>
          <a:xfrm>
            <a:off x="3938270" y="320421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Watch</a:t>
            </a:r>
          </a:p>
        </p:txBody>
      </p:sp>
      <p:sp>
        <p:nvSpPr>
          <p:cNvPr id="18" name="Item Legal"/>
          <p:cNvSpPr txBox="1"/>
          <p:nvPr/>
        </p:nvSpPr>
        <p:spPr>
          <a:xfrm>
            <a:off x="3938270" y="3467354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Legal</a:t>
            </a:r>
          </a:p>
        </p:txBody>
      </p:sp>
      <p:sp>
        <p:nvSpPr>
          <p:cNvPr id="19" name="Cell 5"/>
          <p:cNvSpPr/>
          <p:nvPr/>
        </p:nvSpPr>
        <p:spPr>
          <a:xfrm>
            <a:off x="6352963" y="3077210"/>
            <a:ext cx="2484543" cy="12420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0" name="Cell 5 name"/>
          <p:cNvSpPr txBox="1"/>
          <p:nvPr/>
        </p:nvSpPr>
        <p:spPr>
          <a:xfrm>
            <a:off x="6479963" y="3204210"/>
            <a:ext cx="223054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Prepare</a:t>
            </a:r>
          </a:p>
        </p:txBody>
      </p:sp>
      <p:sp>
        <p:nvSpPr>
          <p:cNvPr id="21" name="Cell 6"/>
          <p:cNvSpPr/>
          <p:nvPr/>
        </p:nvSpPr>
        <p:spPr>
          <a:xfrm>
            <a:off x="8875606" y="3077210"/>
            <a:ext cx="2503593" cy="12420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2" name="Cell 6 name"/>
          <p:cNvSpPr txBox="1"/>
          <p:nvPr/>
        </p:nvSpPr>
        <p:spPr>
          <a:xfrm>
            <a:off x="9002606" y="320421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Second wave</a:t>
            </a:r>
          </a:p>
        </p:txBody>
      </p:sp>
      <p:sp>
        <p:nvSpPr>
          <p:cNvPr id="23" name="Cell 7"/>
          <p:cNvSpPr/>
          <p:nvPr/>
        </p:nvSpPr>
        <p:spPr>
          <a:xfrm>
            <a:off x="3811270" y="4357370"/>
            <a:ext cx="2503593" cy="126110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4" name="Cell 7 name"/>
          <p:cNvSpPr txBox="1"/>
          <p:nvPr/>
        </p:nvSpPr>
        <p:spPr>
          <a:xfrm>
            <a:off x="3938270" y="448437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Not yet</a:t>
            </a:r>
          </a:p>
        </p:txBody>
      </p:sp>
      <p:sp>
        <p:nvSpPr>
          <p:cNvPr id="25" name="Cell 8"/>
          <p:cNvSpPr/>
          <p:nvPr/>
        </p:nvSpPr>
        <p:spPr>
          <a:xfrm>
            <a:off x="6352963" y="4357370"/>
            <a:ext cx="2484543" cy="126110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6" name="Cell 8 name"/>
          <p:cNvSpPr txBox="1"/>
          <p:nvPr/>
        </p:nvSpPr>
        <p:spPr>
          <a:xfrm>
            <a:off x="6479963" y="4484370"/>
            <a:ext cx="223054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Inform</a:t>
            </a:r>
          </a:p>
        </p:txBody>
      </p:sp>
      <p:sp>
        <p:nvSpPr>
          <p:cNvPr id="27" name="Item Facilities"/>
          <p:cNvSpPr txBox="1"/>
          <p:nvPr/>
        </p:nvSpPr>
        <p:spPr>
          <a:xfrm>
            <a:off x="6479963" y="4747514"/>
            <a:ext cx="223054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Facilities</a:t>
            </a:r>
          </a:p>
        </p:txBody>
      </p:sp>
      <p:sp>
        <p:nvSpPr>
          <p:cNvPr id="28" name="Cell 9"/>
          <p:cNvSpPr/>
          <p:nvPr/>
        </p:nvSpPr>
        <p:spPr>
          <a:xfrm>
            <a:off x="8875606" y="4357370"/>
            <a:ext cx="2503593" cy="126110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9" name="Cell 9 name"/>
          <p:cNvSpPr txBox="1"/>
          <p:nvPr/>
        </p:nvSpPr>
        <p:spPr>
          <a:xfrm>
            <a:off x="9002606" y="448437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Offer tools</a:t>
            </a:r>
          </a:p>
        </p:txBody>
      </p:sp>
      <p:cxnSp>
        <p:nvCxnSpPr>
          <p:cNvPr id="30" name="X axis"/>
          <p:cNvCxnSpPr/>
          <p:nvPr/>
        </p:nvCxnSpPr>
        <p:spPr>
          <a:xfrm>
            <a:off x="3811270" y="5669280"/>
            <a:ext cx="756793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cxnSp>
        <p:nvCxnSpPr>
          <p:cNvPr id="31" name="Y axis"/>
          <p:cNvCxnSpPr/>
          <p:nvPr/>
        </p:nvCxnSpPr>
        <p:spPr>
          <a:xfrm flipV="1">
            <a:off x="3760470" y="1778000"/>
            <a:ext cx="0" cy="384048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32" name="X axis left"/>
          <p:cNvSpPr txBox="1"/>
          <p:nvPr/>
        </p:nvSpPr>
        <p:spPr>
          <a:xfrm>
            <a:off x="3811270" y="5694680"/>
            <a:ext cx="389126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</a:t>
            </a:r>
          </a:p>
        </p:txBody>
      </p:sp>
      <p:sp>
        <p:nvSpPr>
          <p:cNvPr id="33" name="X axis center"/>
          <p:cNvSpPr txBox="1"/>
          <p:nvPr/>
        </p:nvSpPr>
        <p:spPr>
          <a:xfrm>
            <a:off x="7017336" y="5694680"/>
            <a:ext cx="1155797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Data readiness</a:t>
            </a:r>
          </a:p>
        </p:txBody>
      </p:sp>
      <p:sp>
        <p:nvSpPr>
          <p:cNvPr id="34" name="X axis right"/>
          <p:cNvSpPr txBox="1"/>
          <p:nvPr/>
        </p:nvSpPr>
        <p:spPr>
          <a:xfrm>
            <a:off x="10955247" y="5694680"/>
            <a:ext cx="423952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</a:t>
            </a:r>
          </a:p>
        </p:txBody>
      </p:sp>
      <p:sp>
        <p:nvSpPr>
          <p:cNvPr id="35" name="Y axis left"/>
          <p:cNvSpPr txBox="1"/>
          <p:nvPr/>
        </p:nvSpPr>
        <p:spPr>
          <a:xfrm rot="16200000">
            <a:off x="3428746" y="5312156"/>
            <a:ext cx="389126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</a:t>
            </a:r>
          </a:p>
        </p:txBody>
      </p:sp>
      <p:sp>
        <p:nvSpPr>
          <p:cNvPr id="36" name="Y axis center"/>
          <p:cNvSpPr txBox="1"/>
          <p:nvPr/>
        </p:nvSpPr>
        <p:spPr>
          <a:xfrm rot="16200000">
            <a:off x="3080237" y="3586479"/>
            <a:ext cx="1086144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Team appetite</a:t>
            </a:r>
          </a:p>
        </p:txBody>
      </p:sp>
      <p:sp>
        <p:nvSpPr>
          <p:cNvPr id="37" name="Y axis right"/>
          <p:cNvSpPr txBox="1"/>
          <p:nvPr/>
        </p:nvSpPr>
        <p:spPr>
          <a:xfrm rot="16200000">
            <a:off x="3411333" y="1878216"/>
            <a:ext cx="423952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</a:t>
            </a:r>
          </a:p>
        </p:txBody>
      </p:sp>
      <p:cxnSp>
        <p:nvCxnSpPr>
          <p:cNvPr id="3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How the options compare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OPTIONS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Buying a platform beats building on speed and on risk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assessment, example deck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812800" y="1422400"/>
          <a:ext cx="10566395" cy="1719579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999048"/>
                <a:gridCol w="1427891"/>
                <a:gridCol w="1427891"/>
                <a:gridCol w="1427891"/>
                <a:gridCol w="1427891"/>
                <a:gridCol w="2855783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Option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Cost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Speed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Risk control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Fit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Verdict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Build in-house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Not preferred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Buy a platform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Preferred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pending a security review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Extend current tools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Fallback option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Symbol harvey 1 fill"/>
          <p:cNvSpPr/>
          <p:nvPr/>
        </p:nvSpPr>
        <p:spPr>
          <a:xfrm>
            <a:off x="3434989" y="1938146"/>
            <a:ext cx="181610" cy="18161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ymbol harvey 1"/>
          <p:cNvSpPr/>
          <p:nvPr/>
        </p:nvSpPr>
        <p:spPr>
          <a:xfrm>
            <a:off x="3434989" y="1938146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ymbol harvey 1 fill"/>
          <p:cNvSpPr/>
          <p:nvPr/>
        </p:nvSpPr>
        <p:spPr>
          <a:xfrm>
            <a:off x="4862881" y="1938146"/>
            <a:ext cx="181610" cy="18161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ymbol harvey 1"/>
          <p:cNvSpPr/>
          <p:nvPr/>
        </p:nvSpPr>
        <p:spPr>
          <a:xfrm>
            <a:off x="4862881" y="1938146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ymbol harvey 2 fill"/>
          <p:cNvSpPr/>
          <p:nvPr/>
        </p:nvSpPr>
        <p:spPr>
          <a:xfrm>
            <a:off x="6290773" y="1938146"/>
            <a:ext cx="181610" cy="18161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ymbol harvey 2"/>
          <p:cNvSpPr/>
          <p:nvPr/>
        </p:nvSpPr>
        <p:spPr>
          <a:xfrm>
            <a:off x="6290773" y="1938146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ymbol harvey 4"/>
          <p:cNvSpPr/>
          <p:nvPr/>
        </p:nvSpPr>
        <p:spPr>
          <a:xfrm>
            <a:off x="7718665" y="1938146"/>
            <a:ext cx="181610" cy="18161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ymbol harvey 3 fill"/>
          <p:cNvSpPr/>
          <p:nvPr/>
        </p:nvSpPr>
        <p:spPr>
          <a:xfrm>
            <a:off x="3434989" y="2302891"/>
            <a:ext cx="181610" cy="18161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ymbol harvey 3"/>
          <p:cNvSpPr/>
          <p:nvPr/>
        </p:nvSpPr>
        <p:spPr>
          <a:xfrm>
            <a:off x="3434989" y="2302891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ymbol harvey 4"/>
          <p:cNvSpPr/>
          <p:nvPr/>
        </p:nvSpPr>
        <p:spPr>
          <a:xfrm>
            <a:off x="4862881" y="2302891"/>
            <a:ext cx="181610" cy="18161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ymbol harvey 3 fill"/>
          <p:cNvSpPr/>
          <p:nvPr/>
        </p:nvSpPr>
        <p:spPr>
          <a:xfrm>
            <a:off x="6290773" y="2302891"/>
            <a:ext cx="181610" cy="18161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ymbol harvey 3"/>
          <p:cNvSpPr/>
          <p:nvPr/>
        </p:nvSpPr>
        <p:spPr>
          <a:xfrm>
            <a:off x="6290773" y="2302891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ymbol harvey 3 fill"/>
          <p:cNvSpPr/>
          <p:nvPr/>
        </p:nvSpPr>
        <p:spPr>
          <a:xfrm>
            <a:off x="7718665" y="2302891"/>
            <a:ext cx="181610" cy="18161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ymbol harvey 3"/>
          <p:cNvSpPr/>
          <p:nvPr/>
        </p:nvSpPr>
        <p:spPr>
          <a:xfrm>
            <a:off x="7718665" y="2302891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ymbol harvey 4"/>
          <p:cNvSpPr/>
          <p:nvPr/>
        </p:nvSpPr>
        <p:spPr>
          <a:xfrm>
            <a:off x="3434989" y="2868803"/>
            <a:ext cx="181610" cy="18161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ymbol harvey 2 fill"/>
          <p:cNvSpPr/>
          <p:nvPr/>
        </p:nvSpPr>
        <p:spPr>
          <a:xfrm>
            <a:off x="4862881" y="2868803"/>
            <a:ext cx="181610" cy="18161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ymbol harvey 2"/>
          <p:cNvSpPr/>
          <p:nvPr/>
        </p:nvSpPr>
        <p:spPr>
          <a:xfrm>
            <a:off x="4862881" y="2868803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4" name="Symbol harvey na"/>
          <p:cNvCxnSpPr/>
          <p:nvPr/>
        </p:nvCxnSpPr>
        <p:spPr>
          <a:xfrm>
            <a:off x="6327095" y="2959608"/>
            <a:ext cx="108966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25" name="Symbol harvey 2 fill"/>
          <p:cNvSpPr/>
          <p:nvPr/>
        </p:nvSpPr>
        <p:spPr>
          <a:xfrm>
            <a:off x="7718665" y="2868803"/>
            <a:ext cx="181610" cy="18161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ymbol harvey 2"/>
          <p:cNvSpPr/>
          <p:nvPr/>
        </p:nvSpPr>
        <p:spPr>
          <a:xfrm>
            <a:off x="7718665" y="2868803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Legend harvey 0"/>
          <p:cNvSpPr/>
          <p:nvPr/>
        </p:nvSpPr>
        <p:spPr>
          <a:xfrm>
            <a:off x="812800" y="3275012"/>
            <a:ext cx="146685" cy="146685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Legend text 0"/>
          <p:cNvSpPr txBox="1"/>
          <p:nvPr/>
        </p:nvSpPr>
        <p:spPr>
          <a:xfrm>
            <a:off x="1022985" y="3243580"/>
            <a:ext cx="391427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None</a:t>
            </a:r>
          </a:p>
        </p:txBody>
      </p:sp>
      <p:sp>
        <p:nvSpPr>
          <p:cNvPr id="29" name="Legend harvey 1 fill"/>
          <p:cNvSpPr/>
          <p:nvPr/>
        </p:nvSpPr>
        <p:spPr>
          <a:xfrm>
            <a:off x="1643012" y="3275012"/>
            <a:ext cx="146685" cy="146685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Legend harvey 1"/>
          <p:cNvSpPr/>
          <p:nvPr/>
        </p:nvSpPr>
        <p:spPr>
          <a:xfrm>
            <a:off x="1643012" y="3275012"/>
            <a:ext cx="146685" cy="146685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Legend text 1"/>
          <p:cNvSpPr txBox="1"/>
          <p:nvPr/>
        </p:nvSpPr>
        <p:spPr>
          <a:xfrm>
            <a:off x="1853197" y="3243580"/>
            <a:ext cx="312187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</a:t>
            </a:r>
          </a:p>
        </p:txBody>
      </p:sp>
      <p:sp>
        <p:nvSpPr>
          <p:cNvPr id="32" name="Legend harvey 2 fill"/>
          <p:cNvSpPr/>
          <p:nvPr/>
        </p:nvSpPr>
        <p:spPr>
          <a:xfrm>
            <a:off x="2393984" y="3275012"/>
            <a:ext cx="146685" cy="146685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Legend harvey 2"/>
          <p:cNvSpPr/>
          <p:nvPr/>
        </p:nvSpPr>
        <p:spPr>
          <a:xfrm>
            <a:off x="2393984" y="3275012"/>
            <a:ext cx="146685" cy="146685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Legend text 2"/>
          <p:cNvSpPr txBox="1"/>
          <p:nvPr/>
        </p:nvSpPr>
        <p:spPr>
          <a:xfrm>
            <a:off x="2604169" y="3243580"/>
            <a:ext cx="454681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Partial</a:t>
            </a:r>
          </a:p>
        </p:txBody>
      </p:sp>
      <p:sp>
        <p:nvSpPr>
          <p:cNvPr id="35" name="Legend harvey 3 fill"/>
          <p:cNvSpPr/>
          <p:nvPr/>
        </p:nvSpPr>
        <p:spPr>
          <a:xfrm>
            <a:off x="3287451" y="3275012"/>
            <a:ext cx="146685" cy="146685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Legend harvey 3"/>
          <p:cNvSpPr/>
          <p:nvPr/>
        </p:nvSpPr>
        <p:spPr>
          <a:xfrm>
            <a:off x="3287451" y="3275012"/>
            <a:ext cx="146685" cy="146685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Legend text 3"/>
          <p:cNvSpPr txBox="1"/>
          <p:nvPr/>
        </p:nvSpPr>
        <p:spPr>
          <a:xfrm>
            <a:off x="3497636" y="3243580"/>
            <a:ext cx="343847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</a:t>
            </a:r>
          </a:p>
        </p:txBody>
      </p:sp>
      <p:sp>
        <p:nvSpPr>
          <p:cNvPr id="38" name="Legend harvey 4"/>
          <p:cNvSpPr/>
          <p:nvPr/>
        </p:nvSpPr>
        <p:spPr>
          <a:xfrm>
            <a:off x="4070084" y="3275012"/>
            <a:ext cx="146685" cy="146685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Legend text 4"/>
          <p:cNvSpPr txBox="1"/>
          <p:nvPr/>
        </p:nvSpPr>
        <p:spPr>
          <a:xfrm>
            <a:off x="4280269" y="3243580"/>
            <a:ext cx="280393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Full</a:t>
            </a:r>
          </a:p>
        </p:txBody>
      </p:sp>
      <p:cxnSp>
        <p:nvCxnSpPr>
          <p:cNvPr id="40" name="Legend harvey na"/>
          <p:cNvCxnSpPr/>
          <p:nvPr/>
        </p:nvCxnSpPr>
        <p:spPr>
          <a:xfrm>
            <a:off x="4818599" y="3348354"/>
            <a:ext cx="88011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41" name="Legend text na"/>
          <p:cNvSpPr txBox="1"/>
          <p:nvPr/>
        </p:nvSpPr>
        <p:spPr>
          <a:xfrm>
            <a:off x="4999447" y="3243580"/>
            <a:ext cx="914068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Not assessed</a:t>
            </a:r>
          </a:p>
        </p:txBody>
      </p:sp>
      <p:cxnSp>
        <p:nvCxnSpPr>
          <p:cNvPr id="4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4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OPTIONS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Only one vendor meets every mandatory requirement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requirements check, example deck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812800" y="1473200"/>
          <a:ext cx="10566397" cy="18831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696177"/>
                <a:gridCol w="1956740"/>
                <a:gridCol w="1956740"/>
                <a:gridCol w="1956740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Requirement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F5BD3"/>
                          </a:solidFill>
                          <a:latin typeface="Arial"/>
                          <a:ea typeface="Malgun Gothic"/>
                          <a:cs typeface="Arial"/>
                        </a:rPr>
                        <a:t>Vendor A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Vendor B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Vendor C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Single sign-on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Data stays in region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Audit log export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Works with the ticket tool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508977" y="1447800"/>
            <a:ext cx="195674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Symbol check yes"/>
          <p:cNvSpPr/>
          <p:nvPr/>
        </p:nvSpPr>
        <p:spPr>
          <a:xfrm>
            <a:off x="6421968" y="2032533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9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ymbol check yes"/>
          <p:cNvSpPr/>
          <p:nvPr/>
        </p:nvSpPr>
        <p:spPr>
          <a:xfrm>
            <a:off x="8378709" y="2032533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8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ymbol check yes"/>
          <p:cNvSpPr/>
          <p:nvPr/>
        </p:nvSpPr>
        <p:spPr>
          <a:xfrm>
            <a:off x="10335450" y="2032533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8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ymbol check yes"/>
          <p:cNvSpPr/>
          <p:nvPr/>
        </p:nvSpPr>
        <p:spPr>
          <a:xfrm>
            <a:off x="6421968" y="2397277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9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ymbol check partial fill"/>
          <p:cNvSpPr/>
          <p:nvPr/>
        </p:nvSpPr>
        <p:spPr>
          <a:xfrm>
            <a:off x="8365996" y="2366403"/>
            <a:ext cx="156184" cy="156184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9A5B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ymbol check partial"/>
          <p:cNvSpPr/>
          <p:nvPr/>
        </p:nvSpPr>
        <p:spPr>
          <a:xfrm>
            <a:off x="8365996" y="2366403"/>
            <a:ext cx="156184" cy="156184"/>
          </a:xfrm>
          <a:prstGeom prst="ellipse">
            <a:avLst/>
          </a:prstGeom>
          <a:noFill/>
          <a:ln w="15875">
            <a:solidFill>
              <a:srgbClr val="9A5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Symbol check no"/>
          <p:cNvCxnSpPr/>
          <p:nvPr/>
        </p:nvCxnSpPr>
        <p:spPr>
          <a:xfrm>
            <a:off x="10346346" y="2390013"/>
            <a:ext cx="108966" cy="108966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cxnSp>
        <p:nvCxnSpPr>
          <p:cNvPr id="15" name="Symbol check no"/>
          <p:cNvCxnSpPr/>
          <p:nvPr/>
        </p:nvCxnSpPr>
        <p:spPr>
          <a:xfrm flipH="1">
            <a:off x="10346346" y="2390013"/>
            <a:ext cx="108966" cy="108966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sp>
        <p:nvSpPr>
          <p:cNvPr id="16" name="Symbol check yes"/>
          <p:cNvSpPr/>
          <p:nvPr/>
        </p:nvSpPr>
        <p:spPr>
          <a:xfrm>
            <a:off x="6421968" y="2762021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9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ymbol check yes"/>
          <p:cNvSpPr/>
          <p:nvPr/>
        </p:nvSpPr>
        <p:spPr>
          <a:xfrm>
            <a:off x="8378709" y="2762021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8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ymbol check partial fill"/>
          <p:cNvSpPr/>
          <p:nvPr/>
        </p:nvSpPr>
        <p:spPr>
          <a:xfrm>
            <a:off x="10322737" y="2731147"/>
            <a:ext cx="156184" cy="156184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9A5B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ymbol check partial"/>
          <p:cNvSpPr/>
          <p:nvPr/>
        </p:nvSpPr>
        <p:spPr>
          <a:xfrm>
            <a:off x="10322737" y="2731147"/>
            <a:ext cx="156184" cy="156184"/>
          </a:xfrm>
          <a:prstGeom prst="ellipse">
            <a:avLst/>
          </a:prstGeom>
          <a:noFill/>
          <a:ln w="15875">
            <a:solidFill>
              <a:srgbClr val="9A5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ymbol check yes"/>
          <p:cNvSpPr/>
          <p:nvPr/>
        </p:nvSpPr>
        <p:spPr>
          <a:xfrm>
            <a:off x="6421968" y="3126765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9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" name="Symbol check no"/>
          <p:cNvCxnSpPr/>
          <p:nvPr/>
        </p:nvCxnSpPr>
        <p:spPr>
          <a:xfrm>
            <a:off x="8389605" y="3119501"/>
            <a:ext cx="108966" cy="108966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cxnSp>
        <p:nvCxnSpPr>
          <p:cNvPr id="22" name="Symbol check no"/>
          <p:cNvCxnSpPr/>
          <p:nvPr/>
        </p:nvCxnSpPr>
        <p:spPr>
          <a:xfrm flipH="1">
            <a:off x="8389605" y="3119501"/>
            <a:ext cx="108966" cy="108966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cxnSp>
        <p:nvCxnSpPr>
          <p:cNvPr id="23" name="Symbol check na"/>
          <p:cNvCxnSpPr/>
          <p:nvPr/>
        </p:nvCxnSpPr>
        <p:spPr>
          <a:xfrm>
            <a:off x="10346346" y="3173984"/>
            <a:ext cx="108966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24" name="Legend check yes"/>
          <p:cNvSpPr/>
          <p:nvPr/>
        </p:nvSpPr>
        <p:spPr>
          <a:xfrm>
            <a:off x="833335" y="3524592"/>
            <a:ext cx="108547" cy="79210"/>
          </a:xfrm>
          <a:custGeom>
            <a:avLst/>
            <a:gdLst/>
            <a:ahLst/>
            <a:cxnLst/>
            <a:rect l="l" t="t" r="r" b="b"/>
            <a:pathLst>
              <a:path w="108547" h="79210">
                <a:moveTo>
                  <a:pt x="0" y="41072"/>
                </a:moveTo>
                <a:lnTo>
                  <a:pt x="38139" y="79210"/>
                </a:lnTo>
                <a:lnTo>
                  <a:pt x="108547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Legend text yes"/>
          <p:cNvSpPr txBox="1"/>
          <p:nvPr/>
        </p:nvSpPr>
        <p:spPr>
          <a:xfrm>
            <a:off x="1022985" y="3457955"/>
            <a:ext cx="288319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Met</a:t>
            </a:r>
          </a:p>
        </p:txBody>
      </p:sp>
      <p:sp>
        <p:nvSpPr>
          <p:cNvPr id="26" name="Legend check partial fill"/>
          <p:cNvSpPr/>
          <p:nvPr/>
        </p:nvSpPr>
        <p:spPr>
          <a:xfrm>
            <a:off x="1550172" y="3499656"/>
            <a:ext cx="126149" cy="126149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9A5B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Legend check partial"/>
          <p:cNvSpPr/>
          <p:nvPr/>
        </p:nvSpPr>
        <p:spPr>
          <a:xfrm>
            <a:off x="1550172" y="3499656"/>
            <a:ext cx="126149" cy="126149"/>
          </a:xfrm>
          <a:prstGeom prst="ellipse">
            <a:avLst/>
          </a:prstGeom>
          <a:noFill/>
          <a:ln w="15875">
            <a:solidFill>
              <a:srgbClr val="9A5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Legend text partial"/>
          <p:cNvSpPr txBox="1"/>
          <p:nvPr/>
        </p:nvSpPr>
        <p:spPr>
          <a:xfrm>
            <a:off x="1750089" y="3457955"/>
            <a:ext cx="692134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Partly met</a:t>
            </a:r>
          </a:p>
        </p:txBody>
      </p:sp>
      <p:cxnSp>
        <p:nvCxnSpPr>
          <p:cNvPr id="29" name="Legend check no"/>
          <p:cNvCxnSpPr/>
          <p:nvPr/>
        </p:nvCxnSpPr>
        <p:spPr>
          <a:xfrm>
            <a:off x="2700161" y="3518725"/>
            <a:ext cx="88011" cy="88011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cxnSp>
        <p:nvCxnSpPr>
          <p:cNvPr id="30" name="Legend check no"/>
          <p:cNvCxnSpPr/>
          <p:nvPr/>
        </p:nvCxnSpPr>
        <p:spPr>
          <a:xfrm flipH="1">
            <a:off x="2700161" y="3518725"/>
            <a:ext cx="88011" cy="88011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sp>
        <p:nvSpPr>
          <p:cNvPr id="31" name="Legend text no"/>
          <p:cNvSpPr txBox="1"/>
          <p:nvPr/>
        </p:nvSpPr>
        <p:spPr>
          <a:xfrm>
            <a:off x="2881009" y="3457955"/>
            <a:ext cx="5496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Not met</a:t>
            </a:r>
          </a:p>
        </p:txBody>
      </p:sp>
      <p:cxnSp>
        <p:nvCxnSpPr>
          <p:cNvPr id="32" name="Legend check na"/>
          <p:cNvCxnSpPr/>
          <p:nvPr/>
        </p:nvCxnSpPr>
        <p:spPr>
          <a:xfrm>
            <a:off x="3688586" y="3562730"/>
            <a:ext cx="88011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33" name="Legend text na"/>
          <p:cNvSpPr txBox="1"/>
          <p:nvPr/>
        </p:nvSpPr>
        <p:spPr>
          <a:xfrm>
            <a:off x="3869434" y="3457955"/>
            <a:ext cx="914068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Not assessed</a:t>
            </a:r>
          </a:p>
        </p:txBody>
      </p:sp>
      <p:cxnSp>
        <p:nvCxnSpPr>
          <p:cNvPr id="3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READINESS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of four preparation streams are on track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status, example deck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812800" y="1422400"/>
          <a:ext cx="10566398" cy="18831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385961"/>
                <a:gridCol w="1704258"/>
                <a:gridCol w="2726812"/>
                <a:gridCol w="3749367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Stream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Owner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Status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Next step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Data access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Finance IT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Approved</a:t>
                      </a:r>
                    </a:p>
                  </a:txBody>
                  <a:tcPr marL="32131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Connect the test ledger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Security review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Security office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Two findings open</a:t>
                      </a:r>
                    </a:p>
                  </a:txBody>
                  <a:tcPr marL="32131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Close findings by week 6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Process mapping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Service desk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Complete</a:t>
                      </a:r>
                    </a:p>
                  </a:txBody>
                  <a:tcPr marL="32131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Agree success measures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Change support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People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No owner yet</a:t>
                      </a:r>
                    </a:p>
                  </a:txBody>
                  <a:tcPr marL="32131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Name an owner this month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Symbol rag g"/>
          <p:cNvSpPr/>
          <p:nvPr/>
        </p:nvSpPr>
        <p:spPr>
          <a:xfrm>
            <a:off x="4986496" y="1958124"/>
            <a:ext cx="141655" cy="141655"/>
          </a:xfrm>
          <a:prstGeom prst="ellipse">
            <a:avLst/>
          </a:prstGeom>
          <a:solidFill>
            <a:srgbClr val="1A7F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ymbol rag a"/>
          <p:cNvSpPr/>
          <p:nvPr/>
        </p:nvSpPr>
        <p:spPr>
          <a:xfrm>
            <a:off x="4986496" y="2322868"/>
            <a:ext cx="141655" cy="141655"/>
          </a:xfrm>
          <a:prstGeom prst="ellipse">
            <a:avLst/>
          </a:prstGeom>
          <a:solidFill>
            <a:srgbClr val="9A5B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ymbol rag g"/>
          <p:cNvSpPr/>
          <p:nvPr/>
        </p:nvSpPr>
        <p:spPr>
          <a:xfrm>
            <a:off x="4986496" y="2687612"/>
            <a:ext cx="141655" cy="141655"/>
          </a:xfrm>
          <a:prstGeom prst="ellipse">
            <a:avLst/>
          </a:prstGeom>
          <a:solidFill>
            <a:srgbClr val="1A7F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ymbol rag r"/>
          <p:cNvSpPr/>
          <p:nvPr/>
        </p:nvSpPr>
        <p:spPr>
          <a:xfrm>
            <a:off x="4986496" y="3052356"/>
            <a:ext cx="141655" cy="141655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Legend rag g"/>
          <p:cNvSpPr/>
          <p:nvPr/>
        </p:nvSpPr>
        <p:spPr>
          <a:xfrm>
            <a:off x="828935" y="3454723"/>
            <a:ext cx="114414" cy="114414"/>
          </a:xfrm>
          <a:prstGeom prst="ellipse">
            <a:avLst/>
          </a:prstGeom>
          <a:solidFill>
            <a:srgbClr val="1A7F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Legend text g"/>
          <p:cNvSpPr txBox="1"/>
          <p:nvPr/>
        </p:nvSpPr>
        <p:spPr>
          <a:xfrm>
            <a:off x="1022985" y="3407155"/>
            <a:ext cx="589226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On track</a:t>
            </a:r>
          </a:p>
        </p:txBody>
      </p:sp>
      <p:sp>
        <p:nvSpPr>
          <p:cNvPr id="13" name="Legend rag a"/>
          <p:cNvSpPr/>
          <p:nvPr/>
        </p:nvSpPr>
        <p:spPr>
          <a:xfrm>
            <a:off x="1856947" y="3454723"/>
            <a:ext cx="114414" cy="114414"/>
          </a:xfrm>
          <a:prstGeom prst="ellipse">
            <a:avLst/>
          </a:prstGeom>
          <a:solidFill>
            <a:srgbClr val="9A5B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Legend text a"/>
          <p:cNvSpPr txBox="1"/>
          <p:nvPr/>
        </p:nvSpPr>
        <p:spPr>
          <a:xfrm>
            <a:off x="2050996" y="3407155"/>
            <a:ext cx="446621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At risk</a:t>
            </a:r>
          </a:p>
        </p:txBody>
      </p:sp>
      <p:sp>
        <p:nvSpPr>
          <p:cNvPr id="15" name="Legend rag r"/>
          <p:cNvSpPr/>
          <p:nvPr/>
        </p:nvSpPr>
        <p:spPr>
          <a:xfrm>
            <a:off x="2742353" y="3454723"/>
            <a:ext cx="114414" cy="114414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Legend text r"/>
          <p:cNvSpPr txBox="1"/>
          <p:nvPr/>
        </p:nvSpPr>
        <p:spPr>
          <a:xfrm>
            <a:off x="2936403" y="3407155"/>
            <a:ext cx="586577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Off track</a:t>
            </a:r>
          </a:p>
        </p:txBody>
      </p:sp>
      <p:cxnSp>
        <p:nvCxnSpPr>
          <p:cNvPr id="1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READINESS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Finance leads on every capability the pilot needs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assessment, example deck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812800" y="1422400"/>
          <a:ext cx="10566397" cy="151841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522133"/>
                <a:gridCol w="1761066"/>
                <a:gridCol w="1761066"/>
                <a:gridCol w="1761066"/>
                <a:gridCol w="1761066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Capability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Finance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Service desk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Procurement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Legal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Clean source data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Documented process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Named process owner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Symbol tier 1"/>
          <p:cNvSpPr/>
          <p:nvPr/>
        </p:nvSpPr>
        <p:spPr>
          <a:xfrm>
            <a:off x="5142822" y="1956308"/>
            <a:ext cx="145288" cy="145288"/>
          </a:xfrm>
          <a:prstGeom prst="rect">
            <a:avLst/>
          </a:prstGeom>
          <a:solidFill>
            <a:srgbClr val="2F5BD3"/>
          </a:solidFill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ymbol tier 2 fill"/>
          <p:cNvSpPr/>
          <p:nvPr/>
        </p:nvSpPr>
        <p:spPr>
          <a:xfrm>
            <a:off x="6903889" y="2028952"/>
            <a:ext cx="145288" cy="7264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ymbol tier 2"/>
          <p:cNvSpPr/>
          <p:nvPr/>
        </p:nvSpPr>
        <p:spPr>
          <a:xfrm>
            <a:off x="6903889" y="1956308"/>
            <a:ext cx="145288" cy="14528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ymbol tier 2 fill"/>
          <p:cNvSpPr/>
          <p:nvPr/>
        </p:nvSpPr>
        <p:spPr>
          <a:xfrm>
            <a:off x="8664956" y="2028952"/>
            <a:ext cx="145288" cy="7264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ymbol tier 2"/>
          <p:cNvSpPr/>
          <p:nvPr/>
        </p:nvSpPr>
        <p:spPr>
          <a:xfrm>
            <a:off x="8664956" y="1956308"/>
            <a:ext cx="145288" cy="14528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ymbol tier 3"/>
          <p:cNvSpPr/>
          <p:nvPr/>
        </p:nvSpPr>
        <p:spPr>
          <a:xfrm>
            <a:off x="10426022" y="1956308"/>
            <a:ext cx="145288" cy="145288"/>
          </a:xfrm>
          <a:prstGeom prst="rect">
            <a:avLst/>
          </a:prstGeom>
          <a:noFill/>
          <a:ln w="12700">
            <a:solidFill>
              <a:srgbClr val="5E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ymbol tier 1"/>
          <p:cNvSpPr/>
          <p:nvPr/>
        </p:nvSpPr>
        <p:spPr>
          <a:xfrm>
            <a:off x="5142822" y="2321052"/>
            <a:ext cx="145288" cy="145288"/>
          </a:xfrm>
          <a:prstGeom prst="rect">
            <a:avLst/>
          </a:prstGeom>
          <a:solidFill>
            <a:srgbClr val="2F5BD3"/>
          </a:solidFill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ymbol tier 1"/>
          <p:cNvSpPr/>
          <p:nvPr/>
        </p:nvSpPr>
        <p:spPr>
          <a:xfrm>
            <a:off x="6903889" y="2321052"/>
            <a:ext cx="145288" cy="145288"/>
          </a:xfrm>
          <a:prstGeom prst="rect">
            <a:avLst/>
          </a:prstGeom>
          <a:solidFill>
            <a:srgbClr val="2F5BD3"/>
          </a:solidFill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ymbol tier 3"/>
          <p:cNvSpPr/>
          <p:nvPr/>
        </p:nvSpPr>
        <p:spPr>
          <a:xfrm>
            <a:off x="8664956" y="2321052"/>
            <a:ext cx="145288" cy="145288"/>
          </a:xfrm>
          <a:prstGeom prst="rect">
            <a:avLst/>
          </a:prstGeom>
          <a:noFill/>
          <a:ln w="12700">
            <a:solidFill>
              <a:srgbClr val="5E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ymbol tier 2 fill"/>
          <p:cNvSpPr/>
          <p:nvPr/>
        </p:nvSpPr>
        <p:spPr>
          <a:xfrm>
            <a:off x="10426022" y="2393696"/>
            <a:ext cx="145288" cy="7264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ymbol tier 2"/>
          <p:cNvSpPr/>
          <p:nvPr/>
        </p:nvSpPr>
        <p:spPr>
          <a:xfrm>
            <a:off x="10426022" y="2321052"/>
            <a:ext cx="145288" cy="14528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ymbol tier 1"/>
          <p:cNvSpPr/>
          <p:nvPr/>
        </p:nvSpPr>
        <p:spPr>
          <a:xfrm>
            <a:off x="5142822" y="2685796"/>
            <a:ext cx="145288" cy="145288"/>
          </a:xfrm>
          <a:prstGeom prst="rect">
            <a:avLst/>
          </a:prstGeom>
          <a:solidFill>
            <a:srgbClr val="2F5BD3"/>
          </a:solidFill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ymbol tier 2 fill"/>
          <p:cNvSpPr/>
          <p:nvPr/>
        </p:nvSpPr>
        <p:spPr>
          <a:xfrm>
            <a:off x="6903889" y="2758440"/>
            <a:ext cx="145288" cy="7264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ymbol tier 2"/>
          <p:cNvSpPr/>
          <p:nvPr/>
        </p:nvSpPr>
        <p:spPr>
          <a:xfrm>
            <a:off x="6903889" y="2685796"/>
            <a:ext cx="145288" cy="14528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ymbol tier 2 fill"/>
          <p:cNvSpPr/>
          <p:nvPr/>
        </p:nvSpPr>
        <p:spPr>
          <a:xfrm>
            <a:off x="8664956" y="2758440"/>
            <a:ext cx="145288" cy="7264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ymbol tier 2"/>
          <p:cNvSpPr/>
          <p:nvPr/>
        </p:nvSpPr>
        <p:spPr>
          <a:xfrm>
            <a:off x="8664956" y="2685796"/>
            <a:ext cx="145288" cy="14528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Symbol tier na"/>
          <p:cNvCxnSpPr/>
          <p:nvPr/>
        </p:nvCxnSpPr>
        <p:spPr>
          <a:xfrm>
            <a:off x="10444183" y="2758440"/>
            <a:ext cx="108966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24" name="Legend tier 1"/>
          <p:cNvSpPr/>
          <p:nvPr/>
        </p:nvSpPr>
        <p:spPr>
          <a:xfrm>
            <a:off x="827468" y="3088513"/>
            <a:ext cx="117348" cy="117348"/>
          </a:xfrm>
          <a:prstGeom prst="rect">
            <a:avLst/>
          </a:prstGeom>
          <a:solidFill>
            <a:srgbClr val="2F5BD3"/>
          </a:solidFill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Legend text 1"/>
          <p:cNvSpPr txBox="1"/>
          <p:nvPr/>
        </p:nvSpPr>
        <p:spPr>
          <a:xfrm>
            <a:off x="1022985" y="3042412"/>
            <a:ext cx="1130281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Tier 1 (strongest)</a:t>
            </a:r>
          </a:p>
        </p:txBody>
      </p:sp>
      <p:sp>
        <p:nvSpPr>
          <p:cNvPr id="26" name="Legend tier 2 fill"/>
          <p:cNvSpPr/>
          <p:nvPr/>
        </p:nvSpPr>
        <p:spPr>
          <a:xfrm>
            <a:off x="2396534" y="3147187"/>
            <a:ext cx="117348" cy="5867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Legend tier 2"/>
          <p:cNvSpPr/>
          <p:nvPr/>
        </p:nvSpPr>
        <p:spPr>
          <a:xfrm>
            <a:off x="2396534" y="3088513"/>
            <a:ext cx="117348" cy="11734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Legend text 2"/>
          <p:cNvSpPr txBox="1"/>
          <p:nvPr/>
        </p:nvSpPr>
        <p:spPr>
          <a:xfrm>
            <a:off x="2592051" y="3042412"/>
            <a:ext cx="409729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Tier 2</a:t>
            </a:r>
          </a:p>
        </p:txBody>
      </p:sp>
      <p:sp>
        <p:nvSpPr>
          <p:cNvPr id="29" name="Legend tier 3"/>
          <p:cNvSpPr/>
          <p:nvPr/>
        </p:nvSpPr>
        <p:spPr>
          <a:xfrm>
            <a:off x="3245048" y="3088513"/>
            <a:ext cx="117348" cy="117348"/>
          </a:xfrm>
          <a:prstGeom prst="rect">
            <a:avLst/>
          </a:prstGeom>
          <a:noFill/>
          <a:ln w="12700">
            <a:solidFill>
              <a:srgbClr val="5E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Legend text 3"/>
          <p:cNvSpPr txBox="1"/>
          <p:nvPr/>
        </p:nvSpPr>
        <p:spPr>
          <a:xfrm>
            <a:off x="3440565" y="3042412"/>
            <a:ext cx="409729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Tier 3</a:t>
            </a:r>
          </a:p>
        </p:txBody>
      </p:sp>
      <p:cxnSp>
        <p:nvCxnSpPr>
          <p:cNvPr id="31" name="Legend tier na"/>
          <p:cNvCxnSpPr/>
          <p:nvPr/>
        </p:nvCxnSpPr>
        <p:spPr>
          <a:xfrm>
            <a:off x="4108231" y="3147187"/>
            <a:ext cx="88011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32" name="Legend text na"/>
          <p:cNvSpPr txBox="1"/>
          <p:nvPr/>
        </p:nvSpPr>
        <p:spPr>
          <a:xfrm>
            <a:off x="4289079" y="3042412"/>
            <a:ext cx="914068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Not assessed</a:t>
            </a:r>
          </a:p>
        </p:txBody>
      </p:sp>
      <p:cxnSp>
        <p:nvCxnSpPr>
          <p:cNvPr id="33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OPERATING MODEL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Five changes move work from manual queues to assisted flow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hift header 1"/>
          <p:cNvSpPr txBox="1"/>
          <p:nvPr/>
        </p:nvSpPr>
        <p:spPr>
          <a:xfrm>
            <a:off x="3366007" y="1422400"/>
            <a:ext cx="346964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TODAY</a:t>
            </a:r>
          </a:p>
        </p:txBody>
      </p:sp>
      <p:sp>
        <p:nvSpPr>
          <p:cNvPr id="6" name="Shift header 2"/>
          <p:cNvSpPr txBox="1"/>
          <p:nvPr/>
        </p:nvSpPr>
        <p:spPr>
          <a:xfrm>
            <a:off x="7469632" y="1422400"/>
            <a:ext cx="3909568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TARGET</a:t>
            </a:r>
          </a:p>
        </p:txBody>
      </p:sp>
      <p:cxnSp>
        <p:nvCxnSpPr>
          <p:cNvPr id="7" name="Shift header rule"/>
          <p:cNvCxnSpPr/>
          <p:nvPr/>
        </p:nvCxnSpPr>
        <p:spPr>
          <a:xfrm>
            <a:off x="812800" y="1676400"/>
            <a:ext cx="10566400" cy="0"/>
          </a:xfrm>
          <a:prstGeom prst="line">
            <a:avLst/>
          </a:prstGeom>
          <a:ln w="12700">
            <a:solidFill>
              <a:srgbClr val="D9DDE3"/>
            </a:solidFill>
          </a:ln>
        </p:spPr>
      </p:cxnSp>
      <p:sp>
        <p:nvSpPr>
          <p:cNvPr id="8" name="Dimension 1"/>
          <p:cNvSpPr/>
          <p:nvPr/>
        </p:nvSpPr>
        <p:spPr>
          <a:xfrm>
            <a:off x="812800" y="1765300"/>
            <a:ext cx="2324608" cy="41554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Dimension 1 label"/>
          <p:cNvSpPr txBox="1"/>
          <p:nvPr/>
        </p:nvSpPr>
        <p:spPr>
          <a:xfrm>
            <a:off x="939800" y="1765300"/>
            <a:ext cx="2070608" cy="4155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Intake</a:t>
            </a:r>
          </a:p>
        </p:txBody>
      </p:sp>
      <p:sp>
        <p:nvSpPr>
          <p:cNvPr id="10" name="From 1"/>
          <p:cNvSpPr txBox="1"/>
          <p:nvPr/>
        </p:nvSpPr>
        <p:spPr>
          <a:xfrm>
            <a:off x="3366007" y="1727200"/>
            <a:ext cx="3469640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Requests arrive by </a:t>
            </a:r>
            <a:r>
              <a:rPr sz="1300" b="1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email</a:t>
            </a:r>
          </a:p>
        </p:txBody>
      </p:sp>
      <p:sp>
        <p:nvSpPr>
          <p:cNvPr id="11" name="Shift arrow 1"/>
          <p:cNvSpPr/>
          <p:nvPr/>
        </p:nvSpPr>
        <p:spPr>
          <a:xfrm>
            <a:off x="7076440" y="1858772"/>
            <a:ext cx="152400" cy="228600"/>
          </a:xfrm>
          <a:prstGeom prst="chevron">
            <a:avLst>
              <a:gd name="adj" fmla="val 50000"/>
            </a:avLst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o 1"/>
          <p:cNvSpPr txBox="1"/>
          <p:nvPr/>
        </p:nvSpPr>
        <p:spPr>
          <a:xfrm>
            <a:off x="7469632" y="1727200"/>
            <a:ext cx="3909568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Requests arrive through </a:t>
            </a: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one form</a:t>
            </a:r>
          </a:p>
        </p:txBody>
      </p:sp>
      <p:cxnSp>
        <p:nvCxnSpPr>
          <p:cNvPr id="13" name="Shift rule 1"/>
          <p:cNvCxnSpPr/>
          <p:nvPr/>
        </p:nvCxnSpPr>
        <p:spPr>
          <a:xfrm>
            <a:off x="812800" y="2218944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4" name="Dimension 2"/>
          <p:cNvSpPr/>
          <p:nvPr/>
        </p:nvSpPr>
        <p:spPr>
          <a:xfrm>
            <a:off x="812800" y="2257044"/>
            <a:ext cx="2324608" cy="415544"/>
          </a:xfrm>
          <a:prstGeom prst="rect">
            <a:avLst/>
          </a:prstGeom>
          <a:solidFill>
            <a:srgbClr val="EAEFFB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Dimension 2 label"/>
          <p:cNvSpPr txBox="1"/>
          <p:nvPr/>
        </p:nvSpPr>
        <p:spPr>
          <a:xfrm>
            <a:off x="939800" y="2257044"/>
            <a:ext cx="2070608" cy="4155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Triage</a:t>
            </a:r>
          </a:p>
        </p:txBody>
      </p:sp>
      <p:sp>
        <p:nvSpPr>
          <p:cNvPr id="16" name="From 2"/>
          <p:cNvSpPr txBox="1"/>
          <p:nvPr/>
        </p:nvSpPr>
        <p:spPr>
          <a:xfrm>
            <a:off x="3366007" y="2218944"/>
            <a:ext cx="3469640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A person sorts </a:t>
            </a:r>
            <a:r>
              <a:rPr sz="1300" b="1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every</a:t>
            </a: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 request</a:t>
            </a:r>
          </a:p>
        </p:txBody>
      </p:sp>
      <p:sp>
        <p:nvSpPr>
          <p:cNvPr id="17" name="Shift arrow 2"/>
          <p:cNvSpPr/>
          <p:nvPr/>
        </p:nvSpPr>
        <p:spPr>
          <a:xfrm>
            <a:off x="7076440" y="2350516"/>
            <a:ext cx="152400" cy="228600"/>
          </a:xfrm>
          <a:prstGeom prst="chevron">
            <a:avLst>
              <a:gd name="adj" fmla="val 50000"/>
            </a:avLst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8" name="To 2"/>
          <p:cNvSpPr txBox="1"/>
          <p:nvPr/>
        </p:nvSpPr>
        <p:spPr>
          <a:xfrm>
            <a:off x="7469632" y="2218944"/>
            <a:ext cx="3909568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Software sorts, a person </a:t>
            </a: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checks</a:t>
            </a:r>
          </a:p>
        </p:txBody>
      </p:sp>
      <p:cxnSp>
        <p:nvCxnSpPr>
          <p:cNvPr id="19" name="Shift rule 2"/>
          <p:cNvCxnSpPr/>
          <p:nvPr/>
        </p:nvCxnSpPr>
        <p:spPr>
          <a:xfrm>
            <a:off x="812800" y="2710688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0" name="Dimension 3"/>
          <p:cNvSpPr/>
          <p:nvPr/>
        </p:nvSpPr>
        <p:spPr>
          <a:xfrm>
            <a:off x="812800" y="2748788"/>
            <a:ext cx="2324608" cy="41554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1" name="Dimension 3 label"/>
          <p:cNvSpPr txBox="1"/>
          <p:nvPr/>
        </p:nvSpPr>
        <p:spPr>
          <a:xfrm>
            <a:off x="939800" y="2748788"/>
            <a:ext cx="2070608" cy="4155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Matching</a:t>
            </a:r>
          </a:p>
        </p:txBody>
      </p:sp>
      <p:sp>
        <p:nvSpPr>
          <p:cNvPr id="22" name="From 3"/>
          <p:cNvSpPr txBox="1"/>
          <p:nvPr/>
        </p:nvSpPr>
        <p:spPr>
          <a:xfrm>
            <a:off x="3366007" y="2710688"/>
            <a:ext cx="3469640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Invoices matched line by line</a:t>
            </a:r>
          </a:p>
        </p:txBody>
      </p:sp>
      <p:sp>
        <p:nvSpPr>
          <p:cNvPr id="23" name="Shift arrow 3"/>
          <p:cNvSpPr/>
          <p:nvPr/>
        </p:nvSpPr>
        <p:spPr>
          <a:xfrm>
            <a:off x="7076440" y="2842260"/>
            <a:ext cx="152400" cy="228600"/>
          </a:xfrm>
          <a:prstGeom prst="chevron">
            <a:avLst>
              <a:gd name="adj" fmla="val 50000"/>
            </a:avLst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4" name="To 3"/>
          <p:cNvSpPr txBox="1"/>
          <p:nvPr/>
        </p:nvSpPr>
        <p:spPr>
          <a:xfrm>
            <a:off x="7469632" y="2710688"/>
            <a:ext cx="3909568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Exceptions matched by hand only</a:t>
            </a:r>
          </a:p>
        </p:txBody>
      </p:sp>
      <p:cxnSp>
        <p:nvCxnSpPr>
          <p:cNvPr id="25" name="Shift rule 3"/>
          <p:cNvCxnSpPr/>
          <p:nvPr/>
        </p:nvCxnSpPr>
        <p:spPr>
          <a:xfrm>
            <a:off x="812800" y="3202432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Dimension 4"/>
          <p:cNvSpPr/>
          <p:nvPr/>
        </p:nvSpPr>
        <p:spPr>
          <a:xfrm>
            <a:off x="812800" y="3240532"/>
            <a:ext cx="2324608" cy="41554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7" name="Dimension 4 label"/>
          <p:cNvSpPr txBox="1"/>
          <p:nvPr/>
        </p:nvSpPr>
        <p:spPr>
          <a:xfrm>
            <a:off x="939800" y="3240532"/>
            <a:ext cx="2070608" cy="4155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Reporting</a:t>
            </a:r>
          </a:p>
        </p:txBody>
      </p:sp>
      <p:sp>
        <p:nvSpPr>
          <p:cNvPr id="28" name="From 4"/>
          <p:cNvSpPr txBox="1"/>
          <p:nvPr/>
        </p:nvSpPr>
        <p:spPr>
          <a:xfrm>
            <a:off x="3366007" y="3202432"/>
            <a:ext cx="3469640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Monthly spreadsheet</a:t>
            </a:r>
          </a:p>
        </p:txBody>
      </p:sp>
      <p:sp>
        <p:nvSpPr>
          <p:cNvPr id="29" name="Shift arrow 4"/>
          <p:cNvSpPr/>
          <p:nvPr/>
        </p:nvSpPr>
        <p:spPr>
          <a:xfrm>
            <a:off x="7076440" y="3334004"/>
            <a:ext cx="152400" cy="228600"/>
          </a:xfrm>
          <a:prstGeom prst="chevron">
            <a:avLst>
              <a:gd name="adj" fmla="val 50000"/>
            </a:avLst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0" name="To 4"/>
          <p:cNvSpPr txBox="1"/>
          <p:nvPr/>
        </p:nvSpPr>
        <p:spPr>
          <a:xfrm>
            <a:off x="7469632" y="3202432"/>
            <a:ext cx="3909568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Live queue dashboard</a:t>
            </a:r>
          </a:p>
        </p:txBody>
      </p:sp>
      <p:cxnSp>
        <p:nvCxnSpPr>
          <p:cNvPr id="31" name="Shift rule 4"/>
          <p:cNvCxnSpPr/>
          <p:nvPr/>
        </p:nvCxnSpPr>
        <p:spPr>
          <a:xfrm>
            <a:off x="812800" y="3694176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2" name="Dimension 5"/>
          <p:cNvSpPr/>
          <p:nvPr/>
        </p:nvSpPr>
        <p:spPr>
          <a:xfrm>
            <a:off x="812800" y="3732276"/>
            <a:ext cx="2324608" cy="41554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3" name="Dimension 5 label"/>
          <p:cNvSpPr txBox="1"/>
          <p:nvPr/>
        </p:nvSpPr>
        <p:spPr>
          <a:xfrm>
            <a:off x="939800" y="3732276"/>
            <a:ext cx="2070608" cy="4155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Ownership</a:t>
            </a:r>
          </a:p>
        </p:txBody>
      </p:sp>
      <p:sp>
        <p:nvSpPr>
          <p:cNvPr id="34" name="From 5"/>
          <p:cNvSpPr txBox="1"/>
          <p:nvPr/>
        </p:nvSpPr>
        <p:spPr>
          <a:xfrm>
            <a:off x="3366007" y="3694176"/>
            <a:ext cx="3469640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Shared by three teams</a:t>
            </a:r>
          </a:p>
        </p:txBody>
      </p:sp>
      <p:sp>
        <p:nvSpPr>
          <p:cNvPr id="35" name="Shift arrow 5"/>
          <p:cNvSpPr/>
          <p:nvPr/>
        </p:nvSpPr>
        <p:spPr>
          <a:xfrm>
            <a:off x="7076440" y="3825748"/>
            <a:ext cx="152400" cy="228600"/>
          </a:xfrm>
          <a:prstGeom prst="chevron">
            <a:avLst>
              <a:gd name="adj" fmla="val 50000"/>
            </a:avLst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6" name="To 5"/>
          <p:cNvSpPr txBox="1"/>
          <p:nvPr/>
        </p:nvSpPr>
        <p:spPr>
          <a:xfrm>
            <a:off x="7469632" y="3694176"/>
            <a:ext cx="3909568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One owner per workflow</a:t>
            </a:r>
          </a:p>
        </p:txBody>
      </p:sp>
      <p:cxnSp>
        <p:nvCxnSpPr>
          <p:cNvPr id="37" name="Shift rule 5"/>
          <p:cNvCxnSpPr/>
          <p:nvPr/>
        </p:nvCxnSpPr>
        <p:spPr>
          <a:xfrm>
            <a:off x="812800" y="418592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3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looks like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PILOT 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pilot runs in three phases with one decision at the end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hevron 1"/>
          <p:cNvSpPr/>
          <p:nvPr/>
        </p:nvSpPr>
        <p:spPr>
          <a:xfrm>
            <a:off x="2611966" y="1676400"/>
            <a:ext cx="2988586" cy="429260"/>
          </a:xfrm>
          <a:prstGeom prst="homePlate">
            <a:avLst>
              <a:gd name="adj" fmla="val 32000"/>
            </a:avLst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hevron 1 title"/>
          <p:cNvSpPr txBox="1"/>
          <p:nvPr/>
        </p:nvSpPr>
        <p:spPr>
          <a:xfrm>
            <a:off x="2738966" y="1676400"/>
            <a:ext cx="2711523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Prepare</a:t>
            </a:r>
          </a:p>
        </p:txBody>
      </p:sp>
      <p:sp>
        <p:nvSpPr>
          <p:cNvPr id="7" name="Period 1"/>
          <p:cNvSpPr txBox="1"/>
          <p:nvPr/>
        </p:nvSpPr>
        <p:spPr>
          <a:xfrm>
            <a:off x="2738966" y="1422400"/>
            <a:ext cx="271152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Q1 · Now</a:t>
            </a:r>
          </a:p>
        </p:txBody>
      </p:sp>
      <p:sp>
        <p:nvSpPr>
          <p:cNvPr id="8" name="Chevron 2"/>
          <p:cNvSpPr/>
          <p:nvPr/>
        </p:nvSpPr>
        <p:spPr>
          <a:xfrm>
            <a:off x="5501290" y="1676400"/>
            <a:ext cx="29885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Chevron 2 title"/>
          <p:cNvSpPr txBox="1"/>
          <p:nvPr/>
        </p:nvSpPr>
        <p:spPr>
          <a:xfrm>
            <a:off x="5714853" y="1676400"/>
            <a:ext cx="2624960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Pilot</a:t>
            </a:r>
          </a:p>
        </p:txBody>
      </p:sp>
      <p:sp>
        <p:nvSpPr>
          <p:cNvPr id="10" name="Period 2"/>
          <p:cNvSpPr txBox="1"/>
          <p:nvPr/>
        </p:nvSpPr>
        <p:spPr>
          <a:xfrm>
            <a:off x="5714853" y="1422400"/>
            <a:ext cx="262496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Q2</a:t>
            </a:r>
          </a:p>
        </p:txBody>
      </p:sp>
      <p:sp>
        <p:nvSpPr>
          <p:cNvPr id="11" name="Chevron 3"/>
          <p:cNvSpPr/>
          <p:nvPr/>
        </p:nvSpPr>
        <p:spPr>
          <a:xfrm>
            <a:off x="8390613" y="1676400"/>
            <a:ext cx="29885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Chevron 3 title"/>
          <p:cNvSpPr txBox="1"/>
          <p:nvPr/>
        </p:nvSpPr>
        <p:spPr>
          <a:xfrm>
            <a:off x="8604176" y="1676400"/>
            <a:ext cx="2624960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Decide</a:t>
            </a:r>
          </a:p>
        </p:txBody>
      </p:sp>
      <p:sp>
        <p:nvSpPr>
          <p:cNvPr id="13" name="Period 3"/>
          <p:cNvSpPr txBox="1"/>
          <p:nvPr/>
        </p:nvSpPr>
        <p:spPr>
          <a:xfrm>
            <a:off x="8604176" y="1422400"/>
            <a:ext cx="262496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Q3</a:t>
            </a:r>
          </a:p>
        </p:txBody>
      </p:sp>
      <p:sp>
        <p:nvSpPr>
          <p:cNvPr id="14" name="Current column"/>
          <p:cNvSpPr/>
          <p:nvPr/>
        </p:nvSpPr>
        <p:spPr>
          <a:xfrm>
            <a:off x="2611966" y="2334260"/>
            <a:ext cx="2851223" cy="1322832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12800" y="233426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6" name="Row label"/>
          <p:cNvSpPr txBox="1"/>
          <p:nvPr/>
        </p:nvSpPr>
        <p:spPr>
          <a:xfrm>
            <a:off x="812800" y="2435860"/>
            <a:ext cx="157056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8966" y="2435860"/>
            <a:ext cx="274728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Data and owners in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4853" y="2435860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Two workflows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04176" y="2435860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Scale or stop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2800" y="2775204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1" name="Row label"/>
          <p:cNvSpPr txBox="1"/>
          <p:nvPr/>
        </p:nvSpPr>
        <p:spPr>
          <a:xfrm>
            <a:off x="812800" y="2876804"/>
            <a:ext cx="157056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Key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8966" y="2876804"/>
            <a:ext cx="274728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Signed-off process maps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4853" y="2876804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Weekly measures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176" y="2876804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Recommendation paper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12800" y="3216148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Row label"/>
          <p:cNvSpPr txBox="1"/>
          <p:nvPr/>
        </p:nvSpPr>
        <p:spPr>
          <a:xfrm>
            <a:off x="812800" y="3317748"/>
            <a:ext cx="157056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8966" y="3317748"/>
            <a:ext cx="274728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Security findings 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4853" y="3317748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Error rate below 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4176" y="3317748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Leadership decision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2800" y="3657092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31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2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PILOT 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Each workflow goes through the same four steps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11966" y="1422400"/>
            <a:ext cx="1848908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11966" y="1600200"/>
            <a:ext cx="1848908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01  ·  Weeks 1-2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1966" y="1866900"/>
            <a:ext cx="184890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1966" y="2235708"/>
            <a:ext cx="1848908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Record the current steps and volumes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5175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4918075" y="1422400"/>
            <a:ext cx="1848908" cy="381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8075" y="1600200"/>
            <a:ext cx="1848908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  ·  Weeks 3-6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8075" y="1866900"/>
            <a:ext cx="184890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8075" y="2235708"/>
            <a:ext cx="1848908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Set up rules and connect the data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81283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224183" y="1422400"/>
            <a:ext cx="1848908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4183" y="1600200"/>
            <a:ext cx="1848908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03  ·  Weeks 7-9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4183" y="1866900"/>
            <a:ext cx="184890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Shadow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4183" y="2235708"/>
            <a:ext cx="1848908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Run beside people and compare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87391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9530291" y="1422400"/>
            <a:ext cx="1848908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30291" y="1600200"/>
            <a:ext cx="1848908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04  ·  Week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0291" y="1866900"/>
            <a:ext cx="184890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Switch 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0291" y="2235708"/>
            <a:ext cx="1848908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People handle exceptions only</a:t>
            </a:r>
          </a:p>
        </p:txBody>
      </p:sp>
      <p:sp>
        <p:nvSpPr>
          <p:cNvPr id="24" name="Current column"/>
          <p:cNvSpPr/>
          <p:nvPr/>
        </p:nvSpPr>
        <p:spPr>
          <a:xfrm>
            <a:off x="4841875" y="2939796"/>
            <a:ext cx="2001308" cy="881888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812800" y="2939796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Row label"/>
          <p:cNvSpPr txBox="1"/>
          <p:nvPr/>
        </p:nvSpPr>
        <p:spPr>
          <a:xfrm>
            <a:off x="812800" y="3041396"/>
            <a:ext cx="157056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Owner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11966" y="3041396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Process owner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8075" y="3041396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Platform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4183" y="3041396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Process owner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30291" y="3041396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Process owner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12800" y="338074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2" name="Row label"/>
          <p:cNvSpPr txBox="1"/>
          <p:nvPr/>
        </p:nvSpPr>
        <p:spPr>
          <a:xfrm>
            <a:off x="812800" y="3482340"/>
            <a:ext cx="157056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Done when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1966" y="3482340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Map signed 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8075" y="3482340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Rules tested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4183" y="3482340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Results within 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0291" y="3482340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Old queue closed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12800" y="3821683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3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PILOT 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Six handoffs make up the invoice workflow end to end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hevron 1"/>
          <p:cNvSpPr/>
          <p:nvPr/>
        </p:nvSpPr>
        <p:spPr>
          <a:xfrm>
            <a:off x="812800" y="1422400"/>
            <a:ext cx="1843786" cy="429260"/>
          </a:xfrm>
          <a:prstGeom prst="homePlate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hevron 1 title"/>
          <p:cNvSpPr txBox="1"/>
          <p:nvPr/>
        </p:nvSpPr>
        <p:spPr>
          <a:xfrm>
            <a:off x="939800" y="1422400"/>
            <a:ext cx="1566722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800" y="1978660"/>
            <a:ext cx="160248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Invoice arrives</a:t>
            </a:r>
          </a:p>
        </p:txBody>
      </p:sp>
      <p:sp>
        <p:nvSpPr>
          <p:cNvPr id="8" name="Chevron 2"/>
          <p:cNvSpPr/>
          <p:nvPr/>
        </p:nvSpPr>
        <p:spPr>
          <a:xfrm>
            <a:off x="2557322" y="1422400"/>
            <a:ext cx="18437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Chevron 2 title"/>
          <p:cNvSpPr txBox="1"/>
          <p:nvPr/>
        </p:nvSpPr>
        <p:spPr>
          <a:xfrm>
            <a:off x="2770886" y="1422400"/>
            <a:ext cx="1480159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0886" y="1978660"/>
            <a:ext cx="151592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Fields extracted</a:t>
            </a:r>
          </a:p>
        </p:txBody>
      </p:sp>
      <p:sp>
        <p:nvSpPr>
          <p:cNvPr id="11" name="Chevron 3"/>
          <p:cNvSpPr/>
          <p:nvPr/>
        </p:nvSpPr>
        <p:spPr>
          <a:xfrm>
            <a:off x="4301845" y="1422400"/>
            <a:ext cx="18437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Chevron 3 title"/>
          <p:cNvSpPr txBox="1"/>
          <p:nvPr/>
        </p:nvSpPr>
        <p:spPr>
          <a:xfrm>
            <a:off x="4515408" y="1422400"/>
            <a:ext cx="1480159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5408" y="1978660"/>
            <a:ext cx="151592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Order and receipt</a:t>
            </a:r>
          </a:p>
        </p:txBody>
      </p:sp>
      <p:sp>
        <p:nvSpPr>
          <p:cNvPr id="14" name="Chevron 4"/>
          <p:cNvSpPr/>
          <p:nvPr/>
        </p:nvSpPr>
        <p:spPr>
          <a:xfrm>
            <a:off x="6046368" y="1422400"/>
            <a:ext cx="18437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Chevron 4 title"/>
          <p:cNvSpPr txBox="1"/>
          <p:nvPr/>
        </p:nvSpPr>
        <p:spPr>
          <a:xfrm>
            <a:off x="6259931" y="1422400"/>
            <a:ext cx="1480159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931" y="1978660"/>
            <a:ext cx="151592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Budget owner</a:t>
            </a:r>
          </a:p>
        </p:txBody>
      </p:sp>
      <p:sp>
        <p:nvSpPr>
          <p:cNvPr id="17" name="Chevron 5"/>
          <p:cNvSpPr/>
          <p:nvPr/>
        </p:nvSpPr>
        <p:spPr>
          <a:xfrm>
            <a:off x="7790891" y="1422400"/>
            <a:ext cx="18437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8" name="Chevron 5 title"/>
          <p:cNvSpPr txBox="1"/>
          <p:nvPr/>
        </p:nvSpPr>
        <p:spPr>
          <a:xfrm>
            <a:off x="8004454" y="1422400"/>
            <a:ext cx="1480159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4454" y="1978660"/>
            <a:ext cx="151592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Payment run</a:t>
            </a:r>
          </a:p>
        </p:txBody>
      </p:sp>
      <p:sp>
        <p:nvSpPr>
          <p:cNvPr id="20" name="Chevron 6"/>
          <p:cNvSpPr/>
          <p:nvPr/>
        </p:nvSpPr>
        <p:spPr>
          <a:xfrm>
            <a:off x="9535414" y="1422400"/>
            <a:ext cx="18437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1" name="Chevron 6 title"/>
          <p:cNvSpPr txBox="1"/>
          <p:nvPr/>
        </p:nvSpPr>
        <p:spPr>
          <a:xfrm>
            <a:off x="9748977" y="1422400"/>
            <a:ext cx="1480159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Archive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48977" y="1978660"/>
            <a:ext cx="151592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Kept for audit</a:t>
            </a:r>
          </a:p>
        </p:txBody>
      </p:sp>
      <p:cxnSp>
        <p:nvCxnSpPr>
          <p:cNvPr id="23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RECOMMENDATIONS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Five actions make the pilot decision-ready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ard 1"/>
          <p:cNvSpPr/>
          <p:nvPr/>
        </p:nvSpPr>
        <p:spPr>
          <a:xfrm>
            <a:off x="812800" y="1409700"/>
            <a:ext cx="1930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ard 1 number"/>
          <p:cNvSpPr txBox="1"/>
          <p:nvPr/>
        </p:nvSpPr>
        <p:spPr>
          <a:xfrm>
            <a:off x="812800" y="1600200"/>
            <a:ext cx="1930400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250440"/>
            <a:ext cx="19304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Name one owner per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911855"/>
            <a:ext cx="193040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owner signs off the process map and the measures</a:t>
            </a:r>
          </a:p>
        </p:txBody>
      </p:sp>
      <p:cxnSp>
        <p:nvCxnSpPr>
          <p:cNvPr id="9" name="Card 2"/>
          <p:cNvCxnSpPr/>
          <p:nvPr/>
        </p:nvCxnSpPr>
        <p:spPr>
          <a:xfrm>
            <a:off x="2971800" y="1422400"/>
            <a:ext cx="1930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0" name="Card 2 number"/>
          <p:cNvSpPr txBox="1"/>
          <p:nvPr/>
        </p:nvSpPr>
        <p:spPr>
          <a:xfrm>
            <a:off x="2971800" y="1600200"/>
            <a:ext cx="1930400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250440"/>
            <a:ext cx="19304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Close the security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11855"/>
            <a:ext cx="193040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No live data reaches the platform before both are closed</a:t>
            </a:r>
          </a:p>
        </p:txBody>
      </p:sp>
      <p:cxnSp>
        <p:nvCxnSpPr>
          <p:cNvPr id="13" name="Card 3"/>
          <p:cNvCxnSpPr/>
          <p:nvPr/>
        </p:nvCxnSpPr>
        <p:spPr>
          <a:xfrm>
            <a:off x="5130800" y="1422400"/>
            <a:ext cx="1930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4" name="Card 3 number"/>
          <p:cNvSpPr txBox="1"/>
          <p:nvPr/>
        </p:nvSpPr>
        <p:spPr>
          <a:xfrm>
            <a:off x="5130800" y="1600200"/>
            <a:ext cx="1930400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0800" y="2250440"/>
            <a:ext cx="19304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Agree the measures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0800" y="2911855"/>
            <a:ext cx="193040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Hours saved and error rate, measured the same way before and after</a:t>
            </a:r>
          </a:p>
        </p:txBody>
      </p:sp>
      <p:cxnSp>
        <p:nvCxnSpPr>
          <p:cNvPr id="17" name="Card 4"/>
          <p:cNvCxnSpPr/>
          <p:nvPr/>
        </p:nvCxnSpPr>
        <p:spPr>
          <a:xfrm>
            <a:off x="7289800" y="1422400"/>
            <a:ext cx="1930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8" name="Card 4 number"/>
          <p:cNvSpPr txBox="1"/>
          <p:nvPr/>
        </p:nvSpPr>
        <p:spPr>
          <a:xfrm>
            <a:off x="7289800" y="1600200"/>
            <a:ext cx="1930400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9800" y="2250440"/>
            <a:ext cx="19304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Keep people on exceptions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9800" y="2911855"/>
            <a:ext cx="19304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Staff handle what the software cannot match</a:t>
            </a:r>
          </a:p>
        </p:txBody>
      </p:sp>
      <p:cxnSp>
        <p:nvCxnSpPr>
          <p:cNvPr id="21" name="Card 5"/>
          <p:cNvCxnSpPr/>
          <p:nvPr/>
        </p:nvCxnSpPr>
        <p:spPr>
          <a:xfrm>
            <a:off x="9448800" y="1422400"/>
            <a:ext cx="1930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22" name="Card 5 number"/>
          <p:cNvSpPr txBox="1"/>
          <p:nvPr/>
        </p:nvSpPr>
        <p:spPr>
          <a:xfrm>
            <a:off x="9448800" y="1600200"/>
            <a:ext cx="1930400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8800" y="2250440"/>
            <a:ext cx="19304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Decide at the end of Q3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8800" y="2911855"/>
            <a:ext cx="193040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Scale, adjust or stop, on the agreed measures only</a:t>
            </a:r>
          </a:p>
        </p:txBody>
      </p:sp>
      <p:cxnSp>
        <p:nvCxnSpPr>
          <p:cNvPr id="2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RECOMMENDATIONS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conditions must hold before we scale beyond the pilot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ard 1"/>
          <p:cNvSpPr/>
          <p:nvPr/>
        </p:nvSpPr>
        <p:spPr>
          <a:xfrm>
            <a:off x="812800" y="1422400"/>
            <a:ext cx="3369733" cy="1850135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ard 1 number"/>
          <p:cNvSpPr txBox="1"/>
          <p:nvPr/>
        </p:nvSpPr>
        <p:spPr>
          <a:xfrm>
            <a:off x="990600" y="1600200"/>
            <a:ext cx="3014133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225044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Measured savings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2619247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Hours saved meet the agreed target for two months in a row</a:t>
            </a:r>
          </a:p>
        </p:txBody>
      </p:sp>
      <p:sp>
        <p:nvSpPr>
          <p:cNvPr id="9" name="Card 2"/>
          <p:cNvSpPr/>
          <p:nvPr/>
        </p:nvSpPr>
        <p:spPr>
          <a:xfrm>
            <a:off x="4411133" y="1422400"/>
            <a:ext cx="3369733" cy="1850135"/>
          </a:xfrm>
          <a:prstGeom prst="rect">
            <a:avLst/>
          </a:prstGeom>
          <a:solidFill>
            <a:srgbClr val="EEF2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Card 2 number"/>
          <p:cNvSpPr txBox="1"/>
          <p:nvPr/>
        </p:nvSpPr>
        <p:spPr>
          <a:xfrm>
            <a:off x="4588933" y="1600200"/>
            <a:ext cx="3014133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8933" y="225044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Stable error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933" y="2619247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Errors stay at or below the manual baseline</a:t>
            </a:r>
          </a:p>
        </p:txBody>
      </p:sp>
      <p:sp>
        <p:nvSpPr>
          <p:cNvPr id="13" name="Card 3"/>
          <p:cNvSpPr/>
          <p:nvPr/>
        </p:nvSpPr>
        <p:spPr>
          <a:xfrm>
            <a:off x="8009466" y="1422400"/>
            <a:ext cx="3369733" cy="1850135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4" name="Card 3 number"/>
          <p:cNvSpPr txBox="1"/>
          <p:nvPr/>
        </p:nvSpPr>
        <p:spPr>
          <a:xfrm>
            <a:off x="8187266" y="1600200"/>
            <a:ext cx="3014133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7266" y="225044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Ready second wave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7266" y="2619247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At least two more teams have clean data and an owner</a:t>
            </a:r>
          </a:p>
        </p:txBody>
      </p:sp>
      <p:cxnSp>
        <p:nvCxnSpPr>
          <p:cNvPr id="1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PILOT AT A GLANCE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Six numbers frame the size of the pilot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figures, example deck</a:t>
            </a:r>
          </a:p>
        </p:txBody>
      </p:sp>
      <p:sp>
        <p:nvSpPr>
          <p:cNvPr id="6" name="Stat 1"/>
          <p:cNvSpPr txBox="1"/>
          <p:nvPr/>
        </p:nvSpPr>
        <p:spPr>
          <a:xfrm>
            <a:off x="812800" y="1422400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0447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workflows in the pilot</a:t>
            </a:r>
          </a:p>
        </p:txBody>
      </p:sp>
      <p:sp>
        <p:nvSpPr>
          <p:cNvPr id="8" name="Stat 2"/>
          <p:cNvSpPr txBox="1"/>
          <p:nvPr/>
        </p:nvSpPr>
        <p:spPr>
          <a:xfrm>
            <a:off x="4411133" y="1422400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1133" y="20447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teams involved</a:t>
            </a:r>
          </a:p>
        </p:txBody>
      </p:sp>
      <p:sp>
        <p:nvSpPr>
          <p:cNvPr id="10" name="Stat 3"/>
          <p:cNvSpPr txBox="1"/>
          <p:nvPr/>
        </p:nvSpPr>
        <p:spPr>
          <a:xfrm>
            <a:off x="8009466" y="1422400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6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9466" y="20447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pilot length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2800" y="2460244"/>
            <a:ext cx="10566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tat 4"/>
          <p:cNvSpPr txBox="1"/>
          <p:nvPr/>
        </p:nvSpPr>
        <p:spPr>
          <a:xfrm>
            <a:off x="812800" y="2612644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234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invoices per month in scope</a:t>
            </a:r>
          </a:p>
        </p:txBody>
      </p:sp>
      <p:sp>
        <p:nvSpPr>
          <p:cNvPr id="15" name="Stat 5"/>
          <p:cNvSpPr txBox="1"/>
          <p:nvPr/>
        </p:nvSpPr>
        <p:spPr>
          <a:xfrm>
            <a:off x="4411133" y="2612644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133" y="3234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target share handled without a person</a:t>
            </a:r>
          </a:p>
        </p:txBody>
      </p:sp>
      <p:sp>
        <p:nvSpPr>
          <p:cNvPr id="17" name="Stat 6"/>
          <p:cNvSpPr txBox="1"/>
          <p:nvPr/>
        </p:nvSpPr>
        <p:spPr>
          <a:xfrm>
            <a:off x="8009466" y="2612644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3234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decision point at the 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296833" y="1422400"/>
            <a:ext cx="0" cy="2075688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7895166" y="1422400"/>
            <a:ext cx="0" cy="2075688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cxnSp>
        <p:nvCxnSpPr>
          <p:cNvPr id="21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2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PILOT AT A GLANCE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Nine measures will be tracked every week of the pilot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baseline values, example deck</a:t>
            </a:r>
          </a:p>
        </p:txBody>
      </p:sp>
      <p:sp>
        <p:nvSpPr>
          <p:cNvPr id="6" name="Stat 1"/>
          <p:cNvSpPr txBox="1"/>
          <p:nvPr/>
        </p:nvSpPr>
        <p:spPr>
          <a:xfrm>
            <a:off x="812800" y="1422400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12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9812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time to match an invoice</a:t>
            </a:r>
          </a:p>
        </p:txBody>
      </p:sp>
      <p:sp>
        <p:nvSpPr>
          <p:cNvPr id="8" name="Stat 2"/>
          <p:cNvSpPr txBox="1"/>
          <p:nvPr/>
        </p:nvSpPr>
        <p:spPr>
          <a:xfrm>
            <a:off x="4411133" y="1422400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1133" y="19812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invoice error rate</a:t>
            </a:r>
          </a:p>
        </p:txBody>
      </p:sp>
      <p:sp>
        <p:nvSpPr>
          <p:cNvPr id="10" name="Stat 3"/>
          <p:cNvSpPr txBox="1"/>
          <p:nvPr/>
        </p:nvSpPr>
        <p:spPr>
          <a:xfrm>
            <a:off x="8009466" y="1422400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640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9466" y="19812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tickets triaged per week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2800" y="2396744"/>
            <a:ext cx="10566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tat 4"/>
          <p:cNvSpPr txBox="1"/>
          <p:nvPr/>
        </p:nvSpPr>
        <p:spPr>
          <a:xfrm>
            <a:off x="812800" y="2549144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18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107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triage time</a:t>
            </a:r>
          </a:p>
        </p:txBody>
      </p:sp>
      <p:sp>
        <p:nvSpPr>
          <p:cNvPr id="15" name="Stat 5"/>
          <p:cNvSpPr txBox="1"/>
          <p:nvPr/>
        </p:nvSpPr>
        <p:spPr>
          <a:xfrm>
            <a:off x="4411133" y="2549144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133" y="3107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triage accuracy on checked samples</a:t>
            </a:r>
          </a:p>
        </p:txBody>
      </p:sp>
      <p:sp>
        <p:nvSpPr>
          <p:cNvPr id="17" name="Stat 6"/>
          <p:cNvSpPr txBox="1"/>
          <p:nvPr/>
        </p:nvSpPr>
        <p:spPr>
          <a:xfrm>
            <a:off x="8009466" y="2549144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3107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exceptions per week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12800" y="3523488"/>
            <a:ext cx="10566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20" name="Stat 7"/>
          <p:cNvSpPr txBox="1"/>
          <p:nvPr/>
        </p:nvSpPr>
        <p:spPr>
          <a:xfrm>
            <a:off x="812800" y="3675888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423468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open security findings</a:t>
            </a:r>
          </a:p>
        </p:txBody>
      </p:sp>
      <p:sp>
        <p:nvSpPr>
          <p:cNvPr id="22" name="Stat 8"/>
          <p:cNvSpPr txBox="1"/>
          <p:nvPr/>
        </p:nvSpPr>
        <p:spPr>
          <a:xfrm>
            <a:off x="4411133" y="3675888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4.2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133" y="423468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staff satisfaction (of 5)</a:t>
            </a:r>
          </a:p>
        </p:txBody>
      </p:sp>
      <p:sp>
        <p:nvSpPr>
          <p:cNvPr id="24" name="Stat 9"/>
          <p:cNvSpPr txBox="1"/>
          <p:nvPr/>
        </p:nvSpPr>
        <p:spPr>
          <a:xfrm>
            <a:off x="8009466" y="3675888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9466" y="423468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data incidents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296833" y="1422400"/>
            <a:ext cx="0" cy="3075432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895166" y="1422400"/>
            <a:ext cx="0" cy="3075432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cxnSp>
        <p:nvCxnSpPr>
          <p:cNvPr id="2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Questions and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22</Slides>
  <Notes>22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to start with workflow automation</dc:title>
  <dc:subject>Agree which two workflows to automate first and how to judge the pilot</dc:subject>
  <dc:creator>Presenter Name</dc:creator>
  <cp:keywords/>
  <dc:description/>
  <cp:lastModifiedBy>Presenter Name</cp:lastModifiedBy>
  <cp:revision>1</cp:revision>
  <dcterms:created xsi:type="dcterms:W3CDTF">2026-10-19T02:29:31Z</dcterms:created>
  <dcterms:modified xsi:type="dcterms:W3CDTF">2026-10-19T02:29:31Z</dcterms:modified>
  <cp:category/>
</cp:coreProperties>
</file>